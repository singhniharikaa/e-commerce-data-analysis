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EE0F4-127A-44A5-BA11-E1C12B1FF8E4}" type="datetimeFigureOut">
              <a:rPr lang="en-IN" smtClean="0"/>
              <a:t>06-10-2026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3FE923-EF25-48E7-8A87-0D002EB83286}" type="slidenum">
              <a:rPr lang="en-IN" smtClean="0"/>
              <a:t>‹#›</a:t>
            </a:fld>
            <a:endParaRPr lang="en-IN"/>
          </a:p>
        </p:txBody>
      </p:sp>
    </p:spTree>
    <p:extLst>
      <p:ext uri="{BB962C8B-B14F-4D97-AF65-F5344CB8AC3E}">
        <p14:creationId xmlns:p14="http://schemas.microsoft.com/office/powerpoint/2010/main" val="1509545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Dono members apna naam bolein. Tool: Python + Soda Core + DuckDB. Niharika slides 2-4, Shubham slides 5-7.</a:t>
            </a:r>
          </a:p>
        </p:txBody>
      </p:sp>
      <p:sp>
        <p:nvSpPr>
          <p:cNvPr id="4" name="Slide Number Placeholder 3"/>
          <p:cNvSpPr>
            <a:spLocks noGrp="1"/>
          </p:cNvSpPr>
          <p:nvPr>
            <p:ph type="sldNum" sz="quarter" idx="5"/>
          </p:nvPr>
        </p:nvSpPr>
        <p:spPr/>
        <p:txBody>
          <a:bodyPr/>
          <a:lstStyle/>
          <a:p>
            <a:fld id="{E43FE923-EF25-48E7-8A87-0D002EB83286}" type="slidenum">
              <a:rPr lang="en-IN" smtClean="0"/>
              <a:t>1</a:t>
            </a:fld>
            <a:endParaRPr lang="en-IN"/>
          </a:p>
        </p:txBody>
      </p:sp>
    </p:spTree>
    <p:extLst>
      <p:ext uri="{BB962C8B-B14F-4D97-AF65-F5344CB8AC3E}">
        <p14:creationId xmlns:p14="http://schemas.microsoft.com/office/powerpoint/2010/main" val="2605796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Niharika: E-commerce data website, app, payment gateway aur warehouse se aata hai - har jagah galti ho sakti hai. Example: price -65,000 aaya toh profit galat; same order_id do baar aaya toh order do baar gina jayega. Lakhon rows manually check nahi ho sakti, isliye data quality framework (Soda) use karte hain. Is practical mein hum dataset banate hain, usme galtiyan daalte hain, aur Soda se pakadte hain.</a:t>
            </a:r>
          </a:p>
        </p:txBody>
      </p:sp>
      <p:sp>
        <p:nvSpPr>
          <p:cNvPr id="4" name="Slide Number Placeholder 3"/>
          <p:cNvSpPr>
            <a:spLocks noGrp="1"/>
          </p:cNvSpPr>
          <p:nvPr>
            <p:ph type="sldNum" sz="quarter" idx="5"/>
          </p:nvPr>
        </p:nvSpPr>
        <p:spPr/>
        <p:txBody>
          <a:bodyPr/>
          <a:lstStyle/>
          <a:p>
            <a:fld id="{E43FE923-EF25-48E7-8A87-0D002EB83286}" type="slidenum">
              <a:rPr lang="en-IN" smtClean="0"/>
              <a:t>2</a:t>
            </a:fld>
            <a:endParaRPr lang="en-IN"/>
          </a:p>
        </p:txBody>
      </p:sp>
    </p:spTree>
    <p:extLst>
      <p:ext uri="{BB962C8B-B14F-4D97-AF65-F5344CB8AC3E}">
        <p14:creationId xmlns:p14="http://schemas.microsoft.com/office/powerpoint/2010/main" val="2143065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Niharika: Real data confidential hota hai isliye synthetic data banaya. 250 clean orders, price me +-10% variation. Phir 10 bad orders: negative price, zero/negative quantity, missing customer_id/product/date, invalid status, outlier price 999999, future date 2099, duplicate order_id. Customers me 4 bad rows (missing name, missing email, duplicate C001). Last me shuffle taaki bad rows ek jagah na rahein. Seed 42 = har baar same data, demo repeatable.</a:t>
            </a:r>
          </a:p>
        </p:txBody>
      </p:sp>
      <p:sp>
        <p:nvSpPr>
          <p:cNvPr id="4" name="Slide Number Placeholder 3"/>
          <p:cNvSpPr>
            <a:spLocks noGrp="1"/>
          </p:cNvSpPr>
          <p:nvPr>
            <p:ph type="sldNum" sz="quarter" idx="5"/>
          </p:nvPr>
        </p:nvSpPr>
        <p:spPr/>
        <p:txBody>
          <a:bodyPr/>
          <a:lstStyle/>
          <a:p>
            <a:fld id="{E43FE923-EF25-48E7-8A87-0D002EB83286}" type="slidenum">
              <a:rPr lang="en-IN" smtClean="0"/>
              <a:t>3</a:t>
            </a:fld>
            <a:endParaRPr lang="en-IN"/>
          </a:p>
        </p:txBody>
      </p:sp>
    </p:spTree>
    <p:extLst>
      <p:ext uri="{BB962C8B-B14F-4D97-AF65-F5344CB8AC3E}">
        <p14:creationId xmlns:p14="http://schemas.microsoft.com/office/powerpoint/2010/main" val="2454527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Niharika: Soda ko SQL database chahiye scan karne ke liye, isliye CSV ko DuckDB me load kiya. read_csv_auto khud column types detect karta hai. order_details view orders ko customers se join karta hai aur total_amount = price x quantity nikalta hai - isse cross-table checks possible hote hain. configuration.yml Soda ko batata hai kaunsa database use karna hai. HANDOVER: 'Data load ho gaya, DB ready hai. Ab ye data sahi hai ya nahi, ye Shubham batayega.'</a:t>
            </a:r>
          </a:p>
        </p:txBody>
      </p:sp>
      <p:sp>
        <p:nvSpPr>
          <p:cNvPr id="4" name="Slide Number Placeholder 3"/>
          <p:cNvSpPr>
            <a:spLocks noGrp="1"/>
          </p:cNvSpPr>
          <p:nvPr>
            <p:ph type="sldNum" sz="quarter" idx="5"/>
          </p:nvPr>
        </p:nvSpPr>
        <p:spPr/>
        <p:txBody>
          <a:bodyPr/>
          <a:lstStyle/>
          <a:p>
            <a:fld id="{E43FE923-EF25-48E7-8A87-0D002EB83286}" type="slidenum">
              <a:rPr lang="en-IN" smtClean="0"/>
              <a:t>4</a:t>
            </a:fld>
            <a:endParaRPr lang="en-IN"/>
          </a:p>
        </p:txBody>
      </p:sp>
    </p:spTree>
    <p:extLst>
      <p:ext uri="{BB962C8B-B14F-4D97-AF65-F5344CB8AC3E}">
        <p14:creationId xmlns:p14="http://schemas.microsoft.com/office/powerpoint/2010/main" val="3437846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Shubham: Ab data load ho gaya, ab rules define karte hain. missing_count(customer_id)=0 ka matlab blank customer_id wali rows zero honi chahiye warna FAIL. Rules business logic se aate hain: price negative nahi, quantity &gt;= 1, status sirf 5 allowed values. Sabse badi baat: YAML hai, business team bhi padh sakti hai.</a:t>
            </a:r>
          </a:p>
        </p:txBody>
      </p:sp>
      <p:sp>
        <p:nvSpPr>
          <p:cNvPr id="4" name="Slide Number Placeholder 3"/>
          <p:cNvSpPr>
            <a:spLocks noGrp="1"/>
          </p:cNvSpPr>
          <p:nvPr>
            <p:ph type="sldNum" sz="quarter" idx="5"/>
          </p:nvPr>
        </p:nvSpPr>
        <p:spPr/>
        <p:txBody>
          <a:bodyPr/>
          <a:lstStyle/>
          <a:p>
            <a:fld id="{E43FE923-EF25-48E7-8A87-0D002EB83286}" type="slidenum">
              <a:rPr lang="en-IN" smtClean="0"/>
              <a:t>5</a:t>
            </a:fld>
            <a:endParaRPr lang="en-IN"/>
          </a:p>
        </p:txBody>
      </p:sp>
    </p:spTree>
    <p:extLst>
      <p:ext uri="{BB962C8B-B14F-4D97-AF65-F5344CB8AC3E}">
        <p14:creationId xmlns:p14="http://schemas.microsoft.com/office/powerpoint/2010/main" val="1491169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Shubham: Ek hi command poori pipeline chalata hai. Last step soda scan har rule ko SQL query ki tarah database pe chalata hai. Terminal me har check ke saamne PASS/FAIL aata hai - yehi validation report hai. Demo chalao, phir bolo: kuch checks fail hue, ye intentional hai. Backup: pehle se liya hua terminal screenshot.</a:t>
            </a:r>
          </a:p>
        </p:txBody>
      </p:sp>
      <p:sp>
        <p:nvSpPr>
          <p:cNvPr id="4" name="Slide Number Placeholder 3"/>
          <p:cNvSpPr>
            <a:spLocks noGrp="1"/>
          </p:cNvSpPr>
          <p:nvPr>
            <p:ph type="sldNum" sz="quarter" idx="5"/>
          </p:nvPr>
        </p:nvSpPr>
        <p:spPr/>
        <p:txBody>
          <a:bodyPr/>
          <a:lstStyle/>
          <a:p>
            <a:fld id="{E43FE923-EF25-48E7-8A87-0D002EB83286}" type="slidenum">
              <a:rPr lang="en-IN" smtClean="0"/>
              <a:t>6</a:t>
            </a:fld>
            <a:endParaRPr lang="en-IN"/>
          </a:p>
        </p:txBody>
      </p:sp>
    </p:spTree>
    <p:extLst>
      <p:ext uri="{BB962C8B-B14F-4D97-AF65-F5344CB8AC3E}">
        <p14:creationId xmlns:p14="http://schemas.microsoft.com/office/powerpoint/2010/main" val="966833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Shubham: Failure analysis = har fail hue check ko dekhna aur samajhna kya galat hai. Real life me yahan se bad rows quarantine hoti hain, source system fix hota hai ya pipeline rok di jati hai. Limitations honestly batao: future dates aur referential integrity abhi check nahi hote. Closing: Data quality cleaning ka kaam nahi, rules define karke problem ko pehle hi pakadna hai.</a:t>
            </a:r>
          </a:p>
        </p:txBody>
      </p:sp>
      <p:sp>
        <p:nvSpPr>
          <p:cNvPr id="4" name="Slide Number Placeholder 3"/>
          <p:cNvSpPr>
            <a:spLocks noGrp="1"/>
          </p:cNvSpPr>
          <p:nvPr>
            <p:ph type="sldNum" sz="quarter" idx="5"/>
          </p:nvPr>
        </p:nvSpPr>
        <p:spPr/>
        <p:txBody>
          <a:bodyPr/>
          <a:lstStyle/>
          <a:p>
            <a:fld id="{E43FE923-EF25-48E7-8A87-0D002EB83286}" type="slidenum">
              <a:rPr lang="en-IN" smtClean="0"/>
              <a:t>7</a:t>
            </a:fld>
            <a:endParaRPr lang="en-IN"/>
          </a:p>
        </p:txBody>
      </p:sp>
    </p:spTree>
    <p:extLst>
      <p:ext uri="{BB962C8B-B14F-4D97-AF65-F5344CB8AC3E}">
        <p14:creationId xmlns:p14="http://schemas.microsoft.com/office/powerpoint/2010/main" val="318583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7F98A-5080-7CCE-3994-AC8958959D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9DCB9997-1544-5E63-29C2-77FEC38472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AAB34E72-B1B5-453A-AF71-7716BCCCCE2E}"/>
              </a:ext>
            </a:extLst>
          </p:cNvPr>
          <p:cNvSpPr>
            <a:spLocks noGrp="1"/>
          </p:cNvSpPr>
          <p:nvPr>
            <p:ph type="dt" sz="half" idx="10"/>
          </p:nvPr>
        </p:nvSpPr>
        <p:spPr/>
        <p:txBody>
          <a:bodyPr/>
          <a:lstStyle/>
          <a:p>
            <a:fld id="{058A727E-B154-4461-8716-556A9F8396FC}" type="datetimeFigureOut">
              <a:rPr lang="en-IN" smtClean="0"/>
              <a:t>06-10-2026</a:t>
            </a:fld>
            <a:endParaRPr lang="en-IN"/>
          </a:p>
        </p:txBody>
      </p:sp>
      <p:sp>
        <p:nvSpPr>
          <p:cNvPr id="5" name="Footer Placeholder 4">
            <a:extLst>
              <a:ext uri="{FF2B5EF4-FFF2-40B4-BE49-F238E27FC236}">
                <a16:creationId xmlns:a16="http://schemas.microsoft.com/office/drawing/2014/main" id="{F6AEE330-5D78-B6EB-3F44-C93E48A5B3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FB8E44-CDEE-FD0B-ADCE-1C63986BC4CD}"/>
              </a:ext>
            </a:extLst>
          </p:cNvPr>
          <p:cNvSpPr>
            <a:spLocks noGrp="1"/>
          </p:cNvSpPr>
          <p:nvPr>
            <p:ph type="sldNum" sz="quarter" idx="12"/>
          </p:nvPr>
        </p:nvSpPr>
        <p:spPr/>
        <p:txBody>
          <a:bodyPr/>
          <a:lstStyle/>
          <a:p>
            <a:fld id="{24B7DD32-1FBC-4A2E-996D-C47065B0C88D}" type="slidenum">
              <a:rPr lang="en-IN" smtClean="0"/>
              <a:t>‹#›</a:t>
            </a:fld>
            <a:endParaRPr lang="en-IN"/>
          </a:p>
        </p:txBody>
      </p:sp>
    </p:spTree>
    <p:extLst>
      <p:ext uri="{BB962C8B-B14F-4D97-AF65-F5344CB8AC3E}">
        <p14:creationId xmlns:p14="http://schemas.microsoft.com/office/powerpoint/2010/main" val="806469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1D77E-8CE2-2A6B-6844-AF4A8DE23E1F}"/>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DA04FD4C-F5BF-D326-8C20-1D46A427FF4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DE6AFD17-9520-3837-B744-FBE9A5F5F1FA}"/>
              </a:ext>
            </a:extLst>
          </p:cNvPr>
          <p:cNvSpPr>
            <a:spLocks noGrp="1"/>
          </p:cNvSpPr>
          <p:nvPr>
            <p:ph type="dt" sz="half" idx="10"/>
          </p:nvPr>
        </p:nvSpPr>
        <p:spPr/>
        <p:txBody>
          <a:bodyPr/>
          <a:lstStyle/>
          <a:p>
            <a:fld id="{058A727E-B154-4461-8716-556A9F8396FC}" type="datetimeFigureOut">
              <a:rPr lang="en-IN" smtClean="0"/>
              <a:t>06-10-2026</a:t>
            </a:fld>
            <a:endParaRPr lang="en-IN"/>
          </a:p>
        </p:txBody>
      </p:sp>
      <p:sp>
        <p:nvSpPr>
          <p:cNvPr id="5" name="Footer Placeholder 4">
            <a:extLst>
              <a:ext uri="{FF2B5EF4-FFF2-40B4-BE49-F238E27FC236}">
                <a16:creationId xmlns:a16="http://schemas.microsoft.com/office/drawing/2014/main" id="{1FB0089C-2768-7E66-71B0-5B64CF985D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68C815-3667-CF92-CE3B-01EB1901D60D}"/>
              </a:ext>
            </a:extLst>
          </p:cNvPr>
          <p:cNvSpPr>
            <a:spLocks noGrp="1"/>
          </p:cNvSpPr>
          <p:nvPr>
            <p:ph type="sldNum" sz="quarter" idx="12"/>
          </p:nvPr>
        </p:nvSpPr>
        <p:spPr/>
        <p:txBody>
          <a:bodyPr/>
          <a:lstStyle/>
          <a:p>
            <a:fld id="{24B7DD32-1FBC-4A2E-996D-C47065B0C88D}" type="slidenum">
              <a:rPr lang="en-IN" smtClean="0"/>
              <a:t>‹#›</a:t>
            </a:fld>
            <a:endParaRPr lang="en-IN"/>
          </a:p>
        </p:txBody>
      </p:sp>
    </p:spTree>
    <p:extLst>
      <p:ext uri="{BB962C8B-B14F-4D97-AF65-F5344CB8AC3E}">
        <p14:creationId xmlns:p14="http://schemas.microsoft.com/office/powerpoint/2010/main" val="3286542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770BE-9572-5708-9F36-3F805680275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38CAFCFC-720B-F933-0CF0-68683C8083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633DD03-95A0-7D75-B79E-E9BE9AC54C0E}"/>
              </a:ext>
            </a:extLst>
          </p:cNvPr>
          <p:cNvSpPr>
            <a:spLocks noGrp="1"/>
          </p:cNvSpPr>
          <p:nvPr>
            <p:ph type="dt" sz="half" idx="10"/>
          </p:nvPr>
        </p:nvSpPr>
        <p:spPr/>
        <p:txBody>
          <a:bodyPr/>
          <a:lstStyle/>
          <a:p>
            <a:fld id="{058A727E-B154-4461-8716-556A9F8396FC}" type="datetimeFigureOut">
              <a:rPr lang="en-IN" smtClean="0"/>
              <a:t>06-10-2026</a:t>
            </a:fld>
            <a:endParaRPr lang="en-IN"/>
          </a:p>
        </p:txBody>
      </p:sp>
      <p:sp>
        <p:nvSpPr>
          <p:cNvPr id="5" name="Footer Placeholder 4">
            <a:extLst>
              <a:ext uri="{FF2B5EF4-FFF2-40B4-BE49-F238E27FC236}">
                <a16:creationId xmlns:a16="http://schemas.microsoft.com/office/drawing/2014/main" id="{83FCD5E3-7BB7-CDF2-F222-7BDD8ED49C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E57B14-504C-BBDC-31FB-C9EB86DF51CB}"/>
              </a:ext>
            </a:extLst>
          </p:cNvPr>
          <p:cNvSpPr>
            <a:spLocks noGrp="1"/>
          </p:cNvSpPr>
          <p:nvPr>
            <p:ph type="sldNum" sz="quarter" idx="12"/>
          </p:nvPr>
        </p:nvSpPr>
        <p:spPr/>
        <p:txBody>
          <a:bodyPr/>
          <a:lstStyle/>
          <a:p>
            <a:fld id="{24B7DD32-1FBC-4A2E-996D-C47065B0C88D}" type="slidenum">
              <a:rPr lang="en-IN" smtClean="0"/>
              <a:t>‹#›</a:t>
            </a:fld>
            <a:endParaRPr lang="en-IN"/>
          </a:p>
        </p:txBody>
      </p:sp>
    </p:spTree>
    <p:extLst>
      <p:ext uri="{BB962C8B-B14F-4D97-AF65-F5344CB8AC3E}">
        <p14:creationId xmlns:p14="http://schemas.microsoft.com/office/powerpoint/2010/main" val="4232511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18A6C-2E1E-3DBA-9C1C-B4D663514DEC}"/>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298C6641-6DCD-43E8-8709-55F5C57E86D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39D27B52-74F9-1640-FD07-D65166681D2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64581887-C15E-EF36-DD48-ABC4AB784451}"/>
              </a:ext>
            </a:extLst>
          </p:cNvPr>
          <p:cNvSpPr>
            <a:spLocks noGrp="1"/>
          </p:cNvSpPr>
          <p:nvPr>
            <p:ph type="dt" sz="half" idx="10"/>
          </p:nvPr>
        </p:nvSpPr>
        <p:spPr/>
        <p:txBody>
          <a:bodyPr/>
          <a:lstStyle/>
          <a:p>
            <a:fld id="{058A727E-B154-4461-8716-556A9F8396FC}" type="datetimeFigureOut">
              <a:rPr lang="en-IN" smtClean="0"/>
              <a:t>06-10-2026</a:t>
            </a:fld>
            <a:endParaRPr lang="en-IN"/>
          </a:p>
        </p:txBody>
      </p:sp>
      <p:sp>
        <p:nvSpPr>
          <p:cNvPr id="6" name="Footer Placeholder 5">
            <a:extLst>
              <a:ext uri="{FF2B5EF4-FFF2-40B4-BE49-F238E27FC236}">
                <a16:creationId xmlns:a16="http://schemas.microsoft.com/office/drawing/2014/main" id="{122BDBD7-4F1E-B50E-0E55-F7D8927586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8757B2-6583-FD95-9C06-5409D4427DAF}"/>
              </a:ext>
            </a:extLst>
          </p:cNvPr>
          <p:cNvSpPr>
            <a:spLocks noGrp="1"/>
          </p:cNvSpPr>
          <p:nvPr>
            <p:ph type="sldNum" sz="quarter" idx="12"/>
          </p:nvPr>
        </p:nvSpPr>
        <p:spPr/>
        <p:txBody>
          <a:bodyPr/>
          <a:lstStyle/>
          <a:p>
            <a:fld id="{24B7DD32-1FBC-4A2E-996D-C47065B0C88D}" type="slidenum">
              <a:rPr lang="en-IN" smtClean="0"/>
              <a:t>‹#›</a:t>
            </a:fld>
            <a:endParaRPr lang="en-IN"/>
          </a:p>
        </p:txBody>
      </p:sp>
    </p:spTree>
    <p:extLst>
      <p:ext uri="{BB962C8B-B14F-4D97-AF65-F5344CB8AC3E}">
        <p14:creationId xmlns:p14="http://schemas.microsoft.com/office/powerpoint/2010/main" val="2337580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3BF0C-0E96-F538-DF7B-51FB2CB1E34E}"/>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479E0C01-8F92-16BA-D1F8-E19688CC7D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D2731E5-0E5C-FE20-3D71-5C8D361A1A3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25DC6756-B04D-A300-F174-000C908E15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753A039-AE60-7EFF-23FC-6C744D98F18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95DC89D7-CAB9-F215-9FCC-92133A4550AC}"/>
              </a:ext>
            </a:extLst>
          </p:cNvPr>
          <p:cNvSpPr>
            <a:spLocks noGrp="1"/>
          </p:cNvSpPr>
          <p:nvPr>
            <p:ph type="dt" sz="half" idx="10"/>
          </p:nvPr>
        </p:nvSpPr>
        <p:spPr/>
        <p:txBody>
          <a:bodyPr/>
          <a:lstStyle/>
          <a:p>
            <a:fld id="{058A727E-B154-4461-8716-556A9F8396FC}" type="datetimeFigureOut">
              <a:rPr lang="en-IN" smtClean="0"/>
              <a:t>06-10-2026</a:t>
            </a:fld>
            <a:endParaRPr lang="en-IN"/>
          </a:p>
        </p:txBody>
      </p:sp>
      <p:sp>
        <p:nvSpPr>
          <p:cNvPr id="8" name="Footer Placeholder 7">
            <a:extLst>
              <a:ext uri="{FF2B5EF4-FFF2-40B4-BE49-F238E27FC236}">
                <a16:creationId xmlns:a16="http://schemas.microsoft.com/office/drawing/2014/main" id="{968F2132-1607-AF6A-EF3C-B7FEA4BBE50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65BAD2-74F4-3FD2-91B4-2610C0D9D42B}"/>
              </a:ext>
            </a:extLst>
          </p:cNvPr>
          <p:cNvSpPr>
            <a:spLocks noGrp="1"/>
          </p:cNvSpPr>
          <p:nvPr>
            <p:ph type="sldNum" sz="quarter" idx="12"/>
          </p:nvPr>
        </p:nvSpPr>
        <p:spPr/>
        <p:txBody>
          <a:bodyPr/>
          <a:lstStyle/>
          <a:p>
            <a:fld id="{24B7DD32-1FBC-4A2E-996D-C47065B0C88D}" type="slidenum">
              <a:rPr lang="en-IN" smtClean="0"/>
              <a:t>‹#›</a:t>
            </a:fld>
            <a:endParaRPr lang="en-IN"/>
          </a:p>
        </p:txBody>
      </p:sp>
    </p:spTree>
    <p:extLst>
      <p:ext uri="{BB962C8B-B14F-4D97-AF65-F5344CB8AC3E}">
        <p14:creationId xmlns:p14="http://schemas.microsoft.com/office/powerpoint/2010/main" val="2016651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45AF1-104E-5CC8-9B9D-3A00DE3B805D}"/>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93DE896D-4709-B1E0-F823-793823020F96}"/>
              </a:ext>
            </a:extLst>
          </p:cNvPr>
          <p:cNvSpPr>
            <a:spLocks noGrp="1"/>
          </p:cNvSpPr>
          <p:nvPr>
            <p:ph type="dt" sz="half" idx="10"/>
          </p:nvPr>
        </p:nvSpPr>
        <p:spPr/>
        <p:txBody>
          <a:bodyPr/>
          <a:lstStyle/>
          <a:p>
            <a:fld id="{058A727E-B154-4461-8716-556A9F8396FC}" type="datetimeFigureOut">
              <a:rPr lang="en-IN" smtClean="0"/>
              <a:t>06-10-2026</a:t>
            </a:fld>
            <a:endParaRPr lang="en-IN"/>
          </a:p>
        </p:txBody>
      </p:sp>
      <p:sp>
        <p:nvSpPr>
          <p:cNvPr id="4" name="Footer Placeholder 3">
            <a:extLst>
              <a:ext uri="{FF2B5EF4-FFF2-40B4-BE49-F238E27FC236}">
                <a16:creationId xmlns:a16="http://schemas.microsoft.com/office/drawing/2014/main" id="{2B89C604-9CE9-B84E-045A-47A9A2BBB5E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B499120-8A27-53C5-736F-2C7109AE56F9}"/>
              </a:ext>
            </a:extLst>
          </p:cNvPr>
          <p:cNvSpPr>
            <a:spLocks noGrp="1"/>
          </p:cNvSpPr>
          <p:nvPr>
            <p:ph type="sldNum" sz="quarter" idx="12"/>
          </p:nvPr>
        </p:nvSpPr>
        <p:spPr/>
        <p:txBody>
          <a:bodyPr/>
          <a:lstStyle/>
          <a:p>
            <a:fld id="{24B7DD32-1FBC-4A2E-996D-C47065B0C88D}" type="slidenum">
              <a:rPr lang="en-IN" smtClean="0"/>
              <a:t>‹#›</a:t>
            </a:fld>
            <a:endParaRPr lang="en-IN"/>
          </a:p>
        </p:txBody>
      </p:sp>
    </p:spTree>
    <p:extLst>
      <p:ext uri="{BB962C8B-B14F-4D97-AF65-F5344CB8AC3E}">
        <p14:creationId xmlns:p14="http://schemas.microsoft.com/office/powerpoint/2010/main" val="1914322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F6E240-7211-A6E5-9ADF-DC42C90F3655}"/>
              </a:ext>
            </a:extLst>
          </p:cNvPr>
          <p:cNvSpPr>
            <a:spLocks noGrp="1"/>
          </p:cNvSpPr>
          <p:nvPr>
            <p:ph type="dt" sz="half" idx="10"/>
          </p:nvPr>
        </p:nvSpPr>
        <p:spPr/>
        <p:txBody>
          <a:bodyPr/>
          <a:lstStyle/>
          <a:p>
            <a:fld id="{058A727E-B154-4461-8716-556A9F8396FC}" type="datetimeFigureOut">
              <a:rPr lang="en-IN" smtClean="0"/>
              <a:t>06-10-2026</a:t>
            </a:fld>
            <a:endParaRPr lang="en-IN"/>
          </a:p>
        </p:txBody>
      </p:sp>
      <p:sp>
        <p:nvSpPr>
          <p:cNvPr id="3" name="Footer Placeholder 2">
            <a:extLst>
              <a:ext uri="{FF2B5EF4-FFF2-40B4-BE49-F238E27FC236}">
                <a16:creationId xmlns:a16="http://schemas.microsoft.com/office/drawing/2014/main" id="{37BC58D0-5E68-AAA6-BD77-BB1243612E2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BA62F9A-4598-1E73-7272-B4064953D737}"/>
              </a:ext>
            </a:extLst>
          </p:cNvPr>
          <p:cNvSpPr>
            <a:spLocks noGrp="1"/>
          </p:cNvSpPr>
          <p:nvPr>
            <p:ph type="sldNum" sz="quarter" idx="12"/>
          </p:nvPr>
        </p:nvSpPr>
        <p:spPr/>
        <p:txBody>
          <a:bodyPr/>
          <a:lstStyle/>
          <a:p>
            <a:fld id="{24B7DD32-1FBC-4A2E-996D-C47065B0C88D}" type="slidenum">
              <a:rPr lang="en-IN" smtClean="0"/>
              <a:t>‹#›</a:t>
            </a:fld>
            <a:endParaRPr lang="en-IN"/>
          </a:p>
        </p:txBody>
      </p:sp>
    </p:spTree>
    <p:extLst>
      <p:ext uri="{BB962C8B-B14F-4D97-AF65-F5344CB8AC3E}">
        <p14:creationId xmlns:p14="http://schemas.microsoft.com/office/powerpoint/2010/main" val="3277662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F5B5F-0404-322A-FA8D-3AC7BFBD8AA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AE6D78AB-D190-2A19-E14A-56E7EA6172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7C697DFD-0FC4-D663-CF1E-A0C7200A72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0A513C8-8FE0-35C8-95B5-7DDB063D105B}"/>
              </a:ext>
            </a:extLst>
          </p:cNvPr>
          <p:cNvSpPr>
            <a:spLocks noGrp="1"/>
          </p:cNvSpPr>
          <p:nvPr>
            <p:ph type="dt" sz="half" idx="10"/>
          </p:nvPr>
        </p:nvSpPr>
        <p:spPr/>
        <p:txBody>
          <a:bodyPr/>
          <a:lstStyle/>
          <a:p>
            <a:fld id="{058A727E-B154-4461-8716-556A9F8396FC}" type="datetimeFigureOut">
              <a:rPr lang="en-IN" smtClean="0"/>
              <a:t>06-10-2026</a:t>
            </a:fld>
            <a:endParaRPr lang="en-IN"/>
          </a:p>
        </p:txBody>
      </p:sp>
      <p:sp>
        <p:nvSpPr>
          <p:cNvPr id="6" name="Footer Placeholder 5">
            <a:extLst>
              <a:ext uri="{FF2B5EF4-FFF2-40B4-BE49-F238E27FC236}">
                <a16:creationId xmlns:a16="http://schemas.microsoft.com/office/drawing/2014/main" id="{40D16525-019C-D43A-59F2-54F7B45B1D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F28CD1-78C8-89FF-5896-5CEE95964E6C}"/>
              </a:ext>
            </a:extLst>
          </p:cNvPr>
          <p:cNvSpPr>
            <a:spLocks noGrp="1"/>
          </p:cNvSpPr>
          <p:nvPr>
            <p:ph type="sldNum" sz="quarter" idx="12"/>
          </p:nvPr>
        </p:nvSpPr>
        <p:spPr/>
        <p:txBody>
          <a:bodyPr/>
          <a:lstStyle/>
          <a:p>
            <a:fld id="{24B7DD32-1FBC-4A2E-996D-C47065B0C88D}" type="slidenum">
              <a:rPr lang="en-IN" smtClean="0"/>
              <a:t>‹#›</a:t>
            </a:fld>
            <a:endParaRPr lang="en-IN"/>
          </a:p>
        </p:txBody>
      </p:sp>
    </p:spTree>
    <p:extLst>
      <p:ext uri="{BB962C8B-B14F-4D97-AF65-F5344CB8AC3E}">
        <p14:creationId xmlns:p14="http://schemas.microsoft.com/office/powerpoint/2010/main" val="2758357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3783-7A7F-A35D-3F6C-62BBBC7330B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304A0565-C421-3462-5F3A-BF5DFF867E16}"/>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0AAEB65-2453-6CB3-2AB1-5DE3CA3215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BE00890-0998-3D10-DCFC-E54AE1F53DDE}"/>
              </a:ext>
            </a:extLst>
          </p:cNvPr>
          <p:cNvSpPr>
            <a:spLocks noGrp="1"/>
          </p:cNvSpPr>
          <p:nvPr>
            <p:ph type="dt" sz="half" idx="10"/>
          </p:nvPr>
        </p:nvSpPr>
        <p:spPr/>
        <p:txBody>
          <a:bodyPr/>
          <a:lstStyle/>
          <a:p>
            <a:fld id="{058A727E-B154-4461-8716-556A9F8396FC}" type="datetimeFigureOut">
              <a:rPr lang="en-IN" smtClean="0"/>
              <a:t>06-10-2026</a:t>
            </a:fld>
            <a:endParaRPr lang="en-IN"/>
          </a:p>
        </p:txBody>
      </p:sp>
      <p:sp>
        <p:nvSpPr>
          <p:cNvPr id="6" name="Footer Placeholder 5">
            <a:extLst>
              <a:ext uri="{FF2B5EF4-FFF2-40B4-BE49-F238E27FC236}">
                <a16:creationId xmlns:a16="http://schemas.microsoft.com/office/drawing/2014/main" id="{4CB7BDEF-7104-E502-3D55-5D8B37FBEA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288D32-5704-95A7-E38F-B763840AA459}"/>
              </a:ext>
            </a:extLst>
          </p:cNvPr>
          <p:cNvSpPr>
            <a:spLocks noGrp="1"/>
          </p:cNvSpPr>
          <p:nvPr>
            <p:ph type="sldNum" sz="quarter" idx="12"/>
          </p:nvPr>
        </p:nvSpPr>
        <p:spPr/>
        <p:txBody>
          <a:bodyPr/>
          <a:lstStyle/>
          <a:p>
            <a:fld id="{24B7DD32-1FBC-4A2E-996D-C47065B0C88D}" type="slidenum">
              <a:rPr lang="en-IN" smtClean="0"/>
              <a:t>‹#›</a:t>
            </a:fld>
            <a:endParaRPr lang="en-IN"/>
          </a:p>
        </p:txBody>
      </p:sp>
    </p:spTree>
    <p:extLst>
      <p:ext uri="{BB962C8B-B14F-4D97-AF65-F5344CB8AC3E}">
        <p14:creationId xmlns:p14="http://schemas.microsoft.com/office/powerpoint/2010/main" val="665527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A51AC-9496-D84A-6A5F-B29DC63C3E0F}"/>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DE766A32-C18A-3BE9-E7F5-6EC1C3FBB58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69C6FF7F-BE64-0B3C-BDB3-FFE716B634A7}"/>
              </a:ext>
            </a:extLst>
          </p:cNvPr>
          <p:cNvSpPr>
            <a:spLocks noGrp="1"/>
          </p:cNvSpPr>
          <p:nvPr>
            <p:ph type="dt" sz="half" idx="10"/>
          </p:nvPr>
        </p:nvSpPr>
        <p:spPr/>
        <p:txBody>
          <a:bodyPr/>
          <a:lstStyle/>
          <a:p>
            <a:fld id="{058A727E-B154-4461-8716-556A9F8396FC}" type="datetimeFigureOut">
              <a:rPr lang="en-IN" smtClean="0"/>
              <a:t>06-10-2026</a:t>
            </a:fld>
            <a:endParaRPr lang="en-IN"/>
          </a:p>
        </p:txBody>
      </p:sp>
      <p:sp>
        <p:nvSpPr>
          <p:cNvPr id="5" name="Footer Placeholder 4">
            <a:extLst>
              <a:ext uri="{FF2B5EF4-FFF2-40B4-BE49-F238E27FC236}">
                <a16:creationId xmlns:a16="http://schemas.microsoft.com/office/drawing/2014/main" id="{A9B49502-0B91-DD14-299A-67A43C801C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C1CA34-E21F-AB5B-ECF1-081E85FA15D4}"/>
              </a:ext>
            </a:extLst>
          </p:cNvPr>
          <p:cNvSpPr>
            <a:spLocks noGrp="1"/>
          </p:cNvSpPr>
          <p:nvPr>
            <p:ph type="sldNum" sz="quarter" idx="12"/>
          </p:nvPr>
        </p:nvSpPr>
        <p:spPr/>
        <p:txBody>
          <a:bodyPr/>
          <a:lstStyle/>
          <a:p>
            <a:fld id="{24B7DD32-1FBC-4A2E-996D-C47065B0C88D}" type="slidenum">
              <a:rPr lang="en-IN" smtClean="0"/>
              <a:t>‹#›</a:t>
            </a:fld>
            <a:endParaRPr lang="en-IN"/>
          </a:p>
        </p:txBody>
      </p:sp>
    </p:spTree>
    <p:extLst>
      <p:ext uri="{BB962C8B-B14F-4D97-AF65-F5344CB8AC3E}">
        <p14:creationId xmlns:p14="http://schemas.microsoft.com/office/powerpoint/2010/main" val="2678252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D2B02E-64E1-947A-18AC-94CAFFB06B6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3041F732-9CF4-8B4E-FBEB-D363C5D56D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3CC541C1-8DCD-8797-AE8D-47E0177F6FB3}"/>
              </a:ext>
            </a:extLst>
          </p:cNvPr>
          <p:cNvSpPr>
            <a:spLocks noGrp="1"/>
          </p:cNvSpPr>
          <p:nvPr>
            <p:ph type="dt" sz="half" idx="10"/>
          </p:nvPr>
        </p:nvSpPr>
        <p:spPr/>
        <p:txBody>
          <a:bodyPr/>
          <a:lstStyle/>
          <a:p>
            <a:fld id="{058A727E-B154-4461-8716-556A9F8396FC}" type="datetimeFigureOut">
              <a:rPr lang="en-IN" smtClean="0"/>
              <a:t>06-10-2026</a:t>
            </a:fld>
            <a:endParaRPr lang="en-IN"/>
          </a:p>
        </p:txBody>
      </p:sp>
      <p:sp>
        <p:nvSpPr>
          <p:cNvPr id="5" name="Footer Placeholder 4">
            <a:extLst>
              <a:ext uri="{FF2B5EF4-FFF2-40B4-BE49-F238E27FC236}">
                <a16:creationId xmlns:a16="http://schemas.microsoft.com/office/drawing/2014/main" id="{7403CE3F-2DB3-240D-B4BC-59365983B0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AD6884-19FF-6DCB-6285-51ECD24F49B7}"/>
              </a:ext>
            </a:extLst>
          </p:cNvPr>
          <p:cNvSpPr>
            <a:spLocks noGrp="1"/>
          </p:cNvSpPr>
          <p:nvPr>
            <p:ph type="sldNum" sz="quarter" idx="12"/>
          </p:nvPr>
        </p:nvSpPr>
        <p:spPr/>
        <p:txBody>
          <a:bodyPr/>
          <a:lstStyle/>
          <a:p>
            <a:fld id="{24B7DD32-1FBC-4A2E-996D-C47065B0C88D}" type="slidenum">
              <a:rPr lang="en-IN" smtClean="0"/>
              <a:t>‹#›</a:t>
            </a:fld>
            <a:endParaRPr lang="en-IN"/>
          </a:p>
        </p:txBody>
      </p:sp>
    </p:spTree>
    <p:extLst>
      <p:ext uri="{BB962C8B-B14F-4D97-AF65-F5344CB8AC3E}">
        <p14:creationId xmlns:p14="http://schemas.microsoft.com/office/powerpoint/2010/main" val="2334059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A29BF2-0609-2D18-BDB1-C6544582B7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E3184844-8894-F58A-928B-855CF0319D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5922885-8DFF-0F64-60B6-F6FB208A43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8A727E-B154-4461-8716-556A9F8396FC}" type="datetimeFigureOut">
              <a:rPr lang="en-IN" smtClean="0"/>
              <a:t>06-10-2026</a:t>
            </a:fld>
            <a:endParaRPr lang="en-IN"/>
          </a:p>
        </p:txBody>
      </p:sp>
      <p:sp>
        <p:nvSpPr>
          <p:cNvPr id="5" name="Footer Placeholder 4">
            <a:extLst>
              <a:ext uri="{FF2B5EF4-FFF2-40B4-BE49-F238E27FC236}">
                <a16:creationId xmlns:a16="http://schemas.microsoft.com/office/drawing/2014/main" id="{A36EE791-1A78-42C5-B9E2-D01A3E5892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9B52578-04B9-68E8-C504-342374AF5D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B7DD32-1FBC-4A2E-996D-C47065B0C88D}" type="slidenum">
              <a:rPr lang="en-IN" smtClean="0"/>
              <a:t>‹#›</a:t>
            </a:fld>
            <a:endParaRPr lang="en-IN"/>
          </a:p>
        </p:txBody>
      </p:sp>
    </p:spTree>
    <p:extLst>
      <p:ext uri="{BB962C8B-B14F-4D97-AF65-F5344CB8AC3E}">
        <p14:creationId xmlns:p14="http://schemas.microsoft.com/office/powerpoint/2010/main" val="33997823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C42150E-C425-D78C-ECD3-C5186453BBA2}"/>
              </a:ext>
            </a:extLst>
          </p:cNvPr>
          <p:cNvCxnSpPr/>
          <p:nvPr/>
        </p:nvCxnSpPr>
        <p:spPr>
          <a:xfrm>
            <a:off x="762000" y="6426200"/>
            <a:ext cx="10668000" cy="0"/>
          </a:xfrm>
          <a:prstGeom prst="line">
            <a:avLst/>
          </a:prstGeom>
          <a:ln w="9525">
            <a:solidFill>
              <a:srgbClr val="C9C5BF"/>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65A3B06D-1A80-3DA1-2895-53C28B8F7D45}"/>
              </a:ext>
            </a:extLst>
          </p:cNvPr>
          <p:cNvSpPr txBox="1"/>
          <p:nvPr/>
        </p:nvSpPr>
        <p:spPr>
          <a:xfrm>
            <a:off x="762000" y="6502400"/>
            <a:ext cx="5080000" cy="203200"/>
          </a:xfrm>
          <a:prstGeom prst="rect">
            <a:avLst/>
          </a:prstGeom>
          <a:noFill/>
        </p:spPr>
        <p:txBody>
          <a:bodyPr vert="horz" wrap="square" lIns="0" tIns="0" rIns="0" bIns="0" rtlCol="0" anchor="t">
            <a:noAutofit/>
          </a:bodyPr>
          <a:lstStyle/>
          <a:p>
            <a:r>
              <a:rPr lang="en-US" sz="1000">
                <a:solidFill>
                  <a:srgbClr val="6B6A68"/>
                </a:solidFill>
                <a:latin typeface="Segoe UI" panose="020B0502040204020203" pitchFamily="34" charset="0"/>
              </a:rPr>
              <a:t>Data Engineering - Case Study 14</a:t>
            </a:r>
            <a:endParaRPr lang="en-IN" sz="1000">
              <a:solidFill>
                <a:srgbClr val="6B6A68"/>
              </a:solidFill>
              <a:latin typeface="Segoe UI" panose="020B0502040204020203" pitchFamily="34" charset="0"/>
            </a:endParaRPr>
          </a:p>
        </p:txBody>
      </p:sp>
      <p:sp>
        <p:nvSpPr>
          <p:cNvPr id="4" name="TextBox 3">
            <a:extLst>
              <a:ext uri="{FF2B5EF4-FFF2-40B4-BE49-F238E27FC236}">
                <a16:creationId xmlns:a16="http://schemas.microsoft.com/office/drawing/2014/main" id="{1090F959-ADF3-3C39-7DEA-5DC878066C11}"/>
              </a:ext>
            </a:extLst>
          </p:cNvPr>
          <p:cNvSpPr txBox="1"/>
          <p:nvPr/>
        </p:nvSpPr>
        <p:spPr>
          <a:xfrm>
            <a:off x="10668000" y="6502400"/>
            <a:ext cx="762000" cy="203200"/>
          </a:xfrm>
          <a:prstGeom prst="rect">
            <a:avLst/>
          </a:prstGeom>
          <a:noFill/>
        </p:spPr>
        <p:txBody>
          <a:bodyPr vert="horz" wrap="square" lIns="0" tIns="0" rIns="0" bIns="0" rtlCol="0" anchor="t">
            <a:noAutofit/>
          </a:bodyPr>
          <a:lstStyle/>
          <a:p>
            <a:pPr algn="r"/>
            <a:r>
              <a:rPr lang="en-IN" sz="1000">
                <a:solidFill>
                  <a:srgbClr val="6B6A68"/>
                </a:solidFill>
                <a:latin typeface="Segoe UI" panose="020B0502040204020203" pitchFamily="34" charset="0"/>
              </a:rPr>
              <a:t>1</a:t>
            </a:r>
          </a:p>
        </p:txBody>
      </p:sp>
      <p:sp>
        <p:nvSpPr>
          <p:cNvPr id="5" name="TextBox 4">
            <a:extLst>
              <a:ext uri="{FF2B5EF4-FFF2-40B4-BE49-F238E27FC236}">
                <a16:creationId xmlns:a16="http://schemas.microsoft.com/office/drawing/2014/main" id="{26A6841D-4000-6C5C-5767-2BB54C44E8E9}"/>
              </a:ext>
            </a:extLst>
          </p:cNvPr>
          <p:cNvSpPr txBox="1"/>
          <p:nvPr/>
        </p:nvSpPr>
        <p:spPr>
          <a:xfrm>
            <a:off x="889000" y="787400"/>
            <a:ext cx="9652000" cy="1651000"/>
          </a:xfrm>
          <a:prstGeom prst="rect">
            <a:avLst/>
          </a:prstGeom>
          <a:noFill/>
        </p:spPr>
        <p:txBody>
          <a:bodyPr vert="horz" wrap="square" lIns="0" tIns="0" rIns="0" bIns="0" rtlCol="0" anchor="t">
            <a:noAutofit/>
          </a:bodyPr>
          <a:lstStyle/>
          <a:p>
            <a:r>
              <a:rPr lang="it-IT" sz="4400" b="1">
                <a:solidFill>
                  <a:srgbClr val="23242D"/>
                </a:solidFill>
                <a:latin typeface="Segoe UI" panose="020B0502040204020203" pitchFamily="34" charset="0"/>
              </a:rPr>
              <a:t>E-Commerce Data Quality</a:t>
            </a:r>
          </a:p>
          <a:p>
            <a:r>
              <a:rPr lang="it-IT" sz="4400" b="1">
                <a:solidFill>
                  <a:srgbClr val="23242D"/>
                </a:solidFill>
                <a:latin typeface="Segoe UI" panose="020B0502040204020203" pitchFamily="34" charset="0"/>
              </a:rPr>
              <a:t>using Soda</a:t>
            </a:r>
            <a:endParaRPr lang="en-IN" sz="4400" b="1">
              <a:solidFill>
                <a:srgbClr val="23242D"/>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1FBFDD44-022A-61E6-BA78-61DD4B1AC462}"/>
              </a:ext>
            </a:extLst>
          </p:cNvPr>
          <p:cNvCxnSpPr/>
          <p:nvPr/>
        </p:nvCxnSpPr>
        <p:spPr>
          <a:xfrm>
            <a:off x="889000" y="2540000"/>
            <a:ext cx="5207000" cy="0"/>
          </a:xfrm>
          <a:prstGeom prst="line">
            <a:avLst/>
          </a:prstGeom>
          <a:ln w="12700">
            <a:solidFill>
              <a:srgbClr val="C97B5A"/>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A9447E8B-740F-C444-829D-88A85782E25A}"/>
              </a:ext>
            </a:extLst>
          </p:cNvPr>
          <p:cNvSpPr txBox="1"/>
          <p:nvPr/>
        </p:nvSpPr>
        <p:spPr>
          <a:xfrm>
            <a:off x="889000" y="2717800"/>
            <a:ext cx="9652000" cy="355600"/>
          </a:xfrm>
          <a:prstGeom prst="rect">
            <a:avLst/>
          </a:prstGeom>
          <a:noFill/>
        </p:spPr>
        <p:txBody>
          <a:bodyPr vert="horz" wrap="square" lIns="0" tIns="0" rIns="0" bIns="0" rtlCol="0" anchor="t">
            <a:noAutofit/>
          </a:bodyPr>
          <a:lstStyle/>
          <a:p>
            <a:r>
              <a:rPr lang="en-US" b="1">
                <a:solidFill>
                  <a:srgbClr val="C97B5A"/>
                </a:solidFill>
                <a:latin typeface="Segoe UI" panose="020B0502040204020203" pitchFamily="34" charset="0"/>
              </a:rPr>
              <a:t>Data Engineering - Practical Case Study 14</a:t>
            </a:r>
            <a:endParaRPr lang="en-IN" b="1">
              <a:solidFill>
                <a:srgbClr val="C97B5A"/>
              </a:solidFill>
              <a:latin typeface="Segoe UI" panose="020B0502040204020203" pitchFamily="34" charset="0"/>
            </a:endParaRPr>
          </a:p>
        </p:txBody>
      </p:sp>
      <p:sp>
        <p:nvSpPr>
          <p:cNvPr id="8" name="TextBox 7">
            <a:extLst>
              <a:ext uri="{FF2B5EF4-FFF2-40B4-BE49-F238E27FC236}">
                <a16:creationId xmlns:a16="http://schemas.microsoft.com/office/drawing/2014/main" id="{9067406F-0BBB-71D7-3ECD-BF7097C5806C}"/>
              </a:ext>
            </a:extLst>
          </p:cNvPr>
          <p:cNvSpPr txBox="1"/>
          <p:nvPr/>
        </p:nvSpPr>
        <p:spPr>
          <a:xfrm>
            <a:off x="889000" y="3556000"/>
            <a:ext cx="3810000" cy="228600"/>
          </a:xfrm>
          <a:prstGeom prst="rect">
            <a:avLst/>
          </a:prstGeom>
          <a:noFill/>
        </p:spPr>
        <p:txBody>
          <a:bodyPr vert="horz" wrap="square" lIns="0" tIns="0" rIns="0" bIns="0" rtlCol="0" anchor="t">
            <a:noAutofit/>
          </a:bodyPr>
          <a:lstStyle/>
          <a:p>
            <a:r>
              <a:rPr lang="en-IN" sz="1100" b="1">
                <a:solidFill>
                  <a:srgbClr val="6B6A68"/>
                </a:solidFill>
                <a:latin typeface="Segoe UI" panose="020B0502040204020203" pitchFamily="34" charset="0"/>
              </a:rPr>
              <a:t>TEAM MEMBERS</a:t>
            </a:r>
          </a:p>
        </p:txBody>
      </p:sp>
      <p:sp>
        <p:nvSpPr>
          <p:cNvPr id="9" name="TextBox 8">
            <a:extLst>
              <a:ext uri="{FF2B5EF4-FFF2-40B4-BE49-F238E27FC236}">
                <a16:creationId xmlns:a16="http://schemas.microsoft.com/office/drawing/2014/main" id="{077CA4F7-96F1-D2D4-979F-5D1BB8C1A8BA}"/>
              </a:ext>
            </a:extLst>
          </p:cNvPr>
          <p:cNvSpPr txBox="1"/>
          <p:nvPr/>
        </p:nvSpPr>
        <p:spPr>
          <a:xfrm>
            <a:off x="889000" y="3860800"/>
            <a:ext cx="6350000" cy="711200"/>
          </a:xfrm>
          <a:prstGeom prst="rect">
            <a:avLst/>
          </a:prstGeom>
          <a:noFill/>
        </p:spPr>
        <p:txBody>
          <a:bodyPr vert="horz" wrap="square" lIns="0" tIns="0" rIns="0" bIns="0" rtlCol="0" anchor="t">
            <a:noAutofit/>
          </a:bodyPr>
          <a:lstStyle/>
          <a:p>
            <a:r>
              <a:rPr lang="en-IN" sz="1700" b="1">
                <a:solidFill>
                  <a:srgbClr val="23242D"/>
                </a:solidFill>
                <a:latin typeface="Segoe UI" panose="020B0502040204020203" pitchFamily="34" charset="0"/>
              </a:rPr>
              <a:t>Niharika Singh - 124A8108</a:t>
            </a:r>
          </a:p>
          <a:p>
            <a:r>
              <a:rPr lang="en-IN" sz="1700" b="1">
                <a:solidFill>
                  <a:srgbClr val="23242D"/>
                </a:solidFill>
                <a:latin typeface="Segoe UI" panose="020B0502040204020203" pitchFamily="34" charset="0"/>
              </a:rPr>
              <a:t>Shubham Singh - 124A8109</a:t>
            </a:r>
          </a:p>
        </p:txBody>
      </p:sp>
      <p:sp>
        <p:nvSpPr>
          <p:cNvPr id="10" name="Rectangle: Rounded Corners 9">
            <a:extLst>
              <a:ext uri="{FF2B5EF4-FFF2-40B4-BE49-F238E27FC236}">
                <a16:creationId xmlns:a16="http://schemas.microsoft.com/office/drawing/2014/main" id="{F9A8E1E8-DF3C-3B9B-ECA0-F0C9FBD92376}"/>
              </a:ext>
            </a:extLst>
          </p:cNvPr>
          <p:cNvSpPr/>
          <p:nvPr/>
        </p:nvSpPr>
        <p:spPr>
          <a:xfrm>
            <a:off x="889000" y="5207000"/>
            <a:ext cx="2159000" cy="584200"/>
          </a:xfrm>
          <a:prstGeom prst="roundRect">
            <a:avLst>
              <a:gd name="adj" fmla="val 8696"/>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IN" sz="1400" b="1">
                <a:solidFill>
                  <a:srgbClr val="FFFFFF"/>
                </a:solidFill>
                <a:latin typeface="Segoe UI" panose="020B0502040204020203" pitchFamily="34" charset="0"/>
              </a:rPr>
              <a:t>DATASET</a:t>
            </a:r>
          </a:p>
        </p:txBody>
      </p:sp>
      <p:cxnSp>
        <p:nvCxnSpPr>
          <p:cNvPr id="11" name="Straight Connector 10">
            <a:extLst>
              <a:ext uri="{FF2B5EF4-FFF2-40B4-BE49-F238E27FC236}">
                <a16:creationId xmlns:a16="http://schemas.microsoft.com/office/drawing/2014/main" id="{B5D085EF-0F14-9769-B487-B2CB511EE182}"/>
              </a:ext>
            </a:extLst>
          </p:cNvPr>
          <p:cNvCxnSpPr/>
          <p:nvPr/>
        </p:nvCxnSpPr>
        <p:spPr>
          <a:xfrm>
            <a:off x="3073400" y="5499100"/>
            <a:ext cx="431800" cy="0"/>
          </a:xfrm>
          <a:prstGeom prst="line">
            <a:avLst/>
          </a:prstGeom>
          <a:ln w="19050">
            <a:solidFill>
              <a:srgbClr val="C97B5A"/>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D44C89BF-1CB0-8E46-5B8D-C949ED7C0966}"/>
              </a:ext>
            </a:extLst>
          </p:cNvPr>
          <p:cNvSpPr/>
          <p:nvPr/>
        </p:nvSpPr>
        <p:spPr>
          <a:xfrm>
            <a:off x="3530600" y="5207000"/>
            <a:ext cx="2159000" cy="584200"/>
          </a:xfrm>
          <a:prstGeom prst="roundRect">
            <a:avLst>
              <a:gd name="adj" fmla="val 8696"/>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IN" sz="1400" b="1">
                <a:solidFill>
                  <a:srgbClr val="FFFFFF"/>
                </a:solidFill>
                <a:latin typeface="Segoe UI" panose="020B0502040204020203" pitchFamily="34" charset="0"/>
              </a:rPr>
              <a:t>RULES</a:t>
            </a:r>
          </a:p>
        </p:txBody>
      </p:sp>
      <p:cxnSp>
        <p:nvCxnSpPr>
          <p:cNvPr id="13" name="Straight Connector 12">
            <a:extLst>
              <a:ext uri="{FF2B5EF4-FFF2-40B4-BE49-F238E27FC236}">
                <a16:creationId xmlns:a16="http://schemas.microsoft.com/office/drawing/2014/main" id="{113ADC86-AD57-8665-B79E-EABB9ADE8941}"/>
              </a:ext>
            </a:extLst>
          </p:cNvPr>
          <p:cNvCxnSpPr/>
          <p:nvPr/>
        </p:nvCxnSpPr>
        <p:spPr>
          <a:xfrm>
            <a:off x="5715000" y="5499100"/>
            <a:ext cx="431800" cy="0"/>
          </a:xfrm>
          <a:prstGeom prst="line">
            <a:avLst/>
          </a:prstGeom>
          <a:ln w="19050">
            <a:solidFill>
              <a:srgbClr val="C97B5A"/>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1BB4A97A-448D-B1B2-CA00-8D4E0D201D6E}"/>
              </a:ext>
            </a:extLst>
          </p:cNvPr>
          <p:cNvSpPr/>
          <p:nvPr/>
        </p:nvSpPr>
        <p:spPr>
          <a:xfrm>
            <a:off x="6172200" y="5207000"/>
            <a:ext cx="2159000" cy="584200"/>
          </a:xfrm>
          <a:prstGeom prst="roundRect">
            <a:avLst>
              <a:gd name="adj" fmla="val 8696"/>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IN" sz="1400" b="1">
                <a:solidFill>
                  <a:srgbClr val="FFFFFF"/>
                </a:solidFill>
                <a:latin typeface="Segoe UI" panose="020B0502040204020203" pitchFamily="34" charset="0"/>
              </a:rPr>
              <a:t>VALIDATION</a:t>
            </a:r>
          </a:p>
        </p:txBody>
      </p:sp>
      <p:cxnSp>
        <p:nvCxnSpPr>
          <p:cNvPr id="15" name="Straight Connector 14">
            <a:extLst>
              <a:ext uri="{FF2B5EF4-FFF2-40B4-BE49-F238E27FC236}">
                <a16:creationId xmlns:a16="http://schemas.microsoft.com/office/drawing/2014/main" id="{0DAC4377-CCBC-225A-734C-1531F56860B0}"/>
              </a:ext>
            </a:extLst>
          </p:cNvPr>
          <p:cNvCxnSpPr/>
          <p:nvPr/>
        </p:nvCxnSpPr>
        <p:spPr>
          <a:xfrm>
            <a:off x="8356600" y="5499100"/>
            <a:ext cx="431800" cy="0"/>
          </a:xfrm>
          <a:prstGeom prst="line">
            <a:avLst/>
          </a:prstGeom>
          <a:ln w="19050">
            <a:solidFill>
              <a:srgbClr val="C97B5A"/>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AFF9E922-CBB0-5218-ED3C-73D700EF2A71}"/>
              </a:ext>
            </a:extLst>
          </p:cNvPr>
          <p:cNvSpPr/>
          <p:nvPr/>
        </p:nvSpPr>
        <p:spPr>
          <a:xfrm>
            <a:off x="8813800" y="5207000"/>
            <a:ext cx="2159000" cy="584200"/>
          </a:xfrm>
          <a:prstGeom prst="roundRect">
            <a:avLst>
              <a:gd name="adj" fmla="val 8696"/>
            </a:avLst>
          </a:prstGeom>
          <a:solidFill>
            <a:srgbClr val="C97B5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IN" sz="1400" b="1">
                <a:solidFill>
                  <a:srgbClr val="FFFFFF"/>
                </a:solidFill>
                <a:latin typeface="Segoe UI" panose="020B0502040204020203" pitchFamily="34" charset="0"/>
              </a:rPr>
              <a:t>REPORT</a:t>
            </a:r>
          </a:p>
        </p:txBody>
      </p:sp>
    </p:spTree>
    <p:extLst>
      <p:ext uri="{BB962C8B-B14F-4D97-AF65-F5344CB8AC3E}">
        <p14:creationId xmlns:p14="http://schemas.microsoft.com/office/powerpoint/2010/main" val="256574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C18704-AC3A-5D94-E645-8A9B0C547BE7}"/>
              </a:ext>
            </a:extLst>
          </p:cNvPr>
          <p:cNvSpPr txBox="1"/>
          <p:nvPr/>
        </p:nvSpPr>
        <p:spPr>
          <a:xfrm>
            <a:off x="762000" y="304800"/>
            <a:ext cx="10668000" cy="558800"/>
          </a:xfrm>
          <a:prstGeom prst="rect">
            <a:avLst/>
          </a:prstGeom>
          <a:noFill/>
        </p:spPr>
        <p:txBody>
          <a:bodyPr vert="horz" wrap="square" lIns="0" tIns="0" rIns="0" bIns="0" rtlCol="0" anchor="ctr">
            <a:noAutofit/>
          </a:bodyPr>
          <a:lstStyle/>
          <a:p>
            <a:r>
              <a:rPr lang="en-IN" sz="3000" b="1">
                <a:solidFill>
                  <a:srgbClr val="23242D"/>
                </a:solidFill>
                <a:latin typeface="Segoe UI" panose="020B0502040204020203" pitchFamily="34" charset="0"/>
              </a:rPr>
              <a:t>Why Data Quality Matters in E-Commerce</a:t>
            </a:r>
          </a:p>
        </p:txBody>
      </p:sp>
      <p:sp>
        <p:nvSpPr>
          <p:cNvPr id="3" name="TextBox 2">
            <a:extLst>
              <a:ext uri="{FF2B5EF4-FFF2-40B4-BE49-F238E27FC236}">
                <a16:creationId xmlns:a16="http://schemas.microsoft.com/office/drawing/2014/main" id="{C862D7D3-0369-5A6C-AACA-D39E5C3A1D5C}"/>
              </a:ext>
            </a:extLst>
          </p:cNvPr>
          <p:cNvSpPr txBox="1"/>
          <p:nvPr/>
        </p:nvSpPr>
        <p:spPr>
          <a:xfrm>
            <a:off x="762000" y="889000"/>
            <a:ext cx="10668000" cy="203200"/>
          </a:xfrm>
          <a:prstGeom prst="rect">
            <a:avLst/>
          </a:prstGeom>
          <a:noFill/>
        </p:spPr>
        <p:txBody>
          <a:bodyPr vert="horz" wrap="square" lIns="0" tIns="0" rIns="0" bIns="0" rtlCol="0" anchor="t">
            <a:noAutofit/>
          </a:bodyPr>
          <a:lstStyle/>
          <a:p>
            <a:r>
              <a:rPr lang="it-IT" sz="1100" b="1">
                <a:solidFill>
                  <a:srgbClr val="C97B5A"/>
                </a:solidFill>
                <a:latin typeface="Segoe UI" panose="020B0502040204020203" pitchFamily="34" charset="0"/>
              </a:rPr>
              <a:t>THE PROBLEM - ILLUSTRATIVE SCENARIO, SYNTHETIC DATA</a:t>
            </a:r>
            <a:endParaRPr lang="en-IN" sz="1100" b="1">
              <a:solidFill>
                <a:srgbClr val="C97B5A"/>
              </a:solidFill>
              <a:latin typeface="Segoe UI" panose="020B0502040204020203" pitchFamily="34" charset="0"/>
            </a:endParaRPr>
          </a:p>
        </p:txBody>
      </p:sp>
      <p:cxnSp>
        <p:nvCxnSpPr>
          <p:cNvPr id="4" name="Straight Connector 3">
            <a:extLst>
              <a:ext uri="{FF2B5EF4-FFF2-40B4-BE49-F238E27FC236}">
                <a16:creationId xmlns:a16="http://schemas.microsoft.com/office/drawing/2014/main" id="{804E3604-9491-11E0-FC61-4B8606CB6D21}"/>
              </a:ext>
            </a:extLst>
          </p:cNvPr>
          <p:cNvCxnSpPr/>
          <p:nvPr/>
        </p:nvCxnSpPr>
        <p:spPr>
          <a:xfrm>
            <a:off x="762000" y="1168400"/>
            <a:ext cx="10668000" cy="0"/>
          </a:xfrm>
          <a:prstGeom prst="line">
            <a:avLst/>
          </a:prstGeom>
          <a:ln w="12700">
            <a:solidFill>
              <a:srgbClr val="D9B8A6"/>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40E77D02-D206-668F-AF16-8E85FAB01152}"/>
              </a:ext>
            </a:extLst>
          </p:cNvPr>
          <p:cNvCxnSpPr/>
          <p:nvPr/>
        </p:nvCxnSpPr>
        <p:spPr>
          <a:xfrm>
            <a:off x="762000" y="6426200"/>
            <a:ext cx="10668000" cy="0"/>
          </a:xfrm>
          <a:prstGeom prst="line">
            <a:avLst/>
          </a:prstGeom>
          <a:ln w="9525">
            <a:solidFill>
              <a:srgbClr val="C9C5B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48AC0353-FC17-9EAB-7120-6575953EC8A4}"/>
              </a:ext>
            </a:extLst>
          </p:cNvPr>
          <p:cNvSpPr txBox="1"/>
          <p:nvPr/>
        </p:nvSpPr>
        <p:spPr>
          <a:xfrm>
            <a:off x="762000" y="6502400"/>
            <a:ext cx="5080000" cy="203200"/>
          </a:xfrm>
          <a:prstGeom prst="rect">
            <a:avLst/>
          </a:prstGeom>
          <a:noFill/>
        </p:spPr>
        <p:txBody>
          <a:bodyPr vert="horz" wrap="square" lIns="0" tIns="0" rIns="0" bIns="0" rtlCol="0" anchor="t">
            <a:noAutofit/>
          </a:bodyPr>
          <a:lstStyle/>
          <a:p>
            <a:r>
              <a:rPr lang="en-US" sz="1000">
                <a:solidFill>
                  <a:srgbClr val="6B6A68"/>
                </a:solidFill>
                <a:latin typeface="Segoe UI" panose="020B0502040204020203" pitchFamily="34" charset="0"/>
              </a:rPr>
              <a:t>Data Engineering - Case Study 14</a:t>
            </a:r>
            <a:endParaRPr lang="en-IN" sz="1000">
              <a:solidFill>
                <a:srgbClr val="6B6A68"/>
              </a:solidFill>
              <a:latin typeface="Segoe UI" panose="020B0502040204020203" pitchFamily="34" charset="0"/>
            </a:endParaRPr>
          </a:p>
        </p:txBody>
      </p:sp>
      <p:sp>
        <p:nvSpPr>
          <p:cNvPr id="7" name="TextBox 6">
            <a:extLst>
              <a:ext uri="{FF2B5EF4-FFF2-40B4-BE49-F238E27FC236}">
                <a16:creationId xmlns:a16="http://schemas.microsoft.com/office/drawing/2014/main" id="{6C47431C-6B15-DEAA-1A9F-132834DCF20E}"/>
              </a:ext>
            </a:extLst>
          </p:cNvPr>
          <p:cNvSpPr txBox="1"/>
          <p:nvPr/>
        </p:nvSpPr>
        <p:spPr>
          <a:xfrm>
            <a:off x="4826000" y="6502400"/>
            <a:ext cx="2540000" cy="203200"/>
          </a:xfrm>
          <a:prstGeom prst="rect">
            <a:avLst/>
          </a:prstGeom>
          <a:noFill/>
        </p:spPr>
        <p:txBody>
          <a:bodyPr vert="horz" wrap="square" lIns="0" tIns="0" rIns="0" bIns="0" rtlCol="0" anchor="t">
            <a:noAutofit/>
          </a:bodyPr>
          <a:lstStyle/>
          <a:p>
            <a:pPr algn="ctr"/>
            <a:r>
              <a:rPr lang="en-IN" sz="1000" b="1">
                <a:solidFill>
                  <a:srgbClr val="C97B5A"/>
                </a:solidFill>
                <a:latin typeface="Segoe UI" panose="020B0502040204020203" pitchFamily="34" charset="0"/>
              </a:rPr>
              <a:t>Presenter: Niharika Singh</a:t>
            </a:r>
          </a:p>
        </p:txBody>
      </p:sp>
      <p:sp>
        <p:nvSpPr>
          <p:cNvPr id="8" name="TextBox 7">
            <a:extLst>
              <a:ext uri="{FF2B5EF4-FFF2-40B4-BE49-F238E27FC236}">
                <a16:creationId xmlns:a16="http://schemas.microsoft.com/office/drawing/2014/main" id="{0AF86A3F-0684-7DE1-1C5E-CE78403BB021}"/>
              </a:ext>
            </a:extLst>
          </p:cNvPr>
          <p:cNvSpPr txBox="1"/>
          <p:nvPr/>
        </p:nvSpPr>
        <p:spPr>
          <a:xfrm>
            <a:off x="10668000" y="6502400"/>
            <a:ext cx="762000" cy="203200"/>
          </a:xfrm>
          <a:prstGeom prst="rect">
            <a:avLst/>
          </a:prstGeom>
          <a:noFill/>
        </p:spPr>
        <p:txBody>
          <a:bodyPr vert="horz" wrap="square" lIns="0" tIns="0" rIns="0" bIns="0" rtlCol="0" anchor="t">
            <a:noAutofit/>
          </a:bodyPr>
          <a:lstStyle/>
          <a:p>
            <a:pPr algn="r"/>
            <a:r>
              <a:rPr lang="en-IN" sz="1000">
                <a:solidFill>
                  <a:srgbClr val="6B6A68"/>
                </a:solidFill>
                <a:latin typeface="Segoe UI" panose="020B0502040204020203" pitchFamily="34" charset="0"/>
              </a:rPr>
              <a:t>2</a:t>
            </a:r>
          </a:p>
        </p:txBody>
      </p:sp>
      <p:sp>
        <p:nvSpPr>
          <p:cNvPr id="9" name="TextBox 8">
            <a:extLst>
              <a:ext uri="{FF2B5EF4-FFF2-40B4-BE49-F238E27FC236}">
                <a16:creationId xmlns:a16="http://schemas.microsoft.com/office/drawing/2014/main" id="{C44198A0-F4B0-FA0B-6C8E-AF1535265943}"/>
              </a:ext>
            </a:extLst>
          </p:cNvPr>
          <p:cNvSpPr txBox="1"/>
          <p:nvPr/>
        </p:nvSpPr>
        <p:spPr>
          <a:xfrm>
            <a:off x="762000" y="1371600"/>
            <a:ext cx="5588000" cy="838200"/>
          </a:xfrm>
          <a:prstGeom prst="rect">
            <a:avLst/>
          </a:prstGeom>
          <a:noFill/>
        </p:spPr>
        <p:txBody>
          <a:bodyPr vert="horz" wrap="square" lIns="0" tIns="0" rIns="0" bIns="0" rtlCol="0" anchor="t">
            <a:noAutofit/>
          </a:bodyPr>
          <a:lstStyle/>
          <a:p>
            <a:r>
              <a:rPr lang="en-US" sz="1500" b="1">
                <a:solidFill>
                  <a:srgbClr val="23242D"/>
                </a:solidFill>
                <a:latin typeface="Segoe UI" panose="020B0502040204020203" pitchFamily="34" charset="0"/>
              </a:rPr>
              <a:t>An e-commerce platform records every order, payment and customer. One bad record can silently break everything downstream.</a:t>
            </a:r>
            <a:endParaRPr lang="en-IN" sz="1500" b="1">
              <a:solidFill>
                <a:srgbClr val="23242D"/>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FDC6814D-576D-C993-66C0-81A7E839FEC1}"/>
              </a:ext>
            </a:extLst>
          </p:cNvPr>
          <p:cNvSpPr/>
          <p:nvPr/>
        </p:nvSpPr>
        <p:spPr>
          <a:xfrm>
            <a:off x="762000" y="2336800"/>
            <a:ext cx="2730500" cy="1219200"/>
          </a:xfrm>
          <a:prstGeom prst="roundRect">
            <a:avLst>
              <a:gd name="adj" fmla="val 4167"/>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5981C6E6-67A6-FC33-A2E6-9D1CE0C687B6}"/>
              </a:ext>
            </a:extLst>
          </p:cNvPr>
          <p:cNvSpPr txBox="1"/>
          <p:nvPr/>
        </p:nvSpPr>
        <p:spPr>
          <a:xfrm>
            <a:off x="939800" y="2489200"/>
            <a:ext cx="2413000" cy="203200"/>
          </a:xfrm>
          <a:prstGeom prst="rect">
            <a:avLst/>
          </a:prstGeom>
          <a:noFill/>
        </p:spPr>
        <p:txBody>
          <a:bodyPr vert="horz" wrap="square" lIns="0" tIns="0" rIns="0" bIns="0" rtlCol="0" anchor="t">
            <a:noAutofit/>
          </a:bodyPr>
          <a:lstStyle/>
          <a:p>
            <a:r>
              <a:rPr lang="en-IN" sz="1100" b="1">
                <a:solidFill>
                  <a:srgbClr val="C97B5A"/>
                </a:solidFill>
                <a:latin typeface="Segoe UI" panose="020B0502040204020203" pitchFamily="34" charset="0"/>
              </a:rPr>
              <a:t>01</a:t>
            </a:r>
          </a:p>
        </p:txBody>
      </p:sp>
      <p:sp>
        <p:nvSpPr>
          <p:cNvPr id="12" name="TextBox 11">
            <a:extLst>
              <a:ext uri="{FF2B5EF4-FFF2-40B4-BE49-F238E27FC236}">
                <a16:creationId xmlns:a16="http://schemas.microsoft.com/office/drawing/2014/main" id="{DB4F084F-6D56-2BA2-5E9F-0752B61DCFF3}"/>
              </a:ext>
            </a:extLst>
          </p:cNvPr>
          <p:cNvSpPr txBox="1"/>
          <p:nvPr/>
        </p:nvSpPr>
        <p:spPr>
          <a:xfrm>
            <a:off x="939800" y="2717800"/>
            <a:ext cx="2413000" cy="254000"/>
          </a:xfrm>
          <a:prstGeom prst="rect">
            <a:avLst/>
          </a:prstGeom>
          <a:noFill/>
        </p:spPr>
        <p:txBody>
          <a:bodyPr vert="horz" wrap="square" lIns="0" tIns="0" rIns="0" bIns="0" rtlCol="0" anchor="t">
            <a:noAutofit/>
          </a:bodyPr>
          <a:lstStyle/>
          <a:p>
            <a:r>
              <a:rPr lang="en-IN" sz="1300" b="1">
                <a:solidFill>
                  <a:srgbClr val="23242D"/>
                </a:solidFill>
                <a:latin typeface="Segoe UI" panose="020B0502040204020203" pitchFamily="34" charset="0"/>
              </a:rPr>
              <a:t>NEGATIVE PRICE</a:t>
            </a:r>
          </a:p>
        </p:txBody>
      </p:sp>
      <p:sp>
        <p:nvSpPr>
          <p:cNvPr id="13" name="TextBox 12">
            <a:extLst>
              <a:ext uri="{FF2B5EF4-FFF2-40B4-BE49-F238E27FC236}">
                <a16:creationId xmlns:a16="http://schemas.microsoft.com/office/drawing/2014/main" id="{3351F77B-2B35-255E-3C3D-1DDB3081618C}"/>
              </a:ext>
            </a:extLst>
          </p:cNvPr>
          <p:cNvSpPr txBox="1"/>
          <p:nvPr/>
        </p:nvSpPr>
        <p:spPr>
          <a:xfrm>
            <a:off x="939800" y="3048000"/>
            <a:ext cx="2413000" cy="406400"/>
          </a:xfrm>
          <a:prstGeom prst="rect">
            <a:avLst/>
          </a:prstGeom>
          <a:noFill/>
        </p:spPr>
        <p:txBody>
          <a:bodyPr vert="horz" wrap="square" lIns="0" tIns="0" rIns="0" bIns="0" rtlCol="0" anchor="t">
            <a:noAutofit/>
          </a:bodyPr>
          <a:lstStyle/>
          <a:p>
            <a:r>
              <a:rPr lang="en-IN" sz="1300">
                <a:solidFill>
                  <a:srgbClr val="6B6A68"/>
                </a:solidFill>
                <a:latin typeface="Segoe UI" panose="020B0502040204020203" pitchFamily="34" charset="0"/>
              </a:rPr>
              <a:t>Profit report becomes wrong</a:t>
            </a:r>
          </a:p>
        </p:txBody>
      </p:sp>
      <p:sp>
        <p:nvSpPr>
          <p:cNvPr id="14" name="Rectangle: Rounded Corners 13">
            <a:extLst>
              <a:ext uri="{FF2B5EF4-FFF2-40B4-BE49-F238E27FC236}">
                <a16:creationId xmlns:a16="http://schemas.microsoft.com/office/drawing/2014/main" id="{B01E93D3-4E11-6A4E-4B51-3AFE1CFC720C}"/>
              </a:ext>
            </a:extLst>
          </p:cNvPr>
          <p:cNvSpPr/>
          <p:nvPr/>
        </p:nvSpPr>
        <p:spPr>
          <a:xfrm>
            <a:off x="3619500" y="2336800"/>
            <a:ext cx="2730500" cy="1219200"/>
          </a:xfrm>
          <a:prstGeom prst="roundRect">
            <a:avLst>
              <a:gd name="adj" fmla="val 4167"/>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A408491A-8308-3F96-A956-A971CB9C7A92}"/>
              </a:ext>
            </a:extLst>
          </p:cNvPr>
          <p:cNvSpPr txBox="1"/>
          <p:nvPr/>
        </p:nvSpPr>
        <p:spPr>
          <a:xfrm>
            <a:off x="3797300" y="2489200"/>
            <a:ext cx="2413000" cy="203200"/>
          </a:xfrm>
          <a:prstGeom prst="rect">
            <a:avLst/>
          </a:prstGeom>
          <a:noFill/>
        </p:spPr>
        <p:txBody>
          <a:bodyPr vert="horz" wrap="square" lIns="0" tIns="0" rIns="0" bIns="0" rtlCol="0" anchor="t">
            <a:noAutofit/>
          </a:bodyPr>
          <a:lstStyle/>
          <a:p>
            <a:r>
              <a:rPr lang="en-IN" sz="1100" b="1">
                <a:solidFill>
                  <a:srgbClr val="C97B5A"/>
                </a:solidFill>
                <a:latin typeface="Segoe UI" panose="020B0502040204020203" pitchFamily="34" charset="0"/>
              </a:rPr>
              <a:t>02</a:t>
            </a:r>
          </a:p>
        </p:txBody>
      </p:sp>
      <p:sp>
        <p:nvSpPr>
          <p:cNvPr id="16" name="TextBox 15">
            <a:extLst>
              <a:ext uri="{FF2B5EF4-FFF2-40B4-BE49-F238E27FC236}">
                <a16:creationId xmlns:a16="http://schemas.microsoft.com/office/drawing/2014/main" id="{A2814131-1D18-25F4-BC36-14A0B428B300}"/>
              </a:ext>
            </a:extLst>
          </p:cNvPr>
          <p:cNvSpPr txBox="1"/>
          <p:nvPr/>
        </p:nvSpPr>
        <p:spPr>
          <a:xfrm>
            <a:off x="3797300" y="2717800"/>
            <a:ext cx="2413000" cy="254000"/>
          </a:xfrm>
          <a:prstGeom prst="rect">
            <a:avLst/>
          </a:prstGeom>
          <a:noFill/>
        </p:spPr>
        <p:txBody>
          <a:bodyPr vert="horz" wrap="square" lIns="0" tIns="0" rIns="0" bIns="0" rtlCol="0" anchor="t">
            <a:noAutofit/>
          </a:bodyPr>
          <a:lstStyle/>
          <a:p>
            <a:r>
              <a:rPr lang="en-IN" sz="1300" b="1">
                <a:solidFill>
                  <a:srgbClr val="23242D"/>
                </a:solidFill>
                <a:latin typeface="Segoe UI" panose="020B0502040204020203" pitchFamily="34" charset="0"/>
              </a:rPr>
              <a:t>DUPLICATE ORDER_ID</a:t>
            </a:r>
          </a:p>
        </p:txBody>
      </p:sp>
      <p:sp>
        <p:nvSpPr>
          <p:cNvPr id="17" name="TextBox 16">
            <a:extLst>
              <a:ext uri="{FF2B5EF4-FFF2-40B4-BE49-F238E27FC236}">
                <a16:creationId xmlns:a16="http://schemas.microsoft.com/office/drawing/2014/main" id="{F855329D-0085-03F7-117D-0EDDC47FB900}"/>
              </a:ext>
            </a:extLst>
          </p:cNvPr>
          <p:cNvSpPr txBox="1"/>
          <p:nvPr/>
        </p:nvSpPr>
        <p:spPr>
          <a:xfrm>
            <a:off x="3797300" y="3048000"/>
            <a:ext cx="2413000" cy="406400"/>
          </a:xfrm>
          <a:prstGeom prst="rect">
            <a:avLst/>
          </a:prstGeom>
          <a:noFill/>
        </p:spPr>
        <p:txBody>
          <a:bodyPr vert="horz" wrap="square" lIns="0" tIns="0" rIns="0" bIns="0" rtlCol="0" anchor="t">
            <a:noAutofit/>
          </a:bodyPr>
          <a:lstStyle/>
          <a:p>
            <a:r>
              <a:rPr lang="en-US" sz="1300">
                <a:solidFill>
                  <a:srgbClr val="6B6A68"/>
                </a:solidFill>
                <a:latin typeface="Segoe UI" panose="020B0502040204020203" pitchFamily="34" charset="0"/>
              </a:rPr>
              <a:t>Same order is counted twice</a:t>
            </a:r>
            <a:endParaRPr lang="en-IN" sz="1300">
              <a:solidFill>
                <a:srgbClr val="6B6A68"/>
              </a:solidFill>
              <a:latin typeface="Segoe UI" panose="020B0502040204020203" pitchFamily="34" charset="0"/>
            </a:endParaRPr>
          </a:p>
        </p:txBody>
      </p:sp>
      <p:sp>
        <p:nvSpPr>
          <p:cNvPr id="18" name="Rectangle: Rounded Corners 17">
            <a:extLst>
              <a:ext uri="{FF2B5EF4-FFF2-40B4-BE49-F238E27FC236}">
                <a16:creationId xmlns:a16="http://schemas.microsoft.com/office/drawing/2014/main" id="{ED2A27DE-FB94-0A4C-5006-DBC2EB72F695}"/>
              </a:ext>
            </a:extLst>
          </p:cNvPr>
          <p:cNvSpPr/>
          <p:nvPr/>
        </p:nvSpPr>
        <p:spPr>
          <a:xfrm>
            <a:off x="762000" y="3683000"/>
            <a:ext cx="2730500" cy="1219200"/>
          </a:xfrm>
          <a:prstGeom prst="roundRect">
            <a:avLst>
              <a:gd name="adj" fmla="val 4167"/>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03D5E6FA-C398-6E9E-7CA1-9CF7E12D7F6E}"/>
              </a:ext>
            </a:extLst>
          </p:cNvPr>
          <p:cNvSpPr txBox="1"/>
          <p:nvPr/>
        </p:nvSpPr>
        <p:spPr>
          <a:xfrm>
            <a:off x="939800" y="3835400"/>
            <a:ext cx="2413000" cy="203200"/>
          </a:xfrm>
          <a:prstGeom prst="rect">
            <a:avLst/>
          </a:prstGeom>
          <a:noFill/>
        </p:spPr>
        <p:txBody>
          <a:bodyPr vert="horz" wrap="square" lIns="0" tIns="0" rIns="0" bIns="0" rtlCol="0" anchor="t">
            <a:noAutofit/>
          </a:bodyPr>
          <a:lstStyle/>
          <a:p>
            <a:r>
              <a:rPr lang="en-IN" sz="1100" b="1">
                <a:solidFill>
                  <a:srgbClr val="C97B5A"/>
                </a:solidFill>
                <a:latin typeface="Segoe UI" panose="020B0502040204020203" pitchFamily="34" charset="0"/>
              </a:rPr>
              <a:t>03</a:t>
            </a:r>
          </a:p>
        </p:txBody>
      </p:sp>
      <p:sp>
        <p:nvSpPr>
          <p:cNvPr id="20" name="TextBox 19">
            <a:extLst>
              <a:ext uri="{FF2B5EF4-FFF2-40B4-BE49-F238E27FC236}">
                <a16:creationId xmlns:a16="http://schemas.microsoft.com/office/drawing/2014/main" id="{9DEF6B4E-3F8B-5A67-5079-4891CAC5FF13}"/>
              </a:ext>
            </a:extLst>
          </p:cNvPr>
          <p:cNvSpPr txBox="1"/>
          <p:nvPr/>
        </p:nvSpPr>
        <p:spPr>
          <a:xfrm>
            <a:off x="939800" y="4064000"/>
            <a:ext cx="2413000" cy="254000"/>
          </a:xfrm>
          <a:prstGeom prst="rect">
            <a:avLst/>
          </a:prstGeom>
          <a:noFill/>
        </p:spPr>
        <p:txBody>
          <a:bodyPr vert="horz" wrap="square" lIns="0" tIns="0" rIns="0" bIns="0" rtlCol="0" anchor="t">
            <a:noAutofit/>
          </a:bodyPr>
          <a:lstStyle/>
          <a:p>
            <a:r>
              <a:rPr lang="en-IN" sz="1300" b="1">
                <a:solidFill>
                  <a:srgbClr val="23242D"/>
                </a:solidFill>
                <a:latin typeface="Segoe UI" panose="020B0502040204020203" pitchFamily="34" charset="0"/>
              </a:rPr>
              <a:t>MISSING CUSTOMER_ID</a:t>
            </a:r>
          </a:p>
        </p:txBody>
      </p:sp>
      <p:sp>
        <p:nvSpPr>
          <p:cNvPr id="21" name="TextBox 20">
            <a:extLst>
              <a:ext uri="{FF2B5EF4-FFF2-40B4-BE49-F238E27FC236}">
                <a16:creationId xmlns:a16="http://schemas.microsoft.com/office/drawing/2014/main" id="{FD074188-5552-4582-02DD-4F4FD4048754}"/>
              </a:ext>
            </a:extLst>
          </p:cNvPr>
          <p:cNvSpPr txBox="1"/>
          <p:nvPr/>
        </p:nvSpPr>
        <p:spPr>
          <a:xfrm>
            <a:off x="939800" y="4394200"/>
            <a:ext cx="2413000" cy="406400"/>
          </a:xfrm>
          <a:prstGeom prst="rect">
            <a:avLst/>
          </a:prstGeom>
          <a:noFill/>
        </p:spPr>
        <p:txBody>
          <a:bodyPr vert="horz" wrap="square" lIns="0" tIns="0" rIns="0" bIns="0" rtlCol="0" anchor="t">
            <a:noAutofit/>
          </a:bodyPr>
          <a:lstStyle/>
          <a:p>
            <a:r>
              <a:rPr lang="en-IN" sz="1300">
                <a:solidFill>
                  <a:srgbClr val="6B6A68"/>
                </a:solidFill>
                <a:latin typeface="Segoe UI" panose="020B0502040204020203" pitchFamily="34" charset="0"/>
              </a:rPr>
              <a:t>Delivery cannot be made</a:t>
            </a:r>
          </a:p>
        </p:txBody>
      </p:sp>
      <p:sp>
        <p:nvSpPr>
          <p:cNvPr id="22" name="Rectangle: Rounded Corners 21">
            <a:extLst>
              <a:ext uri="{FF2B5EF4-FFF2-40B4-BE49-F238E27FC236}">
                <a16:creationId xmlns:a16="http://schemas.microsoft.com/office/drawing/2014/main" id="{10A6E75E-B21B-3408-B242-9E11584E0420}"/>
              </a:ext>
            </a:extLst>
          </p:cNvPr>
          <p:cNvSpPr/>
          <p:nvPr/>
        </p:nvSpPr>
        <p:spPr>
          <a:xfrm>
            <a:off x="3619500" y="3683000"/>
            <a:ext cx="2730500" cy="1219200"/>
          </a:xfrm>
          <a:prstGeom prst="roundRect">
            <a:avLst>
              <a:gd name="adj" fmla="val 4167"/>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BCD61DE3-2D7B-7588-942E-6F99EBDAD147}"/>
              </a:ext>
            </a:extLst>
          </p:cNvPr>
          <p:cNvSpPr txBox="1"/>
          <p:nvPr/>
        </p:nvSpPr>
        <p:spPr>
          <a:xfrm>
            <a:off x="3797300" y="3835400"/>
            <a:ext cx="2413000" cy="203200"/>
          </a:xfrm>
          <a:prstGeom prst="rect">
            <a:avLst/>
          </a:prstGeom>
          <a:noFill/>
        </p:spPr>
        <p:txBody>
          <a:bodyPr vert="horz" wrap="square" lIns="0" tIns="0" rIns="0" bIns="0" rtlCol="0" anchor="t">
            <a:noAutofit/>
          </a:bodyPr>
          <a:lstStyle/>
          <a:p>
            <a:r>
              <a:rPr lang="en-IN" sz="1100" b="1">
                <a:solidFill>
                  <a:srgbClr val="C97B5A"/>
                </a:solidFill>
                <a:latin typeface="Segoe UI" panose="020B0502040204020203" pitchFamily="34" charset="0"/>
              </a:rPr>
              <a:t>04</a:t>
            </a:r>
          </a:p>
        </p:txBody>
      </p:sp>
      <p:sp>
        <p:nvSpPr>
          <p:cNvPr id="24" name="TextBox 23">
            <a:extLst>
              <a:ext uri="{FF2B5EF4-FFF2-40B4-BE49-F238E27FC236}">
                <a16:creationId xmlns:a16="http://schemas.microsoft.com/office/drawing/2014/main" id="{B0BBAA25-9E12-21D2-CB32-FE20B71119C2}"/>
              </a:ext>
            </a:extLst>
          </p:cNvPr>
          <p:cNvSpPr txBox="1"/>
          <p:nvPr/>
        </p:nvSpPr>
        <p:spPr>
          <a:xfrm>
            <a:off x="3797300" y="4064000"/>
            <a:ext cx="2413000" cy="254000"/>
          </a:xfrm>
          <a:prstGeom prst="rect">
            <a:avLst/>
          </a:prstGeom>
          <a:noFill/>
        </p:spPr>
        <p:txBody>
          <a:bodyPr vert="horz" wrap="square" lIns="0" tIns="0" rIns="0" bIns="0" rtlCol="0" anchor="t">
            <a:noAutofit/>
          </a:bodyPr>
          <a:lstStyle/>
          <a:p>
            <a:r>
              <a:rPr lang="en-IN" sz="1300" b="1">
                <a:solidFill>
                  <a:srgbClr val="23242D"/>
                </a:solidFill>
                <a:latin typeface="Segoe UI" panose="020B0502040204020203" pitchFamily="34" charset="0"/>
              </a:rPr>
              <a:t>INVALID STATUS</a:t>
            </a:r>
          </a:p>
        </p:txBody>
      </p:sp>
      <p:sp>
        <p:nvSpPr>
          <p:cNvPr id="25" name="TextBox 24">
            <a:extLst>
              <a:ext uri="{FF2B5EF4-FFF2-40B4-BE49-F238E27FC236}">
                <a16:creationId xmlns:a16="http://schemas.microsoft.com/office/drawing/2014/main" id="{39E100A6-0D6F-589B-9258-451BE203857A}"/>
              </a:ext>
            </a:extLst>
          </p:cNvPr>
          <p:cNvSpPr txBox="1"/>
          <p:nvPr/>
        </p:nvSpPr>
        <p:spPr>
          <a:xfrm>
            <a:off x="3797300" y="4394200"/>
            <a:ext cx="2413000" cy="406400"/>
          </a:xfrm>
          <a:prstGeom prst="rect">
            <a:avLst/>
          </a:prstGeom>
          <a:noFill/>
        </p:spPr>
        <p:txBody>
          <a:bodyPr vert="horz" wrap="square" lIns="0" tIns="0" rIns="0" bIns="0" rtlCol="0" anchor="t">
            <a:noAutofit/>
          </a:bodyPr>
          <a:lstStyle/>
          <a:p>
            <a:r>
              <a:rPr lang="en-IN" sz="1300">
                <a:solidFill>
                  <a:srgbClr val="6B6A68"/>
                </a:solidFill>
                <a:latin typeface="Segoe UI" panose="020B0502040204020203" pitchFamily="34" charset="0"/>
              </a:rPr>
              <a:t>Order tracking breaks</a:t>
            </a:r>
          </a:p>
        </p:txBody>
      </p:sp>
      <p:sp>
        <p:nvSpPr>
          <p:cNvPr id="26" name="Rectangle: Rounded Corners 25">
            <a:extLst>
              <a:ext uri="{FF2B5EF4-FFF2-40B4-BE49-F238E27FC236}">
                <a16:creationId xmlns:a16="http://schemas.microsoft.com/office/drawing/2014/main" id="{541EAFC9-978D-8686-7B48-C521FE7AE79B}"/>
              </a:ext>
            </a:extLst>
          </p:cNvPr>
          <p:cNvSpPr/>
          <p:nvPr/>
        </p:nvSpPr>
        <p:spPr>
          <a:xfrm>
            <a:off x="7112000" y="1371600"/>
            <a:ext cx="4318000" cy="431800"/>
          </a:xfrm>
          <a:prstGeom prst="roundRect">
            <a:avLst>
              <a:gd name="adj" fmla="val 11765"/>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US" sz="1200" b="1">
                <a:solidFill>
                  <a:srgbClr val="FFFFFF"/>
                </a:solidFill>
                <a:latin typeface="Segoe UI" panose="020B0502040204020203" pitchFamily="34" charset="0"/>
              </a:rPr>
              <a:t>DATA SOURCES (WEB, APP, PAYMENTS)</a:t>
            </a:r>
            <a:endParaRPr lang="en-IN" sz="1200" b="1">
              <a:solidFill>
                <a:srgbClr val="FFFFFF"/>
              </a:solidFill>
              <a:latin typeface="Segoe UI" panose="020B0502040204020203" pitchFamily="34" charset="0"/>
            </a:endParaRPr>
          </a:p>
        </p:txBody>
      </p:sp>
      <p:cxnSp>
        <p:nvCxnSpPr>
          <p:cNvPr id="27" name="Straight Connector 26">
            <a:extLst>
              <a:ext uri="{FF2B5EF4-FFF2-40B4-BE49-F238E27FC236}">
                <a16:creationId xmlns:a16="http://schemas.microsoft.com/office/drawing/2014/main" id="{82C6E69C-8013-76E8-15D7-131B498D9CC1}"/>
              </a:ext>
            </a:extLst>
          </p:cNvPr>
          <p:cNvCxnSpPr/>
          <p:nvPr/>
        </p:nvCxnSpPr>
        <p:spPr>
          <a:xfrm>
            <a:off x="9271000" y="1803400"/>
            <a:ext cx="0" cy="177800"/>
          </a:xfrm>
          <a:prstGeom prst="line">
            <a:avLst/>
          </a:prstGeom>
          <a:ln w="19050">
            <a:solidFill>
              <a:srgbClr val="C97B5A"/>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B1F4821F-48F1-5BB1-C52F-AE7F8A25EDD6}"/>
              </a:ext>
            </a:extLst>
          </p:cNvPr>
          <p:cNvSpPr/>
          <p:nvPr/>
        </p:nvSpPr>
        <p:spPr>
          <a:xfrm>
            <a:off x="7112000" y="1981200"/>
            <a:ext cx="4318000" cy="431800"/>
          </a:xfrm>
          <a:prstGeom prst="roundRect">
            <a:avLst>
              <a:gd name="adj" fmla="val 11765"/>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IN" sz="1200" b="1">
                <a:solidFill>
                  <a:srgbClr val="FFFFFF"/>
                </a:solidFill>
                <a:latin typeface="Segoe UI" panose="020B0502040204020203" pitchFamily="34" charset="0"/>
              </a:rPr>
              <a:t>BAD RECORDS ENTER</a:t>
            </a:r>
          </a:p>
        </p:txBody>
      </p:sp>
      <p:cxnSp>
        <p:nvCxnSpPr>
          <p:cNvPr id="29" name="Straight Connector 28">
            <a:extLst>
              <a:ext uri="{FF2B5EF4-FFF2-40B4-BE49-F238E27FC236}">
                <a16:creationId xmlns:a16="http://schemas.microsoft.com/office/drawing/2014/main" id="{943F2904-C285-8073-B056-6E6F89453B78}"/>
              </a:ext>
            </a:extLst>
          </p:cNvPr>
          <p:cNvCxnSpPr/>
          <p:nvPr/>
        </p:nvCxnSpPr>
        <p:spPr>
          <a:xfrm>
            <a:off x="9271000" y="2413000"/>
            <a:ext cx="0" cy="177800"/>
          </a:xfrm>
          <a:prstGeom prst="line">
            <a:avLst/>
          </a:prstGeom>
          <a:ln w="19050">
            <a:solidFill>
              <a:srgbClr val="C97B5A"/>
            </a:solidFill>
            <a:tailEnd type="triangle"/>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28B4438E-0469-7544-921C-D482885F0BCF}"/>
              </a:ext>
            </a:extLst>
          </p:cNvPr>
          <p:cNvSpPr/>
          <p:nvPr/>
        </p:nvSpPr>
        <p:spPr>
          <a:xfrm>
            <a:off x="7112000" y="2590800"/>
            <a:ext cx="4318000" cy="431800"/>
          </a:xfrm>
          <a:prstGeom prst="roundRect">
            <a:avLst>
              <a:gd name="adj" fmla="val 11765"/>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IN" sz="1200" b="1">
                <a:solidFill>
                  <a:srgbClr val="FFFFFF"/>
                </a:solidFill>
                <a:latin typeface="Segoe UI" panose="020B0502040204020203" pitchFamily="34" charset="0"/>
              </a:rPr>
              <a:t>WRONG REVENUE REPORTS</a:t>
            </a:r>
          </a:p>
        </p:txBody>
      </p:sp>
      <p:cxnSp>
        <p:nvCxnSpPr>
          <p:cNvPr id="31" name="Straight Connector 30">
            <a:extLst>
              <a:ext uri="{FF2B5EF4-FFF2-40B4-BE49-F238E27FC236}">
                <a16:creationId xmlns:a16="http://schemas.microsoft.com/office/drawing/2014/main" id="{322EC038-4C3B-05E6-0FFC-3AD06B1017B8}"/>
              </a:ext>
            </a:extLst>
          </p:cNvPr>
          <p:cNvCxnSpPr/>
          <p:nvPr/>
        </p:nvCxnSpPr>
        <p:spPr>
          <a:xfrm>
            <a:off x="9271000" y="3022600"/>
            <a:ext cx="0" cy="177800"/>
          </a:xfrm>
          <a:prstGeom prst="line">
            <a:avLst/>
          </a:prstGeom>
          <a:ln w="19050">
            <a:solidFill>
              <a:srgbClr val="C97B5A"/>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Rounded Corners 31">
            <a:extLst>
              <a:ext uri="{FF2B5EF4-FFF2-40B4-BE49-F238E27FC236}">
                <a16:creationId xmlns:a16="http://schemas.microsoft.com/office/drawing/2014/main" id="{A76AE1C8-5D51-3DFB-F719-91C5C2609248}"/>
              </a:ext>
            </a:extLst>
          </p:cNvPr>
          <p:cNvSpPr/>
          <p:nvPr/>
        </p:nvSpPr>
        <p:spPr>
          <a:xfrm>
            <a:off x="7112000" y="3200400"/>
            <a:ext cx="4318000" cy="431800"/>
          </a:xfrm>
          <a:prstGeom prst="roundRect">
            <a:avLst>
              <a:gd name="adj" fmla="val 11765"/>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IN" sz="1200" b="1">
                <a:solidFill>
                  <a:srgbClr val="FFFFFF"/>
                </a:solidFill>
                <a:latin typeface="Segoe UI" panose="020B0502040204020203" pitchFamily="34" charset="0"/>
              </a:rPr>
              <a:t>FAILED DELIVERIES</a:t>
            </a:r>
          </a:p>
        </p:txBody>
      </p:sp>
      <p:cxnSp>
        <p:nvCxnSpPr>
          <p:cNvPr id="33" name="Straight Connector 32">
            <a:extLst>
              <a:ext uri="{FF2B5EF4-FFF2-40B4-BE49-F238E27FC236}">
                <a16:creationId xmlns:a16="http://schemas.microsoft.com/office/drawing/2014/main" id="{D2A36FE3-D0D4-5332-0816-884472432676}"/>
              </a:ext>
            </a:extLst>
          </p:cNvPr>
          <p:cNvCxnSpPr/>
          <p:nvPr/>
        </p:nvCxnSpPr>
        <p:spPr>
          <a:xfrm>
            <a:off x="9271000" y="3632200"/>
            <a:ext cx="0" cy="177800"/>
          </a:xfrm>
          <a:prstGeom prst="line">
            <a:avLst/>
          </a:prstGeom>
          <a:ln w="19050">
            <a:solidFill>
              <a:srgbClr val="C97B5A"/>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Rounded Corners 33">
            <a:extLst>
              <a:ext uri="{FF2B5EF4-FFF2-40B4-BE49-F238E27FC236}">
                <a16:creationId xmlns:a16="http://schemas.microsoft.com/office/drawing/2014/main" id="{AC44837B-DC33-EB94-32AC-7A77C1C72310}"/>
              </a:ext>
            </a:extLst>
          </p:cNvPr>
          <p:cNvSpPr/>
          <p:nvPr/>
        </p:nvSpPr>
        <p:spPr>
          <a:xfrm>
            <a:off x="7112000" y="3810000"/>
            <a:ext cx="4318000" cy="431800"/>
          </a:xfrm>
          <a:prstGeom prst="roundRect">
            <a:avLst>
              <a:gd name="adj" fmla="val 11765"/>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IN" sz="1200" b="1">
                <a:solidFill>
                  <a:srgbClr val="FFFFFF"/>
                </a:solidFill>
                <a:latin typeface="Segoe UI" panose="020B0502040204020203" pitchFamily="34" charset="0"/>
              </a:rPr>
              <a:t>BAD BUSINESS DECISIONS</a:t>
            </a:r>
          </a:p>
        </p:txBody>
      </p:sp>
      <p:cxnSp>
        <p:nvCxnSpPr>
          <p:cNvPr id="35" name="Straight Connector 34">
            <a:extLst>
              <a:ext uri="{FF2B5EF4-FFF2-40B4-BE49-F238E27FC236}">
                <a16:creationId xmlns:a16="http://schemas.microsoft.com/office/drawing/2014/main" id="{AA474A12-8E8B-7F17-841E-8C7D0E6996C7}"/>
              </a:ext>
            </a:extLst>
          </p:cNvPr>
          <p:cNvCxnSpPr/>
          <p:nvPr/>
        </p:nvCxnSpPr>
        <p:spPr>
          <a:xfrm>
            <a:off x="9271000" y="4241800"/>
            <a:ext cx="0" cy="177800"/>
          </a:xfrm>
          <a:prstGeom prst="line">
            <a:avLst/>
          </a:prstGeom>
          <a:ln w="19050">
            <a:solidFill>
              <a:srgbClr val="C97B5A"/>
            </a:solidFill>
            <a:tailEnd type="triangle"/>
          </a:ln>
        </p:spPr>
        <p:style>
          <a:lnRef idx="2">
            <a:schemeClr val="accent1"/>
          </a:lnRef>
          <a:fillRef idx="0">
            <a:schemeClr val="accent1"/>
          </a:fillRef>
          <a:effectRef idx="1">
            <a:schemeClr val="accent1"/>
          </a:effectRef>
          <a:fontRef idx="minor">
            <a:schemeClr val="tx1"/>
          </a:fontRef>
        </p:style>
      </p:cxnSp>
      <p:sp>
        <p:nvSpPr>
          <p:cNvPr id="36" name="Rectangle: Rounded Corners 35">
            <a:extLst>
              <a:ext uri="{FF2B5EF4-FFF2-40B4-BE49-F238E27FC236}">
                <a16:creationId xmlns:a16="http://schemas.microsoft.com/office/drawing/2014/main" id="{429F0E75-EEB2-C5F3-EF3E-AAA07BC03573}"/>
              </a:ext>
            </a:extLst>
          </p:cNvPr>
          <p:cNvSpPr/>
          <p:nvPr/>
        </p:nvSpPr>
        <p:spPr>
          <a:xfrm>
            <a:off x="7112000" y="4419600"/>
            <a:ext cx="4318000" cy="431800"/>
          </a:xfrm>
          <a:prstGeom prst="roundRect">
            <a:avLst>
              <a:gd name="adj" fmla="val 11765"/>
            </a:avLst>
          </a:prstGeom>
          <a:solidFill>
            <a:srgbClr val="C97B5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IN" sz="1200" b="1">
                <a:solidFill>
                  <a:srgbClr val="FFFFFF"/>
                </a:solidFill>
                <a:latin typeface="Segoe UI" panose="020B0502040204020203" pitchFamily="34" charset="0"/>
              </a:rPr>
              <a:t>VALIDATION RULES NEEDED</a:t>
            </a:r>
          </a:p>
        </p:txBody>
      </p:sp>
      <p:sp>
        <p:nvSpPr>
          <p:cNvPr id="37" name="TextBox 36">
            <a:extLst>
              <a:ext uri="{FF2B5EF4-FFF2-40B4-BE49-F238E27FC236}">
                <a16:creationId xmlns:a16="http://schemas.microsoft.com/office/drawing/2014/main" id="{2E13440A-F9C9-FF79-634D-3385543ABC2C}"/>
              </a:ext>
            </a:extLst>
          </p:cNvPr>
          <p:cNvSpPr txBox="1"/>
          <p:nvPr/>
        </p:nvSpPr>
        <p:spPr>
          <a:xfrm>
            <a:off x="762000" y="5130800"/>
            <a:ext cx="10668000" cy="203200"/>
          </a:xfrm>
          <a:prstGeom prst="rect">
            <a:avLst/>
          </a:prstGeom>
          <a:noFill/>
        </p:spPr>
        <p:txBody>
          <a:bodyPr vert="horz" wrap="square" lIns="0" tIns="0" rIns="0" bIns="0" rtlCol="0" anchor="t">
            <a:noAutofit/>
          </a:bodyPr>
          <a:lstStyle/>
          <a:p>
            <a:pPr algn="ctr"/>
            <a:r>
              <a:rPr lang="en-US" sz="1000" b="1">
                <a:solidFill>
                  <a:srgbClr val="C97B5A"/>
                </a:solidFill>
                <a:latin typeface="Segoe UI" panose="020B0502040204020203" pitchFamily="34" charset="0"/>
              </a:rPr>
              <a:t>DISCUSS BEFORE MOVING TO THE SOLUTION</a:t>
            </a:r>
            <a:endParaRPr lang="en-IN" sz="1000" b="1">
              <a:solidFill>
                <a:srgbClr val="C97B5A"/>
              </a:solidFill>
              <a:latin typeface="Segoe UI" panose="020B0502040204020203" pitchFamily="34" charset="0"/>
            </a:endParaRPr>
          </a:p>
        </p:txBody>
      </p:sp>
      <p:sp>
        <p:nvSpPr>
          <p:cNvPr id="38" name="Rectangle: Rounded Corners 37">
            <a:extLst>
              <a:ext uri="{FF2B5EF4-FFF2-40B4-BE49-F238E27FC236}">
                <a16:creationId xmlns:a16="http://schemas.microsoft.com/office/drawing/2014/main" id="{F8C4BDA9-129D-A095-4B0D-9CFF5E3A7AED}"/>
              </a:ext>
            </a:extLst>
          </p:cNvPr>
          <p:cNvSpPr/>
          <p:nvPr/>
        </p:nvSpPr>
        <p:spPr>
          <a:xfrm>
            <a:off x="762000" y="5384800"/>
            <a:ext cx="10668000" cy="787400"/>
          </a:xfrm>
          <a:prstGeom prst="roundRect">
            <a:avLst>
              <a:gd name="adj" fmla="val 6452"/>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US" b="1">
                <a:solidFill>
                  <a:srgbClr val="FFFFFF"/>
                </a:solidFill>
                <a:latin typeface="Segoe UI" panose="020B0502040204020203" pitchFamily="34" charset="0"/>
              </a:rPr>
              <a:t>How can we catch bad data automatically, before it reaches reports and decisions?</a:t>
            </a:r>
            <a:endParaRPr lang="en-IN" b="1">
              <a:solidFill>
                <a:srgbClr val="FFFFFF"/>
              </a:solidFill>
              <a:latin typeface="Segoe UI" panose="020B0502040204020203" pitchFamily="34" charset="0"/>
            </a:endParaRPr>
          </a:p>
        </p:txBody>
      </p:sp>
    </p:spTree>
    <p:extLst>
      <p:ext uri="{BB962C8B-B14F-4D97-AF65-F5344CB8AC3E}">
        <p14:creationId xmlns:p14="http://schemas.microsoft.com/office/powerpoint/2010/main" val="1143873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D7D48D-2BF6-CD32-5D73-D366763A6735}"/>
              </a:ext>
            </a:extLst>
          </p:cNvPr>
          <p:cNvSpPr txBox="1"/>
          <p:nvPr/>
        </p:nvSpPr>
        <p:spPr>
          <a:xfrm>
            <a:off x="762000" y="304800"/>
            <a:ext cx="10668000" cy="558800"/>
          </a:xfrm>
          <a:prstGeom prst="rect">
            <a:avLst/>
          </a:prstGeom>
          <a:noFill/>
        </p:spPr>
        <p:txBody>
          <a:bodyPr vert="horz" wrap="square" lIns="0" tIns="0" rIns="0" bIns="0" rtlCol="0" anchor="ctr">
            <a:noAutofit/>
          </a:bodyPr>
          <a:lstStyle/>
          <a:p>
            <a:r>
              <a:rPr lang="en-US" sz="3000" b="1">
                <a:solidFill>
                  <a:srgbClr val="23242D"/>
                </a:solidFill>
                <a:latin typeface="Segoe UI" panose="020B0502040204020203" pitchFamily="34" charset="0"/>
              </a:rPr>
              <a:t>Step 1 - Creating the Dataset</a:t>
            </a:r>
            <a:endParaRPr lang="en-IN" sz="3000" b="1">
              <a:solidFill>
                <a:srgbClr val="23242D"/>
              </a:solidFill>
              <a:latin typeface="Segoe UI" panose="020B0502040204020203" pitchFamily="34" charset="0"/>
            </a:endParaRPr>
          </a:p>
        </p:txBody>
      </p:sp>
      <p:sp>
        <p:nvSpPr>
          <p:cNvPr id="3" name="TextBox 2">
            <a:extLst>
              <a:ext uri="{FF2B5EF4-FFF2-40B4-BE49-F238E27FC236}">
                <a16:creationId xmlns:a16="http://schemas.microsoft.com/office/drawing/2014/main" id="{13470FC2-9329-431E-E4D0-43B5EE0B2555}"/>
              </a:ext>
            </a:extLst>
          </p:cNvPr>
          <p:cNvSpPr txBox="1"/>
          <p:nvPr/>
        </p:nvSpPr>
        <p:spPr>
          <a:xfrm>
            <a:off x="762000" y="889000"/>
            <a:ext cx="10668000" cy="203200"/>
          </a:xfrm>
          <a:prstGeom prst="rect">
            <a:avLst/>
          </a:prstGeom>
          <a:noFill/>
        </p:spPr>
        <p:txBody>
          <a:bodyPr vert="horz" wrap="square" lIns="0" tIns="0" rIns="0" bIns="0" rtlCol="0" anchor="t">
            <a:noAutofit/>
          </a:bodyPr>
          <a:lstStyle/>
          <a:p>
            <a:r>
              <a:rPr lang="en-US" sz="1100" b="1">
                <a:solidFill>
                  <a:srgbClr val="C97B5A"/>
                </a:solidFill>
                <a:latin typeface="Segoe UI" panose="020B0502040204020203" pitchFamily="34" charset="0"/>
              </a:rPr>
              <a:t>LOAD DATASET  |  scripts/generate_data.py</a:t>
            </a:r>
            <a:endParaRPr lang="en-IN" sz="1100" b="1">
              <a:solidFill>
                <a:srgbClr val="C97B5A"/>
              </a:solidFill>
              <a:latin typeface="Segoe UI" panose="020B0502040204020203" pitchFamily="34" charset="0"/>
            </a:endParaRPr>
          </a:p>
        </p:txBody>
      </p:sp>
      <p:cxnSp>
        <p:nvCxnSpPr>
          <p:cNvPr id="4" name="Straight Connector 3">
            <a:extLst>
              <a:ext uri="{FF2B5EF4-FFF2-40B4-BE49-F238E27FC236}">
                <a16:creationId xmlns:a16="http://schemas.microsoft.com/office/drawing/2014/main" id="{D3D50DB7-7D51-4964-E725-C781297598FF}"/>
              </a:ext>
            </a:extLst>
          </p:cNvPr>
          <p:cNvCxnSpPr/>
          <p:nvPr/>
        </p:nvCxnSpPr>
        <p:spPr>
          <a:xfrm>
            <a:off x="762000" y="1168400"/>
            <a:ext cx="10668000" cy="0"/>
          </a:xfrm>
          <a:prstGeom prst="line">
            <a:avLst/>
          </a:prstGeom>
          <a:ln w="12700">
            <a:solidFill>
              <a:srgbClr val="D9B8A6"/>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B28E74A-9441-95FD-F48D-66E61A94CC30}"/>
              </a:ext>
            </a:extLst>
          </p:cNvPr>
          <p:cNvCxnSpPr/>
          <p:nvPr/>
        </p:nvCxnSpPr>
        <p:spPr>
          <a:xfrm>
            <a:off x="762000" y="6426200"/>
            <a:ext cx="10668000" cy="0"/>
          </a:xfrm>
          <a:prstGeom prst="line">
            <a:avLst/>
          </a:prstGeom>
          <a:ln w="9525">
            <a:solidFill>
              <a:srgbClr val="C9C5B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E9F54DE-022F-DB43-CE00-F122D784910C}"/>
              </a:ext>
            </a:extLst>
          </p:cNvPr>
          <p:cNvSpPr txBox="1"/>
          <p:nvPr/>
        </p:nvSpPr>
        <p:spPr>
          <a:xfrm>
            <a:off x="762000" y="6502400"/>
            <a:ext cx="5080000" cy="203200"/>
          </a:xfrm>
          <a:prstGeom prst="rect">
            <a:avLst/>
          </a:prstGeom>
          <a:noFill/>
        </p:spPr>
        <p:txBody>
          <a:bodyPr vert="horz" wrap="square" lIns="0" tIns="0" rIns="0" bIns="0" rtlCol="0" anchor="t">
            <a:noAutofit/>
          </a:bodyPr>
          <a:lstStyle/>
          <a:p>
            <a:r>
              <a:rPr lang="en-US" sz="1000">
                <a:solidFill>
                  <a:srgbClr val="6B6A68"/>
                </a:solidFill>
                <a:latin typeface="Segoe UI" panose="020B0502040204020203" pitchFamily="34" charset="0"/>
              </a:rPr>
              <a:t>Data Engineering - Case Study 14</a:t>
            </a:r>
            <a:endParaRPr lang="en-IN" sz="1000">
              <a:solidFill>
                <a:srgbClr val="6B6A68"/>
              </a:solidFill>
              <a:latin typeface="Segoe UI" panose="020B0502040204020203" pitchFamily="34" charset="0"/>
            </a:endParaRPr>
          </a:p>
        </p:txBody>
      </p:sp>
      <p:sp>
        <p:nvSpPr>
          <p:cNvPr id="7" name="TextBox 6">
            <a:extLst>
              <a:ext uri="{FF2B5EF4-FFF2-40B4-BE49-F238E27FC236}">
                <a16:creationId xmlns:a16="http://schemas.microsoft.com/office/drawing/2014/main" id="{6298419D-517A-8EF2-3B18-542FBD1B584E}"/>
              </a:ext>
            </a:extLst>
          </p:cNvPr>
          <p:cNvSpPr txBox="1"/>
          <p:nvPr/>
        </p:nvSpPr>
        <p:spPr>
          <a:xfrm>
            <a:off x="4826000" y="6502400"/>
            <a:ext cx="2540000" cy="203200"/>
          </a:xfrm>
          <a:prstGeom prst="rect">
            <a:avLst/>
          </a:prstGeom>
          <a:noFill/>
        </p:spPr>
        <p:txBody>
          <a:bodyPr vert="horz" wrap="square" lIns="0" tIns="0" rIns="0" bIns="0" rtlCol="0" anchor="t">
            <a:noAutofit/>
          </a:bodyPr>
          <a:lstStyle/>
          <a:p>
            <a:pPr algn="ctr"/>
            <a:r>
              <a:rPr lang="en-IN" sz="1000" b="1">
                <a:solidFill>
                  <a:srgbClr val="C97B5A"/>
                </a:solidFill>
                <a:latin typeface="Segoe UI" panose="020B0502040204020203" pitchFamily="34" charset="0"/>
              </a:rPr>
              <a:t>Presenter: Niharika Singh</a:t>
            </a:r>
          </a:p>
        </p:txBody>
      </p:sp>
      <p:sp>
        <p:nvSpPr>
          <p:cNvPr id="8" name="TextBox 7">
            <a:extLst>
              <a:ext uri="{FF2B5EF4-FFF2-40B4-BE49-F238E27FC236}">
                <a16:creationId xmlns:a16="http://schemas.microsoft.com/office/drawing/2014/main" id="{4AAF3345-3B27-814A-05F1-CB4FEC1B77FD}"/>
              </a:ext>
            </a:extLst>
          </p:cNvPr>
          <p:cNvSpPr txBox="1"/>
          <p:nvPr/>
        </p:nvSpPr>
        <p:spPr>
          <a:xfrm>
            <a:off x="10668000" y="6502400"/>
            <a:ext cx="762000" cy="203200"/>
          </a:xfrm>
          <a:prstGeom prst="rect">
            <a:avLst/>
          </a:prstGeom>
          <a:noFill/>
        </p:spPr>
        <p:txBody>
          <a:bodyPr vert="horz" wrap="square" lIns="0" tIns="0" rIns="0" bIns="0" rtlCol="0" anchor="t">
            <a:noAutofit/>
          </a:bodyPr>
          <a:lstStyle/>
          <a:p>
            <a:pPr algn="r"/>
            <a:r>
              <a:rPr lang="en-IN" sz="1000">
                <a:solidFill>
                  <a:srgbClr val="6B6A68"/>
                </a:solidFill>
                <a:latin typeface="Segoe UI" panose="020B0502040204020203" pitchFamily="34" charset="0"/>
              </a:rPr>
              <a:t>3</a:t>
            </a:r>
          </a:p>
        </p:txBody>
      </p:sp>
      <p:sp>
        <p:nvSpPr>
          <p:cNvPr id="9" name="Rectangle: Rounded Corners 8">
            <a:extLst>
              <a:ext uri="{FF2B5EF4-FFF2-40B4-BE49-F238E27FC236}">
                <a16:creationId xmlns:a16="http://schemas.microsoft.com/office/drawing/2014/main" id="{54E27D02-B598-0310-8B62-0706D535EFCC}"/>
              </a:ext>
            </a:extLst>
          </p:cNvPr>
          <p:cNvSpPr/>
          <p:nvPr/>
        </p:nvSpPr>
        <p:spPr>
          <a:xfrm>
            <a:off x="762000" y="1371600"/>
            <a:ext cx="1524000" cy="1092200"/>
          </a:xfrm>
          <a:prstGeom prst="roundRect">
            <a:avLst>
              <a:gd name="adj" fmla="val 4651"/>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E6A8CC08-768D-D6A2-BC20-26742195D456}"/>
              </a:ext>
            </a:extLst>
          </p:cNvPr>
          <p:cNvSpPr txBox="1"/>
          <p:nvPr/>
        </p:nvSpPr>
        <p:spPr>
          <a:xfrm>
            <a:off x="762000" y="1447800"/>
            <a:ext cx="1524000" cy="584200"/>
          </a:xfrm>
          <a:prstGeom prst="rect">
            <a:avLst/>
          </a:prstGeom>
          <a:noFill/>
        </p:spPr>
        <p:txBody>
          <a:bodyPr vert="horz" wrap="square" lIns="0" tIns="0" rIns="0" bIns="0" rtlCol="0" anchor="ctr">
            <a:noAutofit/>
          </a:bodyPr>
          <a:lstStyle/>
          <a:p>
            <a:pPr algn="ctr"/>
            <a:r>
              <a:rPr lang="en-IN" sz="3200" b="1">
                <a:solidFill>
                  <a:srgbClr val="C97B5A"/>
                </a:solidFill>
                <a:latin typeface="Segoe UI" panose="020B0502040204020203" pitchFamily="34" charset="0"/>
              </a:rPr>
              <a:t>260</a:t>
            </a:r>
          </a:p>
        </p:txBody>
      </p:sp>
      <p:sp>
        <p:nvSpPr>
          <p:cNvPr id="11" name="TextBox 10">
            <a:extLst>
              <a:ext uri="{FF2B5EF4-FFF2-40B4-BE49-F238E27FC236}">
                <a16:creationId xmlns:a16="http://schemas.microsoft.com/office/drawing/2014/main" id="{C10B7048-8380-1A58-E377-234759E7E3E4}"/>
              </a:ext>
            </a:extLst>
          </p:cNvPr>
          <p:cNvSpPr txBox="1"/>
          <p:nvPr/>
        </p:nvSpPr>
        <p:spPr>
          <a:xfrm>
            <a:off x="762000" y="2082800"/>
            <a:ext cx="1524000" cy="254000"/>
          </a:xfrm>
          <a:prstGeom prst="rect">
            <a:avLst/>
          </a:prstGeom>
          <a:noFill/>
        </p:spPr>
        <p:txBody>
          <a:bodyPr vert="horz" wrap="square" lIns="0" tIns="0" rIns="0" bIns="0" rtlCol="0" anchor="t">
            <a:noAutofit/>
          </a:bodyPr>
          <a:lstStyle/>
          <a:p>
            <a:pPr algn="ctr"/>
            <a:r>
              <a:rPr lang="en-IN" sz="1100" b="1">
                <a:solidFill>
                  <a:srgbClr val="23242D"/>
                </a:solidFill>
                <a:latin typeface="Segoe UI" panose="020B0502040204020203" pitchFamily="34" charset="0"/>
              </a:rPr>
              <a:t>ORDERS</a:t>
            </a:r>
          </a:p>
        </p:txBody>
      </p:sp>
      <p:sp>
        <p:nvSpPr>
          <p:cNvPr id="12" name="Rectangle: Rounded Corners 11">
            <a:extLst>
              <a:ext uri="{FF2B5EF4-FFF2-40B4-BE49-F238E27FC236}">
                <a16:creationId xmlns:a16="http://schemas.microsoft.com/office/drawing/2014/main" id="{6C1A5C82-BC48-122B-CDC7-1A29F2D2F242}"/>
              </a:ext>
            </a:extLst>
          </p:cNvPr>
          <p:cNvSpPr/>
          <p:nvPr/>
        </p:nvSpPr>
        <p:spPr>
          <a:xfrm>
            <a:off x="2413000" y="1371600"/>
            <a:ext cx="1524000" cy="1092200"/>
          </a:xfrm>
          <a:prstGeom prst="roundRect">
            <a:avLst>
              <a:gd name="adj" fmla="val 4651"/>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6CB2FE03-D8DD-43FB-84E5-656E219FBA26}"/>
              </a:ext>
            </a:extLst>
          </p:cNvPr>
          <p:cNvSpPr txBox="1"/>
          <p:nvPr/>
        </p:nvSpPr>
        <p:spPr>
          <a:xfrm>
            <a:off x="2413000" y="1447800"/>
            <a:ext cx="1524000" cy="584200"/>
          </a:xfrm>
          <a:prstGeom prst="rect">
            <a:avLst/>
          </a:prstGeom>
          <a:noFill/>
        </p:spPr>
        <p:txBody>
          <a:bodyPr vert="horz" wrap="square" lIns="0" tIns="0" rIns="0" bIns="0" rtlCol="0" anchor="ctr">
            <a:noAutofit/>
          </a:bodyPr>
          <a:lstStyle/>
          <a:p>
            <a:pPr algn="ctr"/>
            <a:r>
              <a:rPr lang="en-IN" sz="3200" b="1">
                <a:solidFill>
                  <a:srgbClr val="C97B5A"/>
                </a:solidFill>
                <a:latin typeface="Segoe UI" panose="020B0502040204020203" pitchFamily="34" charset="0"/>
              </a:rPr>
              <a:t>64</a:t>
            </a:r>
          </a:p>
        </p:txBody>
      </p:sp>
      <p:sp>
        <p:nvSpPr>
          <p:cNvPr id="14" name="TextBox 13">
            <a:extLst>
              <a:ext uri="{FF2B5EF4-FFF2-40B4-BE49-F238E27FC236}">
                <a16:creationId xmlns:a16="http://schemas.microsoft.com/office/drawing/2014/main" id="{C25D9A6F-4508-C117-E4B3-534751556776}"/>
              </a:ext>
            </a:extLst>
          </p:cNvPr>
          <p:cNvSpPr txBox="1"/>
          <p:nvPr/>
        </p:nvSpPr>
        <p:spPr>
          <a:xfrm>
            <a:off x="2413000" y="2082800"/>
            <a:ext cx="1524000" cy="254000"/>
          </a:xfrm>
          <a:prstGeom prst="rect">
            <a:avLst/>
          </a:prstGeom>
          <a:noFill/>
        </p:spPr>
        <p:txBody>
          <a:bodyPr vert="horz" wrap="square" lIns="0" tIns="0" rIns="0" bIns="0" rtlCol="0" anchor="t">
            <a:noAutofit/>
          </a:bodyPr>
          <a:lstStyle/>
          <a:p>
            <a:pPr algn="ctr"/>
            <a:r>
              <a:rPr lang="en-IN" sz="1100" b="1">
                <a:solidFill>
                  <a:srgbClr val="23242D"/>
                </a:solidFill>
                <a:latin typeface="Segoe UI" panose="020B0502040204020203" pitchFamily="34" charset="0"/>
              </a:rPr>
              <a:t>CUSTOMERS</a:t>
            </a:r>
          </a:p>
        </p:txBody>
      </p:sp>
      <p:sp>
        <p:nvSpPr>
          <p:cNvPr id="15" name="Rectangle: Rounded Corners 14">
            <a:extLst>
              <a:ext uri="{FF2B5EF4-FFF2-40B4-BE49-F238E27FC236}">
                <a16:creationId xmlns:a16="http://schemas.microsoft.com/office/drawing/2014/main" id="{40DC9D38-FB32-AAD2-BDA3-728B11D8D876}"/>
              </a:ext>
            </a:extLst>
          </p:cNvPr>
          <p:cNvSpPr/>
          <p:nvPr/>
        </p:nvSpPr>
        <p:spPr>
          <a:xfrm>
            <a:off x="4064000" y="1371600"/>
            <a:ext cx="1524000" cy="1092200"/>
          </a:xfrm>
          <a:prstGeom prst="roundRect">
            <a:avLst>
              <a:gd name="adj" fmla="val 4651"/>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13B45107-DDDD-B287-B941-3CA273FFB99C}"/>
              </a:ext>
            </a:extLst>
          </p:cNvPr>
          <p:cNvSpPr txBox="1"/>
          <p:nvPr/>
        </p:nvSpPr>
        <p:spPr>
          <a:xfrm>
            <a:off x="4064000" y="1447800"/>
            <a:ext cx="1524000" cy="584200"/>
          </a:xfrm>
          <a:prstGeom prst="rect">
            <a:avLst/>
          </a:prstGeom>
          <a:noFill/>
        </p:spPr>
        <p:txBody>
          <a:bodyPr vert="horz" wrap="square" lIns="0" tIns="0" rIns="0" bIns="0" rtlCol="0" anchor="ctr">
            <a:noAutofit/>
          </a:bodyPr>
          <a:lstStyle/>
          <a:p>
            <a:pPr algn="ctr"/>
            <a:r>
              <a:rPr lang="en-IN" sz="3200" b="1">
                <a:solidFill>
                  <a:srgbClr val="C97B5A"/>
                </a:solidFill>
                <a:latin typeface="Segoe UI" panose="020B0502040204020203" pitchFamily="34" charset="0"/>
              </a:rPr>
              <a:t>14</a:t>
            </a:r>
          </a:p>
        </p:txBody>
      </p:sp>
      <p:sp>
        <p:nvSpPr>
          <p:cNvPr id="17" name="TextBox 16">
            <a:extLst>
              <a:ext uri="{FF2B5EF4-FFF2-40B4-BE49-F238E27FC236}">
                <a16:creationId xmlns:a16="http://schemas.microsoft.com/office/drawing/2014/main" id="{8BE49392-2846-FF4B-9552-94F1D8684A06}"/>
              </a:ext>
            </a:extLst>
          </p:cNvPr>
          <p:cNvSpPr txBox="1"/>
          <p:nvPr/>
        </p:nvSpPr>
        <p:spPr>
          <a:xfrm>
            <a:off x="4064000" y="2082800"/>
            <a:ext cx="1524000" cy="254000"/>
          </a:xfrm>
          <a:prstGeom prst="rect">
            <a:avLst/>
          </a:prstGeom>
          <a:noFill/>
        </p:spPr>
        <p:txBody>
          <a:bodyPr vert="horz" wrap="square" lIns="0" tIns="0" rIns="0" bIns="0" rtlCol="0" anchor="t">
            <a:noAutofit/>
          </a:bodyPr>
          <a:lstStyle/>
          <a:p>
            <a:pPr algn="ctr"/>
            <a:r>
              <a:rPr lang="en-IN" sz="1100" b="1">
                <a:solidFill>
                  <a:srgbClr val="23242D"/>
                </a:solidFill>
                <a:latin typeface="Segoe UI" panose="020B0502040204020203" pitchFamily="34" charset="0"/>
              </a:rPr>
              <a:t>BAD ROWS</a:t>
            </a:r>
          </a:p>
        </p:txBody>
      </p:sp>
      <p:sp>
        <p:nvSpPr>
          <p:cNvPr id="18" name="TextBox 17">
            <a:extLst>
              <a:ext uri="{FF2B5EF4-FFF2-40B4-BE49-F238E27FC236}">
                <a16:creationId xmlns:a16="http://schemas.microsoft.com/office/drawing/2014/main" id="{62DC2817-9B30-AF8B-F51E-F91A5207C1DB}"/>
              </a:ext>
            </a:extLst>
          </p:cNvPr>
          <p:cNvSpPr txBox="1"/>
          <p:nvPr/>
        </p:nvSpPr>
        <p:spPr>
          <a:xfrm>
            <a:off x="762000" y="2616200"/>
            <a:ext cx="4826000" cy="203200"/>
          </a:xfrm>
          <a:prstGeom prst="rect">
            <a:avLst/>
          </a:prstGeom>
          <a:noFill/>
        </p:spPr>
        <p:txBody>
          <a:bodyPr vert="horz" wrap="square" lIns="0" tIns="0" rIns="0" bIns="0" rtlCol="0" anchor="t">
            <a:noAutofit/>
          </a:bodyPr>
          <a:lstStyle/>
          <a:p>
            <a:r>
              <a:rPr lang="en-US" sz="1000" b="1">
                <a:solidFill>
                  <a:srgbClr val="6B6A68"/>
                </a:solidFill>
                <a:latin typeface="Segoe UI" panose="020B0502040204020203" pitchFamily="34" charset="0"/>
              </a:rPr>
              <a:t>SAMPLE ROWS - HIGHLIGHTED = INJECTED ISSUE</a:t>
            </a:r>
            <a:endParaRPr lang="en-IN" sz="1000" b="1">
              <a:solidFill>
                <a:srgbClr val="6B6A68"/>
              </a:solidFill>
              <a:latin typeface="Segoe UI" panose="020B0502040204020203" pitchFamily="34" charset="0"/>
            </a:endParaRPr>
          </a:p>
        </p:txBody>
      </p:sp>
      <p:sp>
        <p:nvSpPr>
          <p:cNvPr id="19" name="Rectangle: Rounded Corners 18">
            <a:extLst>
              <a:ext uri="{FF2B5EF4-FFF2-40B4-BE49-F238E27FC236}">
                <a16:creationId xmlns:a16="http://schemas.microsoft.com/office/drawing/2014/main" id="{A38EFC9F-C62C-9A9C-7DB3-3575B0173915}"/>
              </a:ext>
            </a:extLst>
          </p:cNvPr>
          <p:cNvSpPr/>
          <p:nvPr/>
        </p:nvSpPr>
        <p:spPr>
          <a:xfrm>
            <a:off x="762000" y="2870200"/>
            <a:ext cx="990600" cy="279400"/>
          </a:xfrm>
          <a:prstGeom prst="roundRect">
            <a:avLst>
              <a:gd name="adj" fmla="val 18182"/>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r>
              <a:rPr lang="en-IN" sz="1100" b="1">
                <a:solidFill>
                  <a:srgbClr val="FFFFFF"/>
                </a:solidFill>
                <a:latin typeface="Segoe UI" panose="020B0502040204020203" pitchFamily="34" charset="0"/>
              </a:rPr>
              <a:t>order_id</a:t>
            </a:r>
          </a:p>
        </p:txBody>
      </p:sp>
      <p:sp>
        <p:nvSpPr>
          <p:cNvPr id="20" name="Rectangle: Rounded Corners 19">
            <a:extLst>
              <a:ext uri="{FF2B5EF4-FFF2-40B4-BE49-F238E27FC236}">
                <a16:creationId xmlns:a16="http://schemas.microsoft.com/office/drawing/2014/main" id="{9F48D07A-54C1-FF23-97BE-21291BDDDD8A}"/>
              </a:ext>
            </a:extLst>
          </p:cNvPr>
          <p:cNvSpPr/>
          <p:nvPr/>
        </p:nvSpPr>
        <p:spPr>
          <a:xfrm>
            <a:off x="1778000" y="2870200"/>
            <a:ext cx="1371600" cy="279400"/>
          </a:xfrm>
          <a:prstGeom prst="roundRect">
            <a:avLst>
              <a:gd name="adj" fmla="val 18182"/>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r>
              <a:rPr lang="en-IN" sz="1100" b="1">
                <a:solidFill>
                  <a:srgbClr val="FFFFFF"/>
                </a:solidFill>
                <a:latin typeface="Segoe UI" panose="020B0502040204020203" pitchFamily="34" charset="0"/>
              </a:rPr>
              <a:t>unit_price</a:t>
            </a:r>
          </a:p>
        </p:txBody>
      </p:sp>
      <p:sp>
        <p:nvSpPr>
          <p:cNvPr id="21" name="Rectangle: Rounded Corners 20">
            <a:extLst>
              <a:ext uri="{FF2B5EF4-FFF2-40B4-BE49-F238E27FC236}">
                <a16:creationId xmlns:a16="http://schemas.microsoft.com/office/drawing/2014/main" id="{B041068A-F461-8E1D-1D08-50A5FABF1730}"/>
              </a:ext>
            </a:extLst>
          </p:cNvPr>
          <p:cNvSpPr/>
          <p:nvPr/>
        </p:nvSpPr>
        <p:spPr>
          <a:xfrm>
            <a:off x="3175000" y="2870200"/>
            <a:ext cx="863600" cy="279400"/>
          </a:xfrm>
          <a:prstGeom prst="roundRect">
            <a:avLst>
              <a:gd name="adj" fmla="val 18182"/>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r>
              <a:rPr lang="en-IN" sz="1100" b="1">
                <a:solidFill>
                  <a:srgbClr val="FFFFFF"/>
                </a:solidFill>
                <a:latin typeface="Segoe UI" panose="020B0502040204020203" pitchFamily="34" charset="0"/>
              </a:rPr>
              <a:t>qty</a:t>
            </a:r>
          </a:p>
        </p:txBody>
      </p:sp>
      <p:sp>
        <p:nvSpPr>
          <p:cNvPr id="22" name="Rectangle: Rounded Corners 21">
            <a:extLst>
              <a:ext uri="{FF2B5EF4-FFF2-40B4-BE49-F238E27FC236}">
                <a16:creationId xmlns:a16="http://schemas.microsoft.com/office/drawing/2014/main" id="{21E4B160-7AAC-C01B-6F5C-958C42DF630F}"/>
              </a:ext>
            </a:extLst>
          </p:cNvPr>
          <p:cNvSpPr/>
          <p:nvPr/>
        </p:nvSpPr>
        <p:spPr>
          <a:xfrm>
            <a:off x="4064000" y="2870200"/>
            <a:ext cx="1498600" cy="279400"/>
          </a:xfrm>
          <a:prstGeom prst="roundRect">
            <a:avLst>
              <a:gd name="adj" fmla="val 18182"/>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r>
              <a:rPr lang="en-IN" sz="1100" b="1">
                <a:solidFill>
                  <a:srgbClr val="FFFFFF"/>
                </a:solidFill>
                <a:latin typeface="Segoe UI" panose="020B0502040204020203" pitchFamily="34" charset="0"/>
              </a:rPr>
              <a:t>status</a:t>
            </a:r>
          </a:p>
        </p:txBody>
      </p:sp>
      <p:sp>
        <p:nvSpPr>
          <p:cNvPr id="23" name="Rectangle: Rounded Corners 22">
            <a:extLst>
              <a:ext uri="{FF2B5EF4-FFF2-40B4-BE49-F238E27FC236}">
                <a16:creationId xmlns:a16="http://schemas.microsoft.com/office/drawing/2014/main" id="{69BD5A24-C0C0-375A-03A1-241B0820237D}"/>
              </a:ext>
            </a:extLst>
          </p:cNvPr>
          <p:cNvSpPr/>
          <p:nvPr/>
        </p:nvSpPr>
        <p:spPr>
          <a:xfrm>
            <a:off x="762000" y="3175000"/>
            <a:ext cx="990600" cy="304800"/>
          </a:xfrm>
          <a:prstGeom prst="roundRect">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O0001</a:t>
            </a:r>
          </a:p>
        </p:txBody>
      </p:sp>
      <p:sp>
        <p:nvSpPr>
          <p:cNvPr id="24" name="Rectangle: Rounded Corners 23">
            <a:extLst>
              <a:ext uri="{FF2B5EF4-FFF2-40B4-BE49-F238E27FC236}">
                <a16:creationId xmlns:a16="http://schemas.microsoft.com/office/drawing/2014/main" id="{8557FFF7-4614-194B-2991-AEDC8FD7ACE8}"/>
              </a:ext>
            </a:extLst>
          </p:cNvPr>
          <p:cNvSpPr/>
          <p:nvPr/>
        </p:nvSpPr>
        <p:spPr>
          <a:xfrm>
            <a:off x="1778000" y="3175000"/>
            <a:ext cx="1371600" cy="304800"/>
          </a:xfrm>
          <a:prstGeom prst="roundRect">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58,200</a:t>
            </a:r>
          </a:p>
        </p:txBody>
      </p:sp>
      <p:sp>
        <p:nvSpPr>
          <p:cNvPr id="25" name="Rectangle: Rounded Corners 24">
            <a:extLst>
              <a:ext uri="{FF2B5EF4-FFF2-40B4-BE49-F238E27FC236}">
                <a16:creationId xmlns:a16="http://schemas.microsoft.com/office/drawing/2014/main" id="{600DE534-1E36-4D59-EB26-68165E422333}"/>
              </a:ext>
            </a:extLst>
          </p:cNvPr>
          <p:cNvSpPr/>
          <p:nvPr/>
        </p:nvSpPr>
        <p:spPr>
          <a:xfrm>
            <a:off x="3175000" y="3175000"/>
            <a:ext cx="863600" cy="304800"/>
          </a:xfrm>
          <a:prstGeom prst="roundRect">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2</a:t>
            </a:r>
          </a:p>
        </p:txBody>
      </p:sp>
      <p:sp>
        <p:nvSpPr>
          <p:cNvPr id="26" name="Rectangle: Rounded Corners 25">
            <a:extLst>
              <a:ext uri="{FF2B5EF4-FFF2-40B4-BE49-F238E27FC236}">
                <a16:creationId xmlns:a16="http://schemas.microsoft.com/office/drawing/2014/main" id="{13E705F1-F1B4-F873-7621-C1FE97379E07}"/>
              </a:ext>
            </a:extLst>
          </p:cNvPr>
          <p:cNvSpPr/>
          <p:nvPr/>
        </p:nvSpPr>
        <p:spPr>
          <a:xfrm>
            <a:off x="4064000" y="3175000"/>
            <a:ext cx="1498600" cy="304800"/>
          </a:xfrm>
          <a:prstGeom prst="roundRect">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Shipped</a:t>
            </a:r>
          </a:p>
        </p:txBody>
      </p:sp>
      <p:sp>
        <p:nvSpPr>
          <p:cNvPr id="27" name="Rectangle: Rounded Corners 26">
            <a:extLst>
              <a:ext uri="{FF2B5EF4-FFF2-40B4-BE49-F238E27FC236}">
                <a16:creationId xmlns:a16="http://schemas.microsoft.com/office/drawing/2014/main" id="{52845BEA-B7BC-3E84-44E8-17F0047A25DA}"/>
              </a:ext>
            </a:extLst>
          </p:cNvPr>
          <p:cNvSpPr/>
          <p:nvPr/>
        </p:nvSpPr>
        <p:spPr>
          <a:xfrm>
            <a:off x="762000" y="3505200"/>
            <a:ext cx="990600" cy="304800"/>
          </a:xfrm>
          <a:prstGeom prst="roundRect">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O9001</a:t>
            </a:r>
          </a:p>
        </p:txBody>
      </p:sp>
      <p:sp>
        <p:nvSpPr>
          <p:cNvPr id="28" name="Rectangle: Rounded Corners 27">
            <a:extLst>
              <a:ext uri="{FF2B5EF4-FFF2-40B4-BE49-F238E27FC236}">
                <a16:creationId xmlns:a16="http://schemas.microsoft.com/office/drawing/2014/main" id="{8473602A-83AC-DC5B-EE72-178B0F010979}"/>
              </a:ext>
            </a:extLst>
          </p:cNvPr>
          <p:cNvSpPr/>
          <p:nvPr/>
        </p:nvSpPr>
        <p:spPr>
          <a:xfrm>
            <a:off x="1778000" y="3505200"/>
            <a:ext cx="1371600" cy="304800"/>
          </a:xfrm>
          <a:prstGeom prst="roundRect">
            <a:avLst/>
          </a:prstGeom>
          <a:solidFill>
            <a:srgbClr val="C97B5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r>
              <a:rPr lang="en-IN" sz="1200" b="1">
                <a:solidFill>
                  <a:srgbClr val="FFFFFF"/>
                </a:solidFill>
                <a:latin typeface="Segoe UI" panose="020B0502040204020203" pitchFamily="34" charset="0"/>
              </a:rPr>
              <a:t>-65,000</a:t>
            </a:r>
          </a:p>
        </p:txBody>
      </p:sp>
      <p:sp>
        <p:nvSpPr>
          <p:cNvPr id="29" name="Rectangle: Rounded Corners 28">
            <a:extLst>
              <a:ext uri="{FF2B5EF4-FFF2-40B4-BE49-F238E27FC236}">
                <a16:creationId xmlns:a16="http://schemas.microsoft.com/office/drawing/2014/main" id="{F8DC8B9B-792A-A38D-9C0E-355A74E74414}"/>
              </a:ext>
            </a:extLst>
          </p:cNvPr>
          <p:cNvSpPr/>
          <p:nvPr/>
        </p:nvSpPr>
        <p:spPr>
          <a:xfrm>
            <a:off x="3175000" y="3505200"/>
            <a:ext cx="863600" cy="304800"/>
          </a:xfrm>
          <a:prstGeom prst="roundRect">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1</a:t>
            </a:r>
          </a:p>
        </p:txBody>
      </p:sp>
      <p:sp>
        <p:nvSpPr>
          <p:cNvPr id="30" name="Rectangle: Rounded Corners 29">
            <a:extLst>
              <a:ext uri="{FF2B5EF4-FFF2-40B4-BE49-F238E27FC236}">
                <a16:creationId xmlns:a16="http://schemas.microsoft.com/office/drawing/2014/main" id="{7AAEF2C0-EE21-FCED-909E-D54B00FA2296}"/>
              </a:ext>
            </a:extLst>
          </p:cNvPr>
          <p:cNvSpPr/>
          <p:nvPr/>
        </p:nvSpPr>
        <p:spPr>
          <a:xfrm>
            <a:off x="4064000" y="3505200"/>
            <a:ext cx="1498600" cy="304800"/>
          </a:xfrm>
          <a:prstGeom prst="roundRect">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Delivered</a:t>
            </a:r>
          </a:p>
        </p:txBody>
      </p:sp>
      <p:sp>
        <p:nvSpPr>
          <p:cNvPr id="31" name="Rectangle: Rounded Corners 30">
            <a:extLst>
              <a:ext uri="{FF2B5EF4-FFF2-40B4-BE49-F238E27FC236}">
                <a16:creationId xmlns:a16="http://schemas.microsoft.com/office/drawing/2014/main" id="{D5F2857C-043E-9D88-CC31-AC0A13FAF458}"/>
              </a:ext>
            </a:extLst>
          </p:cNvPr>
          <p:cNvSpPr/>
          <p:nvPr/>
        </p:nvSpPr>
        <p:spPr>
          <a:xfrm>
            <a:off x="762000" y="3835400"/>
            <a:ext cx="990600" cy="304800"/>
          </a:xfrm>
          <a:prstGeom prst="roundRect">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O9002</a:t>
            </a:r>
          </a:p>
        </p:txBody>
      </p:sp>
      <p:sp>
        <p:nvSpPr>
          <p:cNvPr id="32" name="Rectangle: Rounded Corners 31">
            <a:extLst>
              <a:ext uri="{FF2B5EF4-FFF2-40B4-BE49-F238E27FC236}">
                <a16:creationId xmlns:a16="http://schemas.microsoft.com/office/drawing/2014/main" id="{7A6FE907-3CB1-2B04-783F-7AB824063EDB}"/>
              </a:ext>
            </a:extLst>
          </p:cNvPr>
          <p:cNvSpPr/>
          <p:nvPr/>
        </p:nvSpPr>
        <p:spPr>
          <a:xfrm>
            <a:off x="1778000" y="3835400"/>
            <a:ext cx="1371600" cy="304800"/>
          </a:xfrm>
          <a:prstGeom prst="roundRect">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800</a:t>
            </a:r>
          </a:p>
        </p:txBody>
      </p:sp>
      <p:sp>
        <p:nvSpPr>
          <p:cNvPr id="33" name="Rectangle: Rounded Corners 32">
            <a:extLst>
              <a:ext uri="{FF2B5EF4-FFF2-40B4-BE49-F238E27FC236}">
                <a16:creationId xmlns:a16="http://schemas.microsoft.com/office/drawing/2014/main" id="{709CE6E1-321F-7181-1C62-D5EEEC10248F}"/>
              </a:ext>
            </a:extLst>
          </p:cNvPr>
          <p:cNvSpPr/>
          <p:nvPr/>
        </p:nvSpPr>
        <p:spPr>
          <a:xfrm>
            <a:off x="3175000" y="3835400"/>
            <a:ext cx="863600" cy="304800"/>
          </a:xfrm>
          <a:prstGeom prst="roundRect">
            <a:avLst/>
          </a:prstGeom>
          <a:solidFill>
            <a:srgbClr val="C97B5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r>
              <a:rPr lang="en-IN" sz="1200" b="1">
                <a:solidFill>
                  <a:srgbClr val="FFFFFF"/>
                </a:solidFill>
                <a:latin typeface="Segoe UI" panose="020B0502040204020203" pitchFamily="34" charset="0"/>
              </a:rPr>
              <a:t>0</a:t>
            </a:r>
          </a:p>
        </p:txBody>
      </p:sp>
      <p:sp>
        <p:nvSpPr>
          <p:cNvPr id="34" name="Rectangle: Rounded Corners 33">
            <a:extLst>
              <a:ext uri="{FF2B5EF4-FFF2-40B4-BE49-F238E27FC236}">
                <a16:creationId xmlns:a16="http://schemas.microsoft.com/office/drawing/2014/main" id="{8E9C3C0D-4310-EF71-97D0-CBFD232D81CD}"/>
              </a:ext>
            </a:extLst>
          </p:cNvPr>
          <p:cNvSpPr/>
          <p:nvPr/>
        </p:nvSpPr>
        <p:spPr>
          <a:xfrm>
            <a:off x="4064000" y="3835400"/>
            <a:ext cx="1498600" cy="304800"/>
          </a:xfrm>
          <a:prstGeom prst="roundRect">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Delivered</a:t>
            </a:r>
          </a:p>
        </p:txBody>
      </p:sp>
      <p:sp>
        <p:nvSpPr>
          <p:cNvPr id="35" name="Rectangle: Rounded Corners 34">
            <a:extLst>
              <a:ext uri="{FF2B5EF4-FFF2-40B4-BE49-F238E27FC236}">
                <a16:creationId xmlns:a16="http://schemas.microsoft.com/office/drawing/2014/main" id="{77FC402C-1797-C625-25F3-263517DB47B8}"/>
              </a:ext>
            </a:extLst>
          </p:cNvPr>
          <p:cNvSpPr/>
          <p:nvPr/>
        </p:nvSpPr>
        <p:spPr>
          <a:xfrm>
            <a:off x="762000" y="4165600"/>
            <a:ext cx="990600" cy="304800"/>
          </a:xfrm>
          <a:prstGeom prst="roundRect">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O9005</a:t>
            </a:r>
          </a:p>
        </p:txBody>
      </p:sp>
      <p:sp>
        <p:nvSpPr>
          <p:cNvPr id="36" name="Rectangle: Rounded Corners 35">
            <a:extLst>
              <a:ext uri="{FF2B5EF4-FFF2-40B4-BE49-F238E27FC236}">
                <a16:creationId xmlns:a16="http://schemas.microsoft.com/office/drawing/2014/main" id="{6B39F50A-DC06-B13A-F370-6C79DD8DAA3D}"/>
              </a:ext>
            </a:extLst>
          </p:cNvPr>
          <p:cNvSpPr/>
          <p:nvPr/>
        </p:nvSpPr>
        <p:spPr>
          <a:xfrm>
            <a:off x="1778000" y="4165600"/>
            <a:ext cx="1371600" cy="304800"/>
          </a:xfrm>
          <a:prstGeom prst="roundRect">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12,000</a:t>
            </a:r>
          </a:p>
        </p:txBody>
      </p:sp>
      <p:sp>
        <p:nvSpPr>
          <p:cNvPr id="37" name="Rectangle: Rounded Corners 36">
            <a:extLst>
              <a:ext uri="{FF2B5EF4-FFF2-40B4-BE49-F238E27FC236}">
                <a16:creationId xmlns:a16="http://schemas.microsoft.com/office/drawing/2014/main" id="{22989569-291D-503B-D697-F9FF9840038A}"/>
              </a:ext>
            </a:extLst>
          </p:cNvPr>
          <p:cNvSpPr/>
          <p:nvPr/>
        </p:nvSpPr>
        <p:spPr>
          <a:xfrm>
            <a:off x="3175000" y="4165600"/>
            <a:ext cx="863600" cy="304800"/>
          </a:xfrm>
          <a:prstGeom prst="roundRect">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1</a:t>
            </a:r>
          </a:p>
        </p:txBody>
      </p:sp>
      <p:sp>
        <p:nvSpPr>
          <p:cNvPr id="38" name="Rectangle: Rounded Corners 37">
            <a:extLst>
              <a:ext uri="{FF2B5EF4-FFF2-40B4-BE49-F238E27FC236}">
                <a16:creationId xmlns:a16="http://schemas.microsoft.com/office/drawing/2014/main" id="{82C085E9-0A2D-D5EC-B519-9994584E99C7}"/>
              </a:ext>
            </a:extLst>
          </p:cNvPr>
          <p:cNvSpPr/>
          <p:nvPr/>
        </p:nvSpPr>
        <p:spPr>
          <a:xfrm>
            <a:off x="4064000" y="4165600"/>
            <a:ext cx="1498600" cy="304800"/>
          </a:xfrm>
          <a:prstGeom prst="roundRect">
            <a:avLst/>
          </a:prstGeom>
          <a:solidFill>
            <a:srgbClr val="C97B5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r>
              <a:rPr lang="en-IN" sz="1200" b="1">
                <a:solidFill>
                  <a:srgbClr val="FFFFFF"/>
                </a:solidFill>
                <a:latin typeface="Segoe UI" panose="020B0502040204020203" pitchFamily="34" charset="0"/>
              </a:rPr>
              <a:t>Unknown</a:t>
            </a:r>
          </a:p>
        </p:txBody>
      </p:sp>
      <p:sp>
        <p:nvSpPr>
          <p:cNvPr id="39" name="Rectangle: Rounded Corners 38">
            <a:extLst>
              <a:ext uri="{FF2B5EF4-FFF2-40B4-BE49-F238E27FC236}">
                <a16:creationId xmlns:a16="http://schemas.microsoft.com/office/drawing/2014/main" id="{123B9DB7-17BB-87E3-3B38-8941E3FCDB36}"/>
              </a:ext>
            </a:extLst>
          </p:cNvPr>
          <p:cNvSpPr/>
          <p:nvPr/>
        </p:nvSpPr>
        <p:spPr>
          <a:xfrm>
            <a:off x="762000" y="4495800"/>
            <a:ext cx="990600" cy="304800"/>
          </a:xfrm>
          <a:prstGeom prst="roundRect">
            <a:avLst/>
          </a:prstGeom>
          <a:solidFill>
            <a:srgbClr val="C97B5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r>
              <a:rPr lang="en-IN" sz="1200" b="1">
                <a:solidFill>
                  <a:srgbClr val="FFFFFF"/>
                </a:solidFill>
                <a:latin typeface="Segoe UI" panose="020B0502040204020203" pitchFamily="34" charset="0"/>
              </a:rPr>
              <a:t>O0001</a:t>
            </a:r>
          </a:p>
        </p:txBody>
      </p:sp>
      <p:sp>
        <p:nvSpPr>
          <p:cNvPr id="40" name="Rectangle: Rounded Corners 39">
            <a:extLst>
              <a:ext uri="{FF2B5EF4-FFF2-40B4-BE49-F238E27FC236}">
                <a16:creationId xmlns:a16="http://schemas.microsoft.com/office/drawing/2014/main" id="{40775DEA-17C7-C9C2-9407-4EF64521FD3C}"/>
              </a:ext>
            </a:extLst>
          </p:cNvPr>
          <p:cNvSpPr/>
          <p:nvPr/>
        </p:nvSpPr>
        <p:spPr>
          <a:xfrm>
            <a:off x="1778000" y="4495800"/>
            <a:ext cx="1371600" cy="304800"/>
          </a:xfrm>
          <a:prstGeom prst="roundRect">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58,200</a:t>
            </a:r>
          </a:p>
        </p:txBody>
      </p:sp>
      <p:sp>
        <p:nvSpPr>
          <p:cNvPr id="41" name="Rectangle: Rounded Corners 40">
            <a:extLst>
              <a:ext uri="{FF2B5EF4-FFF2-40B4-BE49-F238E27FC236}">
                <a16:creationId xmlns:a16="http://schemas.microsoft.com/office/drawing/2014/main" id="{9AE6868F-57BE-E84C-A71F-D7CBDB3FC491}"/>
              </a:ext>
            </a:extLst>
          </p:cNvPr>
          <p:cNvSpPr/>
          <p:nvPr/>
        </p:nvSpPr>
        <p:spPr>
          <a:xfrm>
            <a:off x="3175000" y="4495800"/>
            <a:ext cx="863600" cy="304800"/>
          </a:xfrm>
          <a:prstGeom prst="roundRect">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2</a:t>
            </a:r>
          </a:p>
        </p:txBody>
      </p:sp>
      <p:sp>
        <p:nvSpPr>
          <p:cNvPr id="42" name="Rectangle: Rounded Corners 41">
            <a:extLst>
              <a:ext uri="{FF2B5EF4-FFF2-40B4-BE49-F238E27FC236}">
                <a16:creationId xmlns:a16="http://schemas.microsoft.com/office/drawing/2014/main" id="{833DBAA3-728B-B3CF-EBF0-FCDC6E095833}"/>
              </a:ext>
            </a:extLst>
          </p:cNvPr>
          <p:cNvSpPr/>
          <p:nvPr/>
        </p:nvSpPr>
        <p:spPr>
          <a:xfrm>
            <a:off x="4064000" y="4495800"/>
            <a:ext cx="1498600" cy="304800"/>
          </a:xfrm>
          <a:prstGeom prst="roundRect">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Shipped</a:t>
            </a:r>
          </a:p>
        </p:txBody>
      </p:sp>
      <p:sp>
        <p:nvSpPr>
          <p:cNvPr id="43" name="TextBox 42">
            <a:extLst>
              <a:ext uri="{FF2B5EF4-FFF2-40B4-BE49-F238E27FC236}">
                <a16:creationId xmlns:a16="http://schemas.microsoft.com/office/drawing/2014/main" id="{8CF6E6B3-4681-AC25-1023-50EB783E101C}"/>
              </a:ext>
            </a:extLst>
          </p:cNvPr>
          <p:cNvSpPr txBox="1"/>
          <p:nvPr/>
        </p:nvSpPr>
        <p:spPr>
          <a:xfrm>
            <a:off x="762000" y="4876800"/>
            <a:ext cx="4826000" cy="381000"/>
          </a:xfrm>
          <a:prstGeom prst="rect">
            <a:avLst/>
          </a:prstGeom>
          <a:noFill/>
        </p:spPr>
        <p:txBody>
          <a:bodyPr vert="horz" wrap="square" lIns="0" tIns="0" rIns="0" bIns="0" rtlCol="0" anchor="t">
            <a:noAutofit/>
          </a:bodyPr>
          <a:lstStyle/>
          <a:p>
            <a:pPr marL="203200" indent="-203200">
              <a:buClr>
                <a:srgbClr val="C97B5A"/>
              </a:buClr>
              <a:buFont typeface="+mj-lt"/>
              <a:buChar char="•"/>
            </a:pPr>
            <a:r>
              <a:rPr lang="en-US" sz="1200">
                <a:solidFill>
                  <a:srgbClr val="23242D"/>
                </a:solidFill>
                <a:latin typeface="Segoe UI" panose="020B0502040204020203" pitchFamily="34" charset="0"/>
              </a:rPr>
              <a:t>12 products, 10 cities. seed(42) = same data every run</a:t>
            </a:r>
            <a:endParaRPr lang="en-IN" sz="1200">
              <a:solidFill>
                <a:srgbClr val="23242D"/>
              </a:solidFill>
              <a:latin typeface="Segoe UI" panose="020B0502040204020203" pitchFamily="34" charset="0"/>
            </a:endParaRPr>
          </a:p>
        </p:txBody>
      </p:sp>
      <p:sp>
        <p:nvSpPr>
          <p:cNvPr id="44" name="Rectangle: Rounded Corners 43">
            <a:extLst>
              <a:ext uri="{FF2B5EF4-FFF2-40B4-BE49-F238E27FC236}">
                <a16:creationId xmlns:a16="http://schemas.microsoft.com/office/drawing/2014/main" id="{03568B93-1DB4-1D20-DAF3-647D7A79AAD9}"/>
              </a:ext>
            </a:extLst>
          </p:cNvPr>
          <p:cNvSpPr/>
          <p:nvPr/>
        </p:nvSpPr>
        <p:spPr>
          <a:xfrm>
            <a:off x="5969000" y="1371600"/>
            <a:ext cx="5461000" cy="3810000"/>
          </a:xfrm>
          <a:prstGeom prst="roundRect">
            <a:avLst>
              <a:gd name="adj" fmla="val 1333"/>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152400" rIns="127000" bIns="101600" rtlCol="0" anchor="t"/>
          <a:lstStyle/>
          <a:p>
            <a:r>
              <a:rPr lang="en-IN" sz="1200">
                <a:solidFill>
                  <a:srgbClr val="E8E2DB"/>
                </a:solidFill>
                <a:latin typeface="Consolas" panose="020B0609020204030204" pitchFamily="49" charset="0"/>
              </a:rPr>
              <a:t>random.seed(42)   </a:t>
            </a:r>
            <a:r>
              <a:rPr lang="en-IN" sz="1200">
                <a:solidFill>
                  <a:srgbClr val="D98B6A"/>
                </a:solidFill>
                <a:latin typeface="Consolas" panose="020B0609020204030204" pitchFamily="49" charset="0"/>
              </a:rPr>
              <a:t># same data every run</a:t>
            </a:r>
          </a:p>
          <a:p>
            <a:endParaRPr lang="en-IN" sz="1200">
              <a:solidFill>
                <a:srgbClr val="E8E2DB"/>
              </a:solidFill>
              <a:latin typeface="Consolas" panose="020B0609020204030204" pitchFamily="49" charset="0"/>
            </a:endParaRPr>
          </a:p>
          <a:p>
            <a:r>
              <a:rPr lang="en-IN" sz="1200">
                <a:solidFill>
                  <a:srgbClr val="E8E2DB"/>
                </a:solidFill>
                <a:latin typeface="Consolas" panose="020B0609020204030204" pitchFamily="49" charset="0"/>
              </a:rPr>
              <a:t>orders.append({</a:t>
            </a:r>
          </a:p>
          <a:p>
            <a:r>
              <a:rPr lang="en-IN" sz="1200">
                <a:solidFill>
                  <a:srgbClr val="E8E2DB"/>
                </a:solidFill>
                <a:latin typeface="Consolas" panose="020B0609020204030204" pitchFamily="49" charset="0"/>
              </a:rPr>
              <a:t>  "order_id": f"O{i:04d}",</a:t>
            </a:r>
          </a:p>
          <a:p>
            <a:r>
              <a:rPr lang="en-IN" sz="1200">
                <a:solidFill>
                  <a:srgbClr val="E8E2DB"/>
                </a:solidFill>
                <a:latin typeface="Consolas" panose="020B0609020204030204" pitchFamily="49" charset="0"/>
              </a:rPr>
              <a:t>  "unit_price": round(base * uniform(0.9, 1.1)),</a:t>
            </a:r>
          </a:p>
          <a:p>
            <a:r>
              <a:rPr lang="en-IN" sz="1200">
                <a:solidFill>
                  <a:srgbClr val="E8E2DB"/>
                </a:solidFill>
                <a:latin typeface="Consolas" panose="020B0609020204030204" pitchFamily="49" charset="0"/>
              </a:rPr>
              <a:t>  "quantity": random.randint(1, 5),</a:t>
            </a:r>
          </a:p>
          <a:p>
            <a:r>
              <a:rPr lang="en-IN" sz="1200">
                <a:solidFill>
                  <a:srgbClr val="E8E2DB"/>
                </a:solidFill>
                <a:latin typeface="Consolas" panose="020B0609020204030204" pitchFamily="49" charset="0"/>
              </a:rPr>
              <a:t>})</a:t>
            </a:r>
          </a:p>
          <a:p>
            <a:endParaRPr lang="en-IN" sz="1200">
              <a:solidFill>
                <a:srgbClr val="E8E2DB"/>
              </a:solidFill>
              <a:latin typeface="Consolas" panose="020B0609020204030204" pitchFamily="49" charset="0"/>
            </a:endParaRPr>
          </a:p>
          <a:p>
            <a:r>
              <a:rPr lang="en-IN" sz="1200">
                <a:solidFill>
                  <a:srgbClr val="E8E2DB"/>
                </a:solidFill>
                <a:latin typeface="Consolas" panose="020B0609020204030204" pitchFamily="49" charset="0"/>
              </a:rPr>
              <a:t>bad_rows = [</a:t>
            </a:r>
          </a:p>
          <a:p>
            <a:r>
              <a:rPr lang="en-IN" sz="1200">
                <a:solidFill>
                  <a:srgbClr val="E8E2DB"/>
                </a:solidFill>
                <a:latin typeface="Consolas" panose="020B0609020204030204" pitchFamily="49" charset="0"/>
              </a:rPr>
              <a:t>  {"order_id": "O9001", "unit_price": -65000},  </a:t>
            </a:r>
            <a:r>
              <a:rPr lang="en-IN" sz="1200">
                <a:solidFill>
                  <a:srgbClr val="D98B6A"/>
                </a:solidFill>
                <a:latin typeface="Consolas" panose="020B0609020204030204" pitchFamily="49" charset="0"/>
              </a:rPr>
              <a:t># negative</a:t>
            </a:r>
          </a:p>
          <a:p>
            <a:r>
              <a:rPr lang="en-IN" sz="1200">
                <a:solidFill>
                  <a:srgbClr val="E8E2DB"/>
                </a:solidFill>
                <a:latin typeface="Consolas" panose="020B0609020204030204" pitchFamily="49" charset="0"/>
              </a:rPr>
              <a:t>  {"order_id": "O9002", "quantity": 0},         </a:t>
            </a:r>
            <a:r>
              <a:rPr lang="en-IN" sz="1200">
                <a:solidFill>
                  <a:srgbClr val="D98B6A"/>
                </a:solidFill>
                <a:latin typeface="Consolas" panose="020B0609020204030204" pitchFamily="49" charset="0"/>
              </a:rPr>
              <a:t># zero qty</a:t>
            </a:r>
          </a:p>
          <a:p>
            <a:r>
              <a:rPr lang="en-IN" sz="1200">
                <a:solidFill>
                  <a:srgbClr val="E8E2DB"/>
                </a:solidFill>
                <a:latin typeface="Consolas" panose="020B0609020204030204" pitchFamily="49" charset="0"/>
              </a:rPr>
              <a:t>  {"order_id": "O9003", "customer_id": ""},     </a:t>
            </a:r>
            <a:r>
              <a:rPr lang="en-IN" sz="1200">
                <a:solidFill>
                  <a:srgbClr val="D98B6A"/>
                </a:solidFill>
                <a:latin typeface="Consolas" panose="020B0609020204030204" pitchFamily="49" charset="0"/>
              </a:rPr>
              <a:t># missing</a:t>
            </a:r>
          </a:p>
          <a:p>
            <a:r>
              <a:rPr lang="en-IN" sz="1200">
                <a:solidFill>
                  <a:srgbClr val="E8E2DB"/>
                </a:solidFill>
                <a:latin typeface="Consolas" panose="020B0609020204030204" pitchFamily="49" charset="0"/>
              </a:rPr>
              <a:t>  {"order_id": "O9005", "status": "Unknown"},   </a:t>
            </a:r>
            <a:r>
              <a:rPr lang="en-IN" sz="1200">
                <a:solidFill>
                  <a:srgbClr val="D98B6A"/>
                </a:solidFill>
                <a:latin typeface="Consolas" panose="020B0609020204030204" pitchFamily="49" charset="0"/>
              </a:rPr>
              <a:t># invalid</a:t>
            </a:r>
          </a:p>
          <a:p>
            <a:r>
              <a:rPr lang="en-IN" sz="1200">
                <a:solidFill>
                  <a:srgbClr val="E8E2DB"/>
                </a:solidFill>
                <a:latin typeface="Consolas" panose="020B0609020204030204" pitchFamily="49" charset="0"/>
              </a:rPr>
              <a:t>  {**orders[0], "customer_id": "C050"},         </a:t>
            </a:r>
            <a:r>
              <a:rPr lang="en-IN" sz="1200">
                <a:solidFill>
                  <a:srgbClr val="D98B6A"/>
                </a:solidFill>
                <a:latin typeface="Consolas" panose="020B0609020204030204" pitchFamily="49" charset="0"/>
              </a:rPr>
              <a:t># duplicate</a:t>
            </a:r>
          </a:p>
          <a:p>
            <a:r>
              <a:rPr lang="en-IN" sz="1200">
                <a:solidFill>
                  <a:srgbClr val="E8E2DB"/>
                </a:solidFill>
                <a:latin typeface="Consolas" panose="020B0609020204030204" pitchFamily="49" charset="0"/>
              </a:rPr>
              <a:t>]</a:t>
            </a:r>
          </a:p>
          <a:p>
            <a:r>
              <a:rPr lang="en-IN" sz="1200">
                <a:solidFill>
                  <a:srgbClr val="E8E2DB"/>
                </a:solidFill>
                <a:latin typeface="Consolas" panose="020B0609020204030204" pitchFamily="49" charset="0"/>
              </a:rPr>
              <a:t>random.shuffle(orders)</a:t>
            </a:r>
          </a:p>
        </p:txBody>
      </p:sp>
      <p:sp>
        <p:nvSpPr>
          <p:cNvPr id="45" name="Rectangle: Rounded Corners 44">
            <a:extLst>
              <a:ext uri="{FF2B5EF4-FFF2-40B4-BE49-F238E27FC236}">
                <a16:creationId xmlns:a16="http://schemas.microsoft.com/office/drawing/2014/main" id="{D83E7E28-AC39-3F57-D9D6-F066570425C2}"/>
              </a:ext>
            </a:extLst>
          </p:cNvPr>
          <p:cNvSpPr/>
          <p:nvPr/>
        </p:nvSpPr>
        <p:spPr>
          <a:xfrm>
            <a:off x="762000" y="5435600"/>
            <a:ext cx="10668000" cy="711200"/>
          </a:xfrm>
          <a:prstGeom prst="roundRect">
            <a:avLst>
              <a:gd name="adj" fmla="val 7143"/>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pPr algn="ctr"/>
            <a:r>
              <a:rPr lang="en-US" sz="1400" b="1">
                <a:solidFill>
                  <a:srgbClr val="23242D"/>
                </a:solidFill>
                <a:latin typeface="Segoe UI" panose="020B0502040204020203" pitchFamily="34" charset="0"/>
              </a:rPr>
              <a:t>Output: data/orders.csv (250 clean + 10 bad rows) and data/customers.csv (60 clean + 4 bad rows)</a:t>
            </a:r>
            <a:endParaRPr lang="en-IN" sz="1400" b="1">
              <a:solidFill>
                <a:srgbClr val="23242D"/>
              </a:solidFill>
              <a:latin typeface="Segoe UI" panose="020B0502040204020203" pitchFamily="34" charset="0"/>
            </a:endParaRPr>
          </a:p>
        </p:txBody>
      </p:sp>
    </p:spTree>
    <p:extLst>
      <p:ext uri="{BB962C8B-B14F-4D97-AF65-F5344CB8AC3E}">
        <p14:creationId xmlns:p14="http://schemas.microsoft.com/office/powerpoint/2010/main" val="3784459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25B9F5-FC43-A40F-44B1-91233C851265}"/>
              </a:ext>
            </a:extLst>
          </p:cNvPr>
          <p:cNvSpPr txBox="1"/>
          <p:nvPr/>
        </p:nvSpPr>
        <p:spPr>
          <a:xfrm>
            <a:off x="762000" y="304800"/>
            <a:ext cx="10668000" cy="558800"/>
          </a:xfrm>
          <a:prstGeom prst="rect">
            <a:avLst/>
          </a:prstGeom>
          <a:noFill/>
        </p:spPr>
        <p:txBody>
          <a:bodyPr vert="horz" wrap="square" lIns="0" tIns="0" rIns="0" bIns="0" rtlCol="0" anchor="ctr">
            <a:noAutofit/>
          </a:bodyPr>
          <a:lstStyle/>
          <a:p>
            <a:r>
              <a:rPr lang="en-US" sz="3000" b="1">
                <a:solidFill>
                  <a:srgbClr val="23242D"/>
                </a:solidFill>
                <a:latin typeface="Segoe UI" panose="020B0502040204020203" pitchFamily="34" charset="0"/>
              </a:rPr>
              <a:t>Step 2 - Loading into a Database</a:t>
            </a:r>
            <a:endParaRPr lang="en-IN" sz="3000" b="1">
              <a:solidFill>
                <a:srgbClr val="23242D"/>
              </a:solidFill>
              <a:latin typeface="Segoe UI" panose="020B0502040204020203" pitchFamily="34" charset="0"/>
            </a:endParaRPr>
          </a:p>
        </p:txBody>
      </p:sp>
      <p:sp>
        <p:nvSpPr>
          <p:cNvPr id="3" name="TextBox 2">
            <a:extLst>
              <a:ext uri="{FF2B5EF4-FFF2-40B4-BE49-F238E27FC236}">
                <a16:creationId xmlns:a16="http://schemas.microsoft.com/office/drawing/2014/main" id="{C3E54E17-196F-DDE0-1D62-591900325B47}"/>
              </a:ext>
            </a:extLst>
          </p:cNvPr>
          <p:cNvSpPr txBox="1"/>
          <p:nvPr/>
        </p:nvSpPr>
        <p:spPr>
          <a:xfrm>
            <a:off x="762000" y="889000"/>
            <a:ext cx="10668000" cy="203200"/>
          </a:xfrm>
          <a:prstGeom prst="rect">
            <a:avLst/>
          </a:prstGeom>
          <a:noFill/>
        </p:spPr>
        <p:txBody>
          <a:bodyPr vert="horz" wrap="square" lIns="0" tIns="0" rIns="0" bIns="0" rtlCol="0" anchor="t">
            <a:noAutofit/>
          </a:bodyPr>
          <a:lstStyle/>
          <a:p>
            <a:r>
              <a:rPr lang="en-US" sz="1100" b="1">
                <a:solidFill>
                  <a:srgbClr val="C97B5A"/>
                </a:solidFill>
                <a:latin typeface="Segoe UI" panose="020B0502040204020203" pitchFamily="34" charset="0"/>
              </a:rPr>
              <a:t>LOAD DATASET  |  scripts/load_duckdb.py + configuration.yml</a:t>
            </a:r>
            <a:endParaRPr lang="en-IN" sz="1100" b="1">
              <a:solidFill>
                <a:srgbClr val="C97B5A"/>
              </a:solidFill>
              <a:latin typeface="Segoe UI" panose="020B0502040204020203" pitchFamily="34" charset="0"/>
            </a:endParaRPr>
          </a:p>
        </p:txBody>
      </p:sp>
      <p:cxnSp>
        <p:nvCxnSpPr>
          <p:cNvPr id="4" name="Straight Connector 3">
            <a:extLst>
              <a:ext uri="{FF2B5EF4-FFF2-40B4-BE49-F238E27FC236}">
                <a16:creationId xmlns:a16="http://schemas.microsoft.com/office/drawing/2014/main" id="{FA6F7589-DEB7-137D-F354-562D207A0A37}"/>
              </a:ext>
            </a:extLst>
          </p:cNvPr>
          <p:cNvCxnSpPr/>
          <p:nvPr/>
        </p:nvCxnSpPr>
        <p:spPr>
          <a:xfrm>
            <a:off x="762000" y="1168400"/>
            <a:ext cx="10668000" cy="0"/>
          </a:xfrm>
          <a:prstGeom prst="line">
            <a:avLst/>
          </a:prstGeom>
          <a:ln w="12700">
            <a:solidFill>
              <a:srgbClr val="D9B8A6"/>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9FC2F828-1173-87E8-28E2-542CFBE8851B}"/>
              </a:ext>
            </a:extLst>
          </p:cNvPr>
          <p:cNvCxnSpPr/>
          <p:nvPr/>
        </p:nvCxnSpPr>
        <p:spPr>
          <a:xfrm>
            <a:off x="762000" y="6426200"/>
            <a:ext cx="10668000" cy="0"/>
          </a:xfrm>
          <a:prstGeom prst="line">
            <a:avLst/>
          </a:prstGeom>
          <a:ln w="9525">
            <a:solidFill>
              <a:srgbClr val="C9C5B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67880DF5-C9B7-90BE-4B50-053E1BDD01D8}"/>
              </a:ext>
            </a:extLst>
          </p:cNvPr>
          <p:cNvSpPr txBox="1"/>
          <p:nvPr/>
        </p:nvSpPr>
        <p:spPr>
          <a:xfrm>
            <a:off x="762000" y="6502400"/>
            <a:ext cx="5080000" cy="203200"/>
          </a:xfrm>
          <a:prstGeom prst="rect">
            <a:avLst/>
          </a:prstGeom>
          <a:noFill/>
        </p:spPr>
        <p:txBody>
          <a:bodyPr vert="horz" wrap="square" lIns="0" tIns="0" rIns="0" bIns="0" rtlCol="0" anchor="t">
            <a:noAutofit/>
          </a:bodyPr>
          <a:lstStyle/>
          <a:p>
            <a:r>
              <a:rPr lang="en-US" sz="1000">
                <a:solidFill>
                  <a:srgbClr val="6B6A68"/>
                </a:solidFill>
                <a:latin typeface="Segoe UI" panose="020B0502040204020203" pitchFamily="34" charset="0"/>
              </a:rPr>
              <a:t>Data Engineering - Case Study 14</a:t>
            </a:r>
            <a:endParaRPr lang="en-IN" sz="1000">
              <a:solidFill>
                <a:srgbClr val="6B6A68"/>
              </a:solidFill>
              <a:latin typeface="Segoe UI" panose="020B0502040204020203" pitchFamily="34" charset="0"/>
            </a:endParaRPr>
          </a:p>
        </p:txBody>
      </p:sp>
      <p:sp>
        <p:nvSpPr>
          <p:cNvPr id="7" name="TextBox 6">
            <a:extLst>
              <a:ext uri="{FF2B5EF4-FFF2-40B4-BE49-F238E27FC236}">
                <a16:creationId xmlns:a16="http://schemas.microsoft.com/office/drawing/2014/main" id="{27CD3538-25FD-63C0-D2F8-AB5FB3B65D18}"/>
              </a:ext>
            </a:extLst>
          </p:cNvPr>
          <p:cNvSpPr txBox="1"/>
          <p:nvPr/>
        </p:nvSpPr>
        <p:spPr>
          <a:xfrm>
            <a:off x="4826000" y="6502400"/>
            <a:ext cx="2540000" cy="203200"/>
          </a:xfrm>
          <a:prstGeom prst="rect">
            <a:avLst/>
          </a:prstGeom>
          <a:noFill/>
        </p:spPr>
        <p:txBody>
          <a:bodyPr vert="horz" wrap="square" lIns="0" tIns="0" rIns="0" bIns="0" rtlCol="0" anchor="t">
            <a:noAutofit/>
          </a:bodyPr>
          <a:lstStyle/>
          <a:p>
            <a:pPr algn="ctr"/>
            <a:r>
              <a:rPr lang="en-IN" sz="1000" b="1">
                <a:solidFill>
                  <a:srgbClr val="C97B5A"/>
                </a:solidFill>
                <a:latin typeface="Segoe UI" panose="020B0502040204020203" pitchFamily="34" charset="0"/>
              </a:rPr>
              <a:t>Presenter: Niharika Singh</a:t>
            </a:r>
          </a:p>
        </p:txBody>
      </p:sp>
      <p:sp>
        <p:nvSpPr>
          <p:cNvPr id="8" name="TextBox 7">
            <a:extLst>
              <a:ext uri="{FF2B5EF4-FFF2-40B4-BE49-F238E27FC236}">
                <a16:creationId xmlns:a16="http://schemas.microsoft.com/office/drawing/2014/main" id="{D1C55E24-36CB-8509-AE04-99821C393DE0}"/>
              </a:ext>
            </a:extLst>
          </p:cNvPr>
          <p:cNvSpPr txBox="1"/>
          <p:nvPr/>
        </p:nvSpPr>
        <p:spPr>
          <a:xfrm>
            <a:off x="10668000" y="6502400"/>
            <a:ext cx="762000" cy="203200"/>
          </a:xfrm>
          <a:prstGeom prst="rect">
            <a:avLst/>
          </a:prstGeom>
          <a:noFill/>
        </p:spPr>
        <p:txBody>
          <a:bodyPr vert="horz" wrap="square" lIns="0" tIns="0" rIns="0" bIns="0" rtlCol="0" anchor="t">
            <a:noAutofit/>
          </a:bodyPr>
          <a:lstStyle/>
          <a:p>
            <a:pPr algn="r"/>
            <a:r>
              <a:rPr lang="en-IN" sz="1000">
                <a:solidFill>
                  <a:srgbClr val="6B6A68"/>
                </a:solidFill>
                <a:latin typeface="Segoe UI" panose="020B0502040204020203" pitchFamily="34" charset="0"/>
              </a:rPr>
              <a:t>4</a:t>
            </a:r>
          </a:p>
        </p:txBody>
      </p:sp>
      <p:sp>
        <p:nvSpPr>
          <p:cNvPr id="9" name="Rectangle: Rounded Corners 8">
            <a:extLst>
              <a:ext uri="{FF2B5EF4-FFF2-40B4-BE49-F238E27FC236}">
                <a16:creationId xmlns:a16="http://schemas.microsoft.com/office/drawing/2014/main" id="{5E14C0DA-B59A-B573-B249-4D637DF48D16}"/>
              </a:ext>
            </a:extLst>
          </p:cNvPr>
          <p:cNvSpPr/>
          <p:nvPr/>
        </p:nvSpPr>
        <p:spPr>
          <a:xfrm>
            <a:off x="762000" y="1371600"/>
            <a:ext cx="2438400" cy="660400"/>
          </a:xfrm>
          <a:prstGeom prst="roundRect">
            <a:avLst>
              <a:gd name="adj" fmla="val 7692"/>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IN" sz="1300" b="1">
                <a:solidFill>
                  <a:srgbClr val="FFFFFF"/>
                </a:solidFill>
                <a:latin typeface="Segoe UI" panose="020B0502040204020203" pitchFamily="34" charset="0"/>
              </a:rPr>
              <a:t>CSV FILES</a:t>
            </a:r>
          </a:p>
        </p:txBody>
      </p:sp>
      <p:cxnSp>
        <p:nvCxnSpPr>
          <p:cNvPr id="10" name="Straight Connector 9">
            <a:extLst>
              <a:ext uri="{FF2B5EF4-FFF2-40B4-BE49-F238E27FC236}">
                <a16:creationId xmlns:a16="http://schemas.microsoft.com/office/drawing/2014/main" id="{0C645420-51DC-D03E-481B-E06D647E8AAD}"/>
              </a:ext>
            </a:extLst>
          </p:cNvPr>
          <p:cNvCxnSpPr/>
          <p:nvPr/>
        </p:nvCxnSpPr>
        <p:spPr>
          <a:xfrm>
            <a:off x="3225800" y="1701800"/>
            <a:ext cx="330200" cy="0"/>
          </a:xfrm>
          <a:prstGeom prst="line">
            <a:avLst/>
          </a:prstGeom>
          <a:ln w="19050">
            <a:solidFill>
              <a:srgbClr val="C97B5A"/>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128DDFE2-528F-1BA6-BCD1-0C7C8E42974F}"/>
              </a:ext>
            </a:extLst>
          </p:cNvPr>
          <p:cNvSpPr/>
          <p:nvPr/>
        </p:nvSpPr>
        <p:spPr>
          <a:xfrm>
            <a:off x="3505200" y="1371600"/>
            <a:ext cx="2438400" cy="660400"/>
          </a:xfrm>
          <a:prstGeom prst="roundRect">
            <a:avLst>
              <a:gd name="adj" fmla="val 7692"/>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IN" sz="1300" b="1">
                <a:solidFill>
                  <a:srgbClr val="FFFFFF"/>
                </a:solidFill>
                <a:latin typeface="Segoe UI" panose="020B0502040204020203" pitchFamily="34" charset="0"/>
              </a:rPr>
              <a:t>DUCKDB TABLES</a:t>
            </a:r>
          </a:p>
        </p:txBody>
      </p:sp>
      <p:cxnSp>
        <p:nvCxnSpPr>
          <p:cNvPr id="12" name="Straight Connector 11">
            <a:extLst>
              <a:ext uri="{FF2B5EF4-FFF2-40B4-BE49-F238E27FC236}">
                <a16:creationId xmlns:a16="http://schemas.microsoft.com/office/drawing/2014/main" id="{66452E71-9C03-16DE-EC52-7ACE3F00C5AE}"/>
              </a:ext>
            </a:extLst>
          </p:cNvPr>
          <p:cNvCxnSpPr/>
          <p:nvPr/>
        </p:nvCxnSpPr>
        <p:spPr>
          <a:xfrm>
            <a:off x="5969000" y="1701800"/>
            <a:ext cx="330200" cy="0"/>
          </a:xfrm>
          <a:prstGeom prst="line">
            <a:avLst/>
          </a:prstGeom>
          <a:ln w="19050">
            <a:solidFill>
              <a:srgbClr val="C97B5A"/>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4237D339-1A74-36C7-2B00-6D8ACD711607}"/>
              </a:ext>
            </a:extLst>
          </p:cNvPr>
          <p:cNvSpPr/>
          <p:nvPr/>
        </p:nvSpPr>
        <p:spPr>
          <a:xfrm>
            <a:off x="6248400" y="1371600"/>
            <a:ext cx="2438400" cy="660400"/>
          </a:xfrm>
          <a:prstGeom prst="roundRect">
            <a:avLst>
              <a:gd name="adj" fmla="val 7692"/>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IN" sz="1300" b="1">
                <a:solidFill>
                  <a:srgbClr val="FFFFFF"/>
                </a:solidFill>
                <a:latin typeface="Segoe UI" panose="020B0502040204020203" pitchFamily="34" charset="0"/>
              </a:rPr>
              <a:t>order_details VIEW</a:t>
            </a:r>
          </a:p>
        </p:txBody>
      </p:sp>
      <p:cxnSp>
        <p:nvCxnSpPr>
          <p:cNvPr id="14" name="Straight Connector 13">
            <a:extLst>
              <a:ext uri="{FF2B5EF4-FFF2-40B4-BE49-F238E27FC236}">
                <a16:creationId xmlns:a16="http://schemas.microsoft.com/office/drawing/2014/main" id="{3AFA5AB5-2BBC-B884-14B3-47B6C4B89F2E}"/>
              </a:ext>
            </a:extLst>
          </p:cNvPr>
          <p:cNvCxnSpPr/>
          <p:nvPr/>
        </p:nvCxnSpPr>
        <p:spPr>
          <a:xfrm>
            <a:off x="8712200" y="1701800"/>
            <a:ext cx="330200" cy="0"/>
          </a:xfrm>
          <a:prstGeom prst="line">
            <a:avLst/>
          </a:prstGeom>
          <a:ln w="19050">
            <a:solidFill>
              <a:srgbClr val="C97B5A"/>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2C2B5172-9819-4270-8F06-8C91137A82B5}"/>
              </a:ext>
            </a:extLst>
          </p:cNvPr>
          <p:cNvSpPr/>
          <p:nvPr/>
        </p:nvSpPr>
        <p:spPr>
          <a:xfrm>
            <a:off x="8991600" y="1371600"/>
            <a:ext cx="2438400" cy="660400"/>
          </a:xfrm>
          <a:prstGeom prst="roundRect">
            <a:avLst>
              <a:gd name="adj" fmla="val 7692"/>
            </a:avLst>
          </a:prstGeom>
          <a:solidFill>
            <a:srgbClr val="C97B5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IN" sz="1300" b="1">
                <a:solidFill>
                  <a:srgbClr val="FFFFFF"/>
                </a:solidFill>
                <a:latin typeface="Segoe UI" panose="020B0502040204020203" pitchFamily="34" charset="0"/>
              </a:rPr>
              <a:t>SODA SCAN</a:t>
            </a:r>
          </a:p>
        </p:txBody>
      </p:sp>
      <p:sp>
        <p:nvSpPr>
          <p:cNvPr id="16" name="TextBox 15">
            <a:extLst>
              <a:ext uri="{FF2B5EF4-FFF2-40B4-BE49-F238E27FC236}">
                <a16:creationId xmlns:a16="http://schemas.microsoft.com/office/drawing/2014/main" id="{CD555268-1FC5-9408-8FEE-0645E9236D93}"/>
              </a:ext>
            </a:extLst>
          </p:cNvPr>
          <p:cNvSpPr txBox="1"/>
          <p:nvPr/>
        </p:nvSpPr>
        <p:spPr>
          <a:xfrm>
            <a:off x="762000" y="2209800"/>
            <a:ext cx="6604000" cy="203200"/>
          </a:xfrm>
          <a:prstGeom prst="rect">
            <a:avLst/>
          </a:prstGeom>
          <a:noFill/>
        </p:spPr>
        <p:txBody>
          <a:bodyPr vert="horz" wrap="square" lIns="0" tIns="0" rIns="0" bIns="0" rtlCol="0" anchor="t">
            <a:noAutofit/>
          </a:bodyPr>
          <a:lstStyle/>
          <a:p>
            <a:r>
              <a:rPr lang="en-US" sz="1000" b="1">
                <a:solidFill>
                  <a:srgbClr val="6B6A68"/>
                </a:solidFill>
                <a:latin typeface="Segoe UI" panose="020B0502040204020203" pitchFamily="34" charset="0"/>
              </a:rPr>
              <a:t>CSV TO TABLES, PLUS A JOINED VIEW</a:t>
            </a:r>
            <a:endParaRPr lang="en-IN" sz="1000" b="1">
              <a:solidFill>
                <a:srgbClr val="6B6A68"/>
              </a:solidFill>
              <a:latin typeface="Segoe UI" panose="020B0502040204020203" pitchFamily="34" charset="0"/>
            </a:endParaRPr>
          </a:p>
        </p:txBody>
      </p:sp>
      <p:sp>
        <p:nvSpPr>
          <p:cNvPr id="17" name="TextBox 16">
            <a:extLst>
              <a:ext uri="{FF2B5EF4-FFF2-40B4-BE49-F238E27FC236}">
                <a16:creationId xmlns:a16="http://schemas.microsoft.com/office/drawing/2014/main" id="{FDD4FC1F-90C5-4CB3-0C10-4CC61D40EE9F}"/>
              </a:ext>
            </a:extLst>
          </p:cNvPr>
          <p:cNvSpPr txBox="1"/>
          <p:nvPr/>
        </p:nvSpPr>
        <p:spPr>
          <a:xfrm>
            <a:off x="7620000" y="2209800"/>
            <a:ext cx="3810000" cy="203200"/>
          </a:xfrm>
          <a:prstGeom prst="rect">
            <a:avLst/>
          </a:prstGeom>
          <a:noFill/>
        </p:spPr>
        <p:txBody>
          <a:bodyPr vert="horz" wrap="square" lIns="0" tIns="0" rIns="0" bIns="0" rtlCol="0" anchor="t">
            <a:noAutofit/>
          </a:bodyPr>
          <a:lstStyle/>
          <a:p>
            <a:r>
              <a:rPr lang="en-IN" sz="1000" b="1">
                <a:solidFill>
                  <a:srgbClr val="6B6A68"/>
                </a:solidFill>
                <a:latin typeface="Segoe UI" panose="020B0502040204020203" pitchFamily="34" charset="0"/>
              </a:rPr>
              <a:t>HOW SODA CONNECTS</a:t>
            </a:r>
          </a:p>
        </p:txBody>
      </p:sp>
      <p:sp>
        <p:nvSpPr>
          <p:cNvPr id="18" name="Rectangle: Rounded Corners 17">
            <a:extLst>
              <a:ext uri="{FF2B5EF4-FFF2-40B4-BE49-F238E27FC236}">
                <a16:creationId xmlns:a16="http://schemas.microsoft.com/office/drawing/2014/main" id="{573B91BB-BB67-E49B-49A3-E3E34E500189}"/>
              </a:ext>
            </a:extLst>
          </p:cNvPr>
          <p:cNvSpPr/>
          <p:nvPr/>
        </p:nvSpPr>
        <p:spPr>
          <a:xfrm>
            <a:off x="762000" y="2463800"/>
            <a:ext cx="6604000" cy="2616200"/>
          </a:xfrm>
          <a:prstGeom prst="roundRect">
            <a:avLst>
              <a:gd name="adj" fmla="val 1942"/>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152400" rIns="127000" bIns="101600" rtlCol="0" anchor="t"/>
          <a:lstStyle/>
          <a:p>
            <a:r>
              <a:rPr lang="en-IN" sz="1250">
                <a:solidFill>
                  <a:srgbClr val="E8E2DB"/>
                </a:solidFill>
                <a:latin typeface="Consolas" panose="020B0609020204030204" pitchFamily="49" charset="0"/>
              </a:rPr>
              <a:t>con = duckdb.connect("ecommerce.duckdb")</a:t>
            </a:r>
          </a:p>
          <a:p>
            <a:endParaRPr lang="en-IN" sz="1250">
              <a:solidFill>
                <a:srgbClr val="E8E2DB"/>
              </a:solidFill>
              <a:latin typeface="Consolas" panose="020B0609020204030204" pitchFamily="49" charset="0"/>
            </a:endParaRPr>
          </a:p>
          <a:p>
            <a:r>
              <a:rPr lang="en-IN" sz="1250">
                <a:solidFill>
                  <a:srgbClr val="E8E2DB"/>
                </a:solidFill>
                <a:latin typeface="Consolas" panose="020B0609020204030204" pitchFamily="49" charset="0"/>
              </a:rPr>
              <a:t>con.execute("""CREATE TABLE orders AS</a:t>
            </a:r>
          </a:p>
          <a:p>
            <a:r>
              <a:rPr lang="en-IN" sz="1250">
                <a:solidFill>
                  <a:srgbClr val="E8E2DB"/>
                </a:solidFill>
                <a:latin typeface="Consolas" panose="020B0609020204030204" pitchFamily="49" charset="0"/>
              </a:rPr>
              <a:t>  SELECT * FROM read_csv_auto('data/orders.csv')""")</a:t>
            </a:r>
          </a:p>
          <a:p>
            <a:endParaRPr lang="en-IN" sz="1250">
              <a:solidFill>
                <a:srgbClr val="E8E2DB"/>
              </a:solidFill>
              <a:latin typeface="Consolas" panose="020B0609020204030204" pitchFamily="49" charset="0"/>
            </a:endParaRPr>
          </a:p>
          <a:p>
            <a:r>
              <a:rPr lang="en-IN" sz="1250">
                <a:solidFill>
                  <a:srgbClr val="E8E2DB"/>
                </a:solidFill>
                <a:latin typeface="Consolas" panose="020B0609020204030204" pitchFamily="49" charset="0"/>
              </a:rPr>
              <a:t>con.execute("""CREATE VIEW order_details AS</a:t>
            </a:r>
          </a:p>
          <a:p>
            <a:r>
              <a:rPr lang="en-IN" sz="1250">
                <a:solidFill>
                  <a:srgbClr val="E8E2DB"/>
                </a:solidFill>
                <a:latin typeface="Consolas" panose="020B0609020204030204" pitchFamily="49" charset="0"/>
              </a:rPr>
              <a:t>  SELECT o.*, c.name AS customer_name,</a:t>
            </a:r>
          </a:p>
          <a:p>
            <a:r>
              <a:rPr lang="en-IN" sz="1250">
                <a:solidFill>
                  <a:srgbClr val="E8E2DB"/>
                </a:solidFill>
                <a:latin typeface="Consolas" panose="020B0609020204030204" pitchFamily="49" charset="0"/>
              </a:rPr>
              <a:t>         o.unit_price * o.quantity AS total_amount</a:t>
            </a:r>
          </a:p>
          <a:p>
            <a:r>
              <a:rPr lang="en-IN" sz="1250">
                <a:solidFill>
                  <a:srgbClr val="E8E2DB"/>
                </a:solidFill>
                <a:latin typeface="Consolas" panose="020B0609020204030204" pitchFamily="49" charset="0"/>
              </a:rPr>
              <a:t>  FROM orders o LEFT JOIN customers c</a:t>
            </a:r>
          </a:p>
          <a:p>
            <a:r>
              <a:rPr lang="en-IN" sz="1250">
                <a:solidFill>
                  <a:srgbClr val="E8E2DB"/>
                </a:solidFill>
                <a:latin typeface="Consolas" panose="020B0609020204030204" pitchFamily="49" charset="0"/>
              </a:rPr>
              <a:t>       USING (customer_id)""")</a:t>
            </a:r>
          </a:p>
        </p:txBody>
      </p:sp>
      <p:sp>
        <p:nvSpPr>
          <p:cNvPr id="19" name="Rectangle: Rounded Corners 18">
            <a:extLst>
              <a:ext uri="{FF2B5EF4-FFF2-40B4-BE49-F238E27FC236}">
                <a16:creationId xmlns:a16="http://schemas.microsoft.com/office/drawing/2014/main" id="{A5F105CA-7B29-B136-4E8F-D47CE9198414}"/>
              </a:ext>
            </a:extLst>
          </p:cNvPr>
          <p:cNvSpPr/>
          <p:nvPr/>
        </p:nvSpPr>
        <p:spPr>
          <a:xfrm>
            <a:off x="7620000" y="2463800"/>
            <a:ext cx="3810000" cy="2616200"/>
          </a:xfrm>
          <a:prstGeom prst="roundRect">
            <a:avLst>
              <a:gd name="adj" fmla="val 1942"/>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152400" rIns="127000" bIns="101600" rtlCol="0" anchor="t"/>
          <a:lstStyle/>
          <a:p>
            <a:r>
              <a:rPr lang="en-IN" sz="1250">
                <a:solidFill>
                  <a:srgbClr val="D98B6A"/>
                </a:solidFill>
                <a:latin typeface="Consolas" panose="020B0609020204030204" pitchFamily="49" charset="0"/>
              </a:rPr>
              <a:t># configuration.yml</a:t>
            </a:r>
          </a:p>
          <a:p>
            <a:r>
              <a:rPr lang="en-IN" sz="1250">
                <a:solidFill>
                  <a:srgbClr val="E8E2DB"/>
                </a:solidFill>
                <a:latin typeface="Consolas" panose="020B0609020204030204" pitchFamily="49" charset="0"/>
              </a:rPr>
              <a:t>data_source ecommerce:</a:t>
            </a:r>
          </a:p>
          <a:p>
            <a:r>
              <a:rPr lang="en-IN" sz="1250">
                <a:solidFill>
                  <a:srgbClr val="E8E2DB"/>
                </a:solidFill>
                <a:latin typeface="Consolas" panose="020B0609020204030204" pitchFamily="49" charset="0"/>
              </a:rPr>
              <a:t>  type: duckdb</a:t>
            </a:r>
          </a:p>
          <a:p>
            <a:r>
              <a:rPr lang="en-IN" sz="1250">
                <a:solidFill>
                  <a:srgbClr val="E8E2DB"/>
                </a:solidFill>
                <a:latin typeface="Consolas" panose="020B0609020204030204" pitchFamily="49" charset="0"/>
              </a:rPr>
              <a:t>  database: ecommerce.duckdb</a:t>
            </a:r>
          </a:p>
          <a:p>
            <a:r>
              <a:rPr lang="en-IN" sz="1250">
                <a:solidFill>
                  <a:srgbClr val="E8E2DB"/>
                </a:solidFill>
                <a:latin typeface="Consolas" panose="020B0609020204030204" pitchFamily="49" charset="0"/>
              </a:rPr>
              <a:t>  read_only: true</a:t>
            </a:r>
          </a:p>
          <a:p>
            <a:r>
              <a:rPr lang="en-IN" sz="1250">
                <a:solidFill>
                  <a:srgbClr val="E8E2DB"/>
                </a:solidFill>
                <a:latin typeface="Consolas" panose="020B0609020204030204" pitchFamily="49" charset="0"/>
              </a:rPr>
              <a:t>  schema_name: main</a:t>
            </a:r>
          </a:p>
        </p:txBody>
      </p:sp>
      <p:sp>
        <p:nvSpPr>
          <p:cNvPr id="20" name="Rectangle: Rounded Corners 19">
            <a:extLst>
              <a:ext uri="{FF2B5EF4-FFF2-40B4-BE49-F238E27FC236}">
                <a16:creationId xmlns:a16="http://schemas.microsoft.com/office/drawing/2014/main" id="{80B9016B-CB08-A489-1619-4CE370A18D61}"/>
              </a:ext>
            </a:extLst>
          </p:cNvPr>
          <p:cNvSpPr/>
          <p:nvPr/>
        </p:nvSpPr>
        <p:spPr>
          <a:xfrm>
            <a:off x="762000" y="5334000"/>
            <a:ext cx="10668000" cy="812800"/>
          </a:xfrm>
          <a:prstGeom prst="roundRect">
            <a:avLst>
              <a:gd name="adj" fmla="val 6250"/>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US" sz="1500" b="1">
                <a:solidFill>
                  <a:srgbClr val="FFFFFF"/>
                </a:solidFill>
                <a:latin typeface="Segoe UI" panose="020B0502040204020203" pitchFamily="34" charset="0"/>
              </a:rPr>
              <a:t>DuckDB is serverless: no installation, no cloud. read_csv_auto detects column types by itself.</a:t>
            </a:r>
            <a:endParaRPr lang="en-IN" sz="1500" b="1">
              <a:solidFill>
                <a:srgbClr val="FFFFFF"/>
              </a:solidFill>
              <a:latin typeface="Segoe UI" panose="020B0502040204020203" pitchFamily="34" charset="0"/>
            </a:endParaRPr>
          </a:p>
        </p:txBody>
      </p:sp>
    </p:spTree>
    <p:extLst>
      <p:ext uri="{BB962C8B-B14F-4D97-AF65-F5344CB8AC3E}">
        <p14:creationId xmlns:p14="http://schemas.microsoft.com/office/powerpoint/2010/main" val="1952492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5F6B3-A9A2-6EE8-8880-6C602E1F3680}"/>
              </a:ext>
            </a:extLst>
          </p:cNvPr>
          <p:cNvSpPr txBox="1"/>
          <p:nvPr/>
        </p:nvSpPr>
        <p:spPr>
          <a:xfrm>
            <a:off x="762000" y="304800"/>
            <a:ext cx="10668000" cy="558800"/>
          </a:xfrm>
          <a:prstGeom prst="rect">
            <a:avLst/>
          </a:prstGeom>
          <a:noFill/>
        </p:spPr>
        <p:txBody>
          <a:bodyPr vert="horz" wrap="square" lIns="0" tIns="0" rIns="0" bIns="0" rtlCol="0" anchor="ctr">
            <a:noAutofit/>
          </a:bodyPr>
          <a:lstStyle/>
          <a:p>
            <a:r>
              <a:rPr lang="en-US" sz="3000" b="1">
                <a:solidFill>
                  <a:srgbClr val="23242D"/>
                </a:solidFill>
                <a:latin typeface="Segoe UI" panose="020B0502040204020203" pitchFamily="34" charset="0"/>
              </a:rPr>
              <a:t>Step 3 - Defining Validation Rules</a:t>
            </a:r>
            <a:endParaRPr lang="en-IN" sz="3000" b="1">
              <a:solidFill>
                <a:srgbClr val="23242D"/>
              </a:solidFill>
              <a:latin typeface="Segoe UI" panose="020B0502040204020203" pitchFamily="34" charset="0"/>
            </a:endParaRPr>
          </a:p>
        </p:txBody>
      </p:sp>
      <p:sp>
        <p:nvSpPr>
          <p:cNvPr id="3" name="TextBox 2">
            <a:extLst>
              <a:ext uri="{FF2B5EF4-FFF2-40B4-BE49-F238E27FC236}">
                <a16:creationId xmlns:a16="http://schemas.microsoft.com/office/drawing/2014/main" id="{31D8889B-25BB-4D03-2172-86B0AA355CBE}"/>
              </a:ext>
            </a:extLst>
          </p:cNvPr>
          <p:cNvSpPr txBox="1"/>
          <p:nvPr/>
        </p:nvSpPr>
        <p:spPr>
          <a:xfrm>
            <a:off x="762000" y="889000"/>
            <a:ext cx="10668000" cy="203200"/>
          </a:xfrm>
          <a:prstGeom prst="rect">
            <a:avLst/>
          </a:prstGeom>
          <a:noFill/>
        </p:spPr>
        <p:txBody>
          <a:bodyPr vert="horz" wrap="square" lIns="0" tIns="0" rIns="0" bIns="0" rtlCol="0" anchor="t">
            <a:noAutofit/>
          </a:bodyPr>
          <a:lstStyle/>
          <a:p>
            <a:r>
              <a:rPr lang="en-US" sz="1100" b="1">
                <a:solidFill>
                  <a:srgbClr val="C97B5A"/>
                </a:solidFill>
                <a:latin typeface="Segoe UI" panose="020B0502040204020203" pitchFamily="34" charset="0"/>
              </a:rPr>
              <a:t>checks.yml  |  17 CHECKS ACROSS 5 QUALITY DIMENSIONS</a:t>
            </a:r>
            <a:endParaRPr lang="en-IN" sz="1100" b="1">
              <a:solidFill>
                <a:srgbClr val="C97B5A"/>
              </a:solidFill>
              <a:latin typeface="Segoe UI" panose="020B0502040204020203" pitchFamily="34" charset="0"/>
            </a:endParaRPr>
          </a:p>
        </p:txBody>
      </p:sp>
      <p:cxnSp>
        <p:nvCxnSpPr>
          <p:cNvPr id="4" name="Straight Connector 3">
            <a:extLst>
              <a:ext uri="{FF2B5EF4-FFF2-40B4-BE49-F238E27FC236}">
                <a16:creationId xmlns:a16="http://schemas.microsoft.com/office/drawing/2014/main" id="{CF40C22B-F1A4-C9EE-9EB9-35827E5A80EC}"/>
              </a:ext>
            </a:extLst>
          </p:cNvPr>
          <p:cNvCxnSpPr/>
          <p:nvPr/>
        </p:nvCxnSpPr>
        <p:spPr>
          <a:xfrm>
            <a:off x="762000" y="1168400"/>
            <a:ext cx="10668000" cy="0"/>
          </a:xfrm>
          <a:prstGeom prst="line">
            <a:avLst/>
          </a:prstGeom>
          <a:ln w="12700">
            <a:solidFill>
              <a:srgbClr val="D9B8A6"/>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0377F01C-6833-4F1A-25BF-423C0978F099}"/>
              </a:ext>
            </a:extLst>
          </p:cNvPr>
          <p:cNvCxnSpPr/>
          <p:nvPr/>
        </p:nvCxnSpPr>
        <p:spPr>
          <a:xfrm>
            <a:off x="762000" y="6426200"/>
            <a:ext cx="10668000" cy="0"/>
          </a:xfrm>
          <a:prstGeom prst="line">
            <a:avLst/>
          </a:prstGeom>
          <a:ln w="9525">
            <a:solidFill>
              <a:srgbClr val="C9C5B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278A91F5-956D-C433-D81D-414259EEA943}"/>
              </a:ext>
            </a:extLst>
          </p:cNvPr>
          <p:cNvSpPr txBox="1"/>
          <p:nvPr/>
        </p:nvSpPr>
        <p:spPr>
          <a:xfrm>
            <a:off x="762000" y="6502400"/>
            <a:ext cx="5080000" cy="203200"/>
          </a:xfrm>
          <a:prstGeom prst="rect">
            <a:avLst/>
          </a:prstGeom>
          <a:noFill/>
        </p:spPr>
        <p:txBody>
          <a:bodyPr vert="horz" wrap="square" lIns="0" tIns="0" rIns="0" bIns="0" rtlCol="0" anchor="t">
            <a:noAutofit/>
          </a:bodyPr>
          <a:lstStyle/>
          <a:p>
            <a:r>
              <a:rPr lang="en-US" sz="1000">
                <a:solidFill>
                  <a:srgbClr val="6B6A68"/>
                </a:solidFill>
                <a:latin typeface="Segoe UI" panose="020B0502040204020203" pitchFamily="34" charset="0"/>
              </a:rPr>
              <a:t>Data Engineering - Case Study 14</a:t>
            </a:r>
            <a:endParaRPr lang="en-IN" sz="1000">
              <a:solidFill>
                <a:srgbClr val="6B6A68"/>
              </a:solidFill>
              <a:latin typeface="Segoe UI" panose="020B0502040204020203" pitchFamily="34" charset="0"/>
            </a:endParaRPr>
          </a:p>
        </p:txBody>
      </p:sp>
      <p:sp>
        <p:nvSpPr>
          <p:cNvPr id="7" name="TextBox 6">
            <a:extLst>
              <a:ext uri="{FF2B5EF4-FFF2-40B4-BE49-F238E27FC236}">
                <a16:creationId xmlns:a16="http://schemas.microsoft.com/office/drawing/2014/main" id="{0B34710E-7826-B21B-7262-8A9FA585B6CF}"/>
              </a:ext>
            </a:extLst>
          </p:cNvPr>
          <p:cNvSpPr txBox="1"/>
          <p:nvPr/>
        </p:nvSpPr>
        <p:spPr>
          <a:xfrm>
            <a:off x="4826000" y="6502400"/>
            <a:ext cx="2540000" cy="203200"/>
          </a:xfrm>
          <a:prstGeom prst="rect">
            <a:avLst/>
          </a:prstGeom>
          <a:noFill/>
        </p:spPr>
        <p:txBody>
          <a:bodyPr vert="horz" wrap="square" lIns="0" tIns="0" rIns="0" bIns="0" rtlCol="0" anchor="t">
            <a:noAutofit/>
          </a:bodyPr>
          <a:lstStyle/>
          <a:p>
            <a:pPr algn="ctr"/>
            <a:r>
              <a:rPr lang="en-IN" sz="1000" b="1">
                <a:solidFill>
                  <a:srgbClr val="C97B5A"/>
                </a:solidFill>
                <a:latin typeface="Segoe UI" panose="020B0502040204020203" pitchFamily="34" charset="0"/>
              </a:rPr>
              <a:t>Presenter: Shubham Singh</a:t>
            </a:r>
          </a:p>
        </p:txBody>
      </p:sp>
      <p:sp>
        <p:nvSpPr>
          <p:cNvPr id="8" name="TextBox 7">
            <a:extLst>
              <a:ext uri="{FF2B5EF4-FFF2-40B4-BE49-F238E27FC236}">
                <a16:creationId xmlns:a16="http://schemas.microsoft.com/office/drawing/2014/main" id="{94D7A29F-ED4A-C7D5-4BF7-77D4A6DA8DB5}"/>
              </a:ext>
            </a:extLst>
          </p:cNvPr>
          <p:cNvSpPr txBox="1"/>
          <p:nvPr/>
        </p:nvSpPr>
        <p:spPr>
          <a:xfrm>
            <a:off x="10668000" y="6502400"/>
            <a:ext cx="762000" cy="203200"/>
          </a:xfrm>
          <a:prstGeom prst="rect">
            <a:avLst/>
          </a:prstGeom>
          <a:noFill/>
        </p:spPr>
        <p:txBody>
          <a:bodyPr vert="horz" wrap="square" lIns="0" tIns="0" rIns="0" bIns="0" rtlCol="0" anchor="t">
            <a:noAutofit/>
          </a:bodyPr>
          <a:lstStyle/>
          <a:p>
            <a:pPr algn="r"/>
            <a:r>
              <a:rPr lang="en-IN" sz="1000">
                <a:solidFill>
                  <a:srgbClr val="6B6A68"/>
                </a:solidFill>
                <a:latin typeface="Segoe UI" panose="020B0502040204020203" pitchFamily="34" charset="0"/>
              </a:rPr>
              <a:t>5</a:t>
            </a:r>
          </a:p>
        </p:txBody>
      </p:sp>
      <p:sp>
        <p:nvSpPr>
          <p:cNvPr id="9" name="Rectangle: Rounded Corners 8">
            <a:extLst>
              <a:ext uri="{FF2B5EF4-FFF2-40B4-BE49-F238E27FC236}">
                <a16:creationId xmlns:a16="http://schemas.microsoft.com/office/drawing/2014/main" id="{93450125-4A15-C05F-9977-BC9C04CA32C8}"/>
              </a:ext>
            </a:extLst>
          </p:cNvPr>
          <p:cNvSpPr/>
          <p:nvPr/>
        </p:nvSpPr>
        <p:spPr>
          <a:xfrm>
            <a:off x="762000" y="1371600"/>
            <a:ext cx="1295400" cy="355600"/>
          </a:xfrm>
          <a:prstGeom prst="roundRect">
            <a:avLst>
              <a:gd name="adj" fmla="val 14286"/>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r>
              <a:rPr lang="en-IN" sz="1100" b="1">
                <a:solidFill>
                  <a:srgbClr val="FFFFFF"/>
                </a:solidFill>
                <a:latin typeface="Segoe UI" panose="020B0502040204020203" pitchFamily="34" charset="0"/>
              </a:rPr>
              <a:t>DIMENSION</a:t>
            </a:r>
          </a:p>
        </p:txBody>
      </p:sp>
      <p:sp>
        <p:nvSpPr>
          <p:cNvPr id="10" name="Rectangle: Rounded Corners 9">
            <a:extLst>
              <a:ext uri="{FF2B5EF4-FFF2-40B4-BE49-F238E27FC236}">
                <a16:creationId xmlns:a16="http://schemas.microsoft.com/office/drawing/2014/main" id="{41BCAA1F-3AFF-92DE-7D13-F1334C4C01C2}"/>
              </a:ext>
            </a:extLst>
          </p:cNvPr>
          <p:cNvSpPr/>
          <p:nvPr/>
        </p:nvSpPr>
        <p:spPr>
          <a:xfrm>
            <a:off x="2082800" y="1371600"/>
            <a:ext cx="2870200" cy="355600"/>
          </a:xfrm>
          <a:prstGeom prst="roundRect">
            <a:avLst>
              <a:gd name="adj" fmla="val 14286"/>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r>
              <a:rPr lang="en-IN" sz="1100" b="1">
                <a:solidFill>
                  <a:srgbClr val="FFFFFF"/>
                </a:solidFill>
                <a:latin typeface="Segoe UI" panose="020B0502040204020203" pitchFamily="34" charset="0"/>
              </a:rPr>
              <a:t>RULE</a:t>
            </a:r>
          </a:p>
        </p:txBody>
      </p:sp>
      <p:sp>
        <p:nvSpPr>
          <p:cNvPr id="11" name="Rectangle: Rounded Corners 10">
            <a:extLst>
              <a:ext uri="{FF2B5EF4-FFF2-40B4-BE49-F238E27FC236}">
                <a16:creationId xmlns:a16="http://schemas.microsoft.com/office/drawing/2014/main" id="{B220E2AD-79AA-29A3-B82A-AF6CCDD5F560}"/>
              </a:ext>
            </a:extLst>
          </p:cNvPr>
          <p:cNvSpPr/>
          <p:nvPr/>
        </p:nvSpPr>
        <p:spPr>
          <a:xfrm>
            <a:off x="4978400" y="1371600"/>
            <a:ext cx="1854200" cy="355600"/>
          </a:xfrm>
          <a:prstGeom prst="roundRect">
            <a:avLst>
              <a:gd name="adj" fmla="val 14286"/>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r>
              <a:rPr lang="en-IN" sz="1100" b="1">
                <a:solidFill>
                  <a:srgbClr val="FFFFFF"/>
                </a:solidFill>
                <a:latin typeface="Segoe UI" panose="020B0502040204020203" pitchFamily="34" charset="0"/>
              </a:rPr>
              <a:t>WHAT IT CATCHES</a:t>
            </a:r>
          </a:p>
        </p:txBody>
      </p:sp>
      <p:sp>
        <p:nvSpPr>
          <p:cNvPr id="12" name="Rectangle: Rounded Corners 11">
            <a:extLst>
              <a:ext uri="{FF2B5EF4-FFF2-40B4-BE49-F238E27FC236}">
                <a16:creationId xmlns:a16="http://schemas.microsoft.com/office/drawing/2014/main" id="{A46B38F1-C5A2-11C4-7AE1-2C53125ED890}"/>
              </a:ext>
            </a:extLst>
          </p:cNvPr>
          <p:cNvSpPr/>
          <p:nvPr/>
        </p:nvSpPr>
        <p:spPr>
          <a:xfrm>
            <a:off x="762000" y="1765300"/>
            <a:ext cx="1295400" cy="622300"/>
          </a:xfrm>
          <a:prstGeom prst="roundRect">
            <a:avLst>
              <a:gd name="adj" fmla="val 8163"/>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Volume</a:t>
            </a:r>
          </a:p>
        </p:txBody>
      </p:sp>
      <p:sp>
        <p:nvSpPr>
          <p:cNvPr id="13" name="Rectangle: Rounded Corners 12">
            <a:extLst>
              <a:ext uri="{FF2B5EF4-FFF2-40B4-BE49-F238E27FC236}">
                <a16:creationId xmlns:a16="http://schemas.microsoft.com/office/drawing/2014/main" id="{9260FCA9-CBE3-39BB-432E-2FF9227BFED4}"/>
              </a:ext>
            </a:extLst>
          </p:cNvPr>
          <p:cNvSpPr/>
          <p:nvPr/>
        </p:nvSpPr>
        <p:spPr>
          <a:xfrm>
            <a:off x="2082800" y="1765300"/>
            <a:ext cx="2870200" cy="622300"/>
          </a:xfrm>
          <a:prstGeom prst="roundRect">
            <a:avLst>
              <a:gd name="adj" fmla="val 8163"/>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US" sz="1100">
                <a:solidFill>
                  <a:srgbClr val="23242D"/>
                </a:solidFill>
                <a:latin typeface="Consolas" panose="020B0609020204030204" pitchFamily="49" charset="0"/>
              </a:rPr>
              <a:t>row_count between 200 and 300</a:t>
            </a:r>
            <a:endParaRPr lang="en-IN" sz="1100">
              <a:solidFill>
                <a:srgbClr val="23242D"/>
              </a:solidFill>
              <a:latin typeface="Consolas" panose="020B0609020204030204" pitchFamily="49" charset="0"/>
            </a:endParaRPr>
          </a:p>
        </p:txBody>
      </p:sp>
      <p:sp>
        <p:nvSpPr>
          <p:cNvPr id="14" name="Rectangle: Rounded Corners 13">
            <a:extLst>
              <a:ext uri="{FF2B5EF4-FFF2-40B4-BE49-F238E27FC236}">
                <a16:creationId xmlns:a16="http://schemas.microsoft.com/office/drawing/2014/main" id="{746BF584-4AB7-9EC7-9FD7-7B480A4674A9}"/>
              </a:ext>
            </a:extLst>
          </p:cNvPr>
          <p:cNvSpPr/>
          <p:nvPr/>
        </p:nvSpPr>
        <p:spPr>
          <a:xfrm>
            <a:off x="4978400" y="1765300"/>
            <a:ext cx="1854200" cy="622300"/>
          </a:xfrm>
          <a:prstGeom prst="roundRect">
            <a:avLst>
              <a:gd name="adj" fmla="val 8163"/>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Empty or truncated table</a:t>
            </a:r>
          </a:p>
        </p:txBody>
      </p:sp>
      <p:sp>
        <p:nvSpPr>
          <p:cNvPr id="15" name="Rectangle: Rounded Corners 14">
            <a:extLst>
              <a:ext uri="{FF2B5EF4-FFF2-40B4-BE49-F238E27FC236}">
                <a16:creationId xmlns:a16="http://schemas.microsoft.com/office/drawing/2014/main" id="{1B88DFE3-3884-8007-9DB7-C1ABC399338E}"/>
              </a:ext>
            </a:extLst>
          </p:cNvPr>
          <p:cNvSpPr/>
          <p:nvPr/>
        </p:nvSpPr>
        <p:spPr>
          <a:xfrm>
            <a:off x="762000" y="2425700"/>
            <a:ext cx="1295400" cy="622300"/>
          </a:xfrm>
          <a:prstGeom prst="roundRect">
            <a:avLst>
              <a:gd name="adj" fmla="val 8163"/>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Completeness</a:t>
            </a:r>
          </a:p>
        </p:txBody>
      </p:sp>
      <p:sp>
        <p:nvSpPr>
          <p:cNvPr id="16" name="Rectangle: Rounded Corners 15">
            <a:extLst>
              <a:ext uri="{FF2B5EF4-FFF2-40B4-BE49-F238E27FC236}">
                <a16:creationId xmlns:a16="http://schemas.microsoft.com/office/drawing/2014/main" id="{929587B3-F9B1-B8D6-80BC-E7F759D2237E}"/>
              </a:ext>
            </a:extLst>
          </p:cNvPr>
          <p:cNvSpPr/>
          <p:nvPr/>
        </p:nvSpPr>
        <p:spPr>
          <a:xfrm>
            <a:off x="2082800" y="2425700"/>
            <a:ext cx="2870200" cy="622300"/>
          </a:xfrm>
          <a:prstGeom prst="roundRect">
            <a:avLst>
              <a:gd name="adj" fmla="val 8163"/>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US" sz="1100">
                <a:solidFill>
                  <a:srgbClr val="23242D"/>
                </a:solidFill>
                <a:latin typeface="Consolas" panose="020B0609020204030204" pitchFamily="49" charset="0"/>
              </a:rPr>
              <a:t>missing_count(customer_id) = 0</a:t>
            </a:r>
            <a:endParaRPr lang="en-IN" sz="1100">
              <a:solidFill>
                <a:srgbClr val="23242D"/>
              </a:solidFill>
              <a:latin typeface="Consolas" panose="020B0609020204030204" pitchFamily="49" charset="0"/>
            </a:endParaRPr>
          </a:p>
        </p:txBody>
      </p:sp>
      <p:sp>
        <p:nvSpPr>
          <p:cNvPr id="17" name="Rectangle: Rounded Corners 16">
            <a:extLst>
              <a:ext uri="{FF2B5EF4-FFF2-40B4-BE49-F238E27FC236}">
                <a16:creationId xmlns:a16="http://schemas.microsoft.com/office/drawing/2014/main" id="{CE3802D2-A11B-423C-C124-B3D914E1176B}"/>
              </a:ext>
            </a:extLst>
          </p:cNvPr>
          <p:cNvSpPr/>
          <p:nvPr/>
        </p:nvSpPr>
        <p:spPr>
          <a:xfrm>
            <a:off x="4978400" y="2425700"/>
            <a:ext cx="1854200" cy="622300"/>
          </a:xfrm>
          <a:prstGeom prst="roundRect">
            <a:avLst>
              <a:gd name="adj" fmla="val 8163"/>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Blank required fields</a:t>
            </a:r>
          </a:p>
        </p:txBody>
      </p:sp>
      <p:sp>
        <p:nvSpPr>
          <p:cNvPr id="18" name="Rectangle: Rounded Corners 17">
            <a:extLst>
              <a:ext uri="{FF2B5EF4-FFF2-40B4-BE49-F238E27FC236}">
                <a16:creationId xmlns:a16="http://schemas.microsoft.com/office/drawing/2014/main" id="{3E12023A-6827-5861-A84E-A9F6FDE61E0A}"/>
              </a:ext>
            </a:extLst>
          </p:cNvPr>
          <p:cNvSpPr/>
          <p:nvPr/>
        </p:nvSpPr>
        <p:spPr>
          <a:xfrm>
            <a:off x="762000" y="3086100"/>
            <a:ext cx="1295400" cy="622300"/>
          </a:xfrm>
          <a:prstGeom prst="roundRect">
            <a:avLst>
              <a:gd name="adj" fmla="val 8163"/>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Uniqueness</a:t>
            </a:r>
          </a:p>
        </p:txBody>
      </p:sp>
      <p:sp>
        <p:nvSpPr>
          <p:cNvPr id="19" name="Rectangle: Rounded Corners 18">
            <a:extLst>
              <a:ext uri="{FF2B5EF4-FFF2-40B4-BE49-F238E27FC236}">
                <a16:creationId xmlns:a16="http://schemas.microsoft.com/office/drawing/2014/main" id="{777ACCE3-2094-F15F-1BB1-CC51D8FCBE7A}"/>
              </a:ext>
            </a:extLst>
          </p:cNvPr>
          <p:cNvSpPr/>
          <p:nvPr/>
        </p:nvSpPr>
        <p:spPr>
          <a:xfrm>
            <a:off x="2082800" y="3086100"/>
            <a:ext cx="2870200" cy="622300"/>
          </a:xfrm>
          <a:prstGeom prst="roundRect">
            <a:avLst>
              <a:gd name="adj" fmla="val 8163"/>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US" sz="1100">
                <a:solidFill>
                  <a:srgbClr val="23242D"/>
                </a:solidFill>
                <a:latin typeface="Consolas" panose="020B0609020204030204" pitchFamily="49" charset="0"/>
              </a:rPr>
              <a:t>duplicate_count(order_id) = 0</a:t>
            </a:r>
            <a:endParaRPr lang="en-IN" sz="1100">
              <a:solidFill>
                <a:srgbClr val="23242D"/>
              </a:solidFill>
              <a:latin typeface="Consolas" panose="020B0609020204030204" pitchFamily="49" charset="0"/>
            </a:endParaRPr>
          </a:p>
        </p:txBody>
      </p:sp>
      <p:sp>
        <p:nvSpPr>
          <p:cNvPr id="20" name="Rectangle: Rounded Corners 19">
            <a:extLst>
              <a:ext uri="{FF2B5EF4-FFF2-40B4-BE49-F238E27FC236}">
                <a16:creationId xmlns:a16="http://schemas.microsoft.com/office/drawing/2014/main" id="{32D6875C-AC4E-D420-9B73-FB4C2FF79F03}"/>
              </a:ext>
            </a:extLst>
          </p:cNvPr>
          <p:cNvSpPr/>
          <p:nvPr/>
        </p:nvSpPr>
        <p:spPr>
          <a:xfrm>
            <a:off x="4978400" y="3086100"/>
            <a:ext cx="1854200" cy="622300"/>
          </a:xfrm>
          <a:prstGeom prst="roundRect">
            <a:avLst>
              <a:gd name="adj" fmla="val 8163"/>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Repeated IDs</a:t>
            </a:r>
          </a:p>
        </p:txBody>
      </p:sp>
      <p:sp>
        <p:nvSpPr>
          <p:cNvPr id="21" name="Rectangle: Rounded Corners 20">
            <a:extLst>
              <a:ext uri="{FF2B5EF4-FFF2-40B4-BE49-F238E27FC236}">
                <a16:creationId xmlns:a16="http://schemas.microsoft.com/office/drawing/2014/main" id="{00EB19B7-F252-7C06-6709-1929EEA5BAE9}"/>
              </a:ext>
            </a:extLst>
          </p:cNvPr>
          <p:cNvSpPr/>
          <p:nvPr/>
        </p:nvSpPr>
        <p:spPr>
          <a:xfrm>
            <a:off x="762000" y="3746500"/>
            <a:ext cx="1295400" cy="622300"/>
          </a:xfrm>
          <a:prstGeom prst="roundRect">
            <a:avLst>
              <a:gd name="adj" fmla="val 8163"/>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Validity</a:t>
            </a:r>
          </a:p>
        </p:txBody>
      </p:sp>
      <p:sp>
        <p:nvSpPr>
          <p:cNvPr id="22" name="Rectangle: Rounded Corners 21">
            <a:extLst>
              <a:ext uri="{FF2B5EF4-FFF2-40B4-BE49-F238E27FC236}">
                <a16:creationId xmlns:a16="http://schemas.microsoft.com/office/drawing/2014/main" id="{57D5260A-7D47-7254-8B3F-441C83EA9377}"/>
              </a:ext>
            </a:extLst>
          </p:cNvPr>
          <p:cNvSpPr/>
          <p:nvPr/>
        </p:nvSpPr>
        <p:spPr>
          <a:xfrm>
            <a:off x="2082800" y="3746500"/>
            <a:ext cx="2870200" cy="622300"/>
          </a:xfrm>
          <a:prstGeom prst="roundRect">
            <a:avLst>
              <a:gd name="adj" fmla="val 8163"/>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100">
                <a:solidFill>
                  <a:srgbClr val="23242D"/>
                </a:solidFill>
                <a:latin typeface="Consolas" panose="020B0609020204030204" pitchFamily="49" charset="0"/>
              </a:rPr>
              <a:t>invalid_count(status) = 0</a:t>
            </a:r>
          </a:p>
        </p:txBody>
      </p:sp>
      <p:sp>
        <p:nvSpPr>
          <p:cNvPr id="23" name="Rectangle: Rounded Corners 22">
            <a:extLst>
              <a:ext uri="{FF2B5EF4-FFF2-40B4-BE49-F238E27FC236}">
                <a16:creationId xmlns:a16="http://schemas.microsoft.com/office/drawing/2014/main" id="{B2CAD8FE-C3AB-F941-9C12-7EFB50A0EFF8}"/>
              </a:ext>
            </a:extLst>
          </p:cNvPr>
          <p:cNvSpPr/>
          <p:nvPr/>
        </p:nvSpPr>
        <p:spPr>
          <a:xfrm>
            <a:off x="4978400" y="3746500"/>
            <a:ext cx="1854200" cy="622300"/>
          </a:xfrm>
          <a:prstGeom prst="roundRect">
            <a:avLst>
              <a:gd name="adj" fmla="val 8163"/>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Values outside allowed list</a:t>
            </a:r>
          </a:p>
        </p:txBody>
      </p:sp>
      <p:sp>
        <p:nvSpPr>
          <p:cNvPr id="24" name="Rectangle: Rounded Corners 23">
            <a:extLst>
              <a:ext uri="{FF2B5EF4-FFF2-40B4-BE49-F238E27FC236}">
                <a16:creationId xmlns:a16="http://schemas.microsoft.com/office/drawing/2014/main" id="{1173FE4C-DFBA-5852-152F-2B7CC47B5F83}"/>
              </a:ext>
            </a:extLst>
          </p:cNvPr>
          <p:cNvSpPr/>
          <p:nvPr/>
        </p:nvSpPr>
        <p:spPr>
          <a:xfrm>
            <a:off x="762000" y="4406900"/>
            <a:ext cx="1295400" cy="622300"/>
          </a:xfrm>
          <a:prstGeom prst="roundRect">
            <a:avLst>
              <a:gd name="adj" fmla="val 8163"/>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Range</a:t>
            </a:r>
          </a:p>
        </p:txBody>
      </p:sp>
      <p:sp>
        <p:nvSpPr>
          <p:cNvPr id="25" name="Rectangle: Rounded Corners 24">
            <a:extLst>
              <a:ext uri="{FF2B5EF4-FFF2-40B4-BE49-F238E27FC236}">
                <a16:creationId xmlns:a16="http://schemas.microsoft.com/office/drawing/2014/main" id="{A86DDCE6-2FBA-7F52-D9F0-06707E3429E4}"/>
              </a:ext>
            </a:extLst>
          </p:cNvPr>
          <p:cNvSpPr/>
          <p:nvPr/>
        </p:nvSpPr>
        <p:spPr>
          <a:xfrm>
            <a:off x="2082800" y="4406900"/>
            <a:ext cx="2870200" cy="622300"/>
          </a:xfrm>
          <a:prstGeom prst="roundRect">
            <a:avLst>
              <a:gd name="adj" fmla="val 8163"/>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100">
                <a:solidFill>
                  <a:srgbClr val="23242D"/>
                </a:solidFill>
                <a:latin typeface="Consolas" panose="020B0609020204030204" pitchFamily="49" charset="0"/>
              </a:rPr>
              <a:t>valid min: 0.01 / max: 500000</a:t>
            </a:r>
          </a:p>
        </p:txBody>
      </p:sp>
      <p:sp>
        <p:nvSpPr>
          <p:cNvPr id="26" name="Rectangle: Rounded Corners 25">
            <a:extLst>
              <a:ext uri="{FF2B5EF4-FFF2-40B4-BE49-F238E27FC236}">
                <a16:creationId xmlns:a16="http://schemas.microsoft.com/office/drawing/2014/main" id="{9ACD4D41-44A5-22F8-9F3C-69DA9ECE8720}"/>
              </a:ext>
            </a:extLst>
          </p:cNvPr>
          <p:cNvSpPr/>
          <p:nvPr/>
        </p:nvSpPr>
        <p:spPr>
          <a:xfrm>
            <a:off x="4978400" y="4406900"/>
            <a:ext cx="1854200" cy="622300"/>
          </a:xfrm>
          <a:prstGeom prst="roundRect">
            <a:avLst>
              <a:gd name="adj" fmla="val 8163"/>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Negative or outlier price</a:t>
            </a:r>
          </a:p>
        </p:txBody>
      </p:sp>
      <p:sp>
        <p:nvSpPr>
          <p:cNvPr id="27" name="Rectangle: Rounded Corners 26">
            <a:extLst>
              <a:ext uri="{FF2B5EF4-FFF2-40B4-BE49-F238E27FC236}">
                <a16:creationId xmlns:a16="http://schemas.microsoft.com/office/drawing/2014/main" id="{4EC5DBFA-A8B0-2D14-0FF3-012D80ACD477}"/>
              </a:ext>
            </a:extLst>
          </p:cNvPr>
          <p:cNvSpPr/>
          <p:nvPr/>
        </p:nvSpPr>
        <p:spPr>
          <a:xfrm>
            <a:off x="7048500" y="1371600"/>
            <a:ext cx="4381500" cy="3695700"/>
          </a:xfrm>
          <a:prstGeom prst="roundRect">
            <a:avLst>
              <a:gd name="adj" fmla="val 1375"/>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152400" rIns="127000" bIns="101600" rtlCol="0" anchor="t"/>
          <a:lstStyle/>
          <a:p>
            <a:r>
              <a:rPr lang="en-US" sz="1300">
                <a:solidFill>
                  <a:srgbClr val="E8E2DB"/>
                </a:solidFill>
                <a:latin typeface="Consolas" panose="020B0609020204030204" pitchFamily="49" charset="0"/>
              </a:rPr>
              <a:t>checks for orders:</a:t>
            </a:r>
          </a:p>
          <a:p>
            <a:r>
              <a:rPr lang="en-US" sz="1300">
                <a:solidFill>
                  <a:srgbClr val="E8E2DB"/>
                </a:solidFill>
                <a:latin typeface="Consolas" panose="020B0609020204030204" pitchFamily="49" charset="0"/>
              </a:rPr>
              <a:t>  - row_count between 200 and 300</a:t>
            </a:r>
          </a:p>
          <a:p>
            <a:r>
              <a:rPr lang="en-US" sz="1300">
                <a:solidFill>
                  <a:srgbClr val="E8E2DB"/>
                </a:solidFill>
                <a:latin typeface="Consolas" panose="020B0609020204030204" pitchFamily="49" charset="0"/>
              </a:rPr>
              <a:t>  - missing_count(customer_id) = 0</a:t>
            </a:r>
          </a:p>
          <a:p>
            <a:r>
              <a:rPr lang="en-US" sz="1300">
                <a:solidFill>
                  <a:srgbClr val="E8E2DB"/>
                </a:solidFill>
                <a:latin typeface="Consolas" panose="020B0609020204030204" pitchFamily="49" charset="0"/>
              </a:rPr>
              <a:t>  - duplicate_count(order_id) = 0</a:t>
            </a:r>
          </a:p>
          <a:p>
            <a:r>
              <a:rPr lang="en-US" sz="1300">
                <a:solidFill>
                  <a:srgbClr val="E8E2DB"/>
                </a:solidFill>
                <a:latin typeface="Consolas" panose="020B0609020204030204" pitchFamily="49" charset="0"/>
              </a:rPr>
              <a:t>  - invalid_count(status) = 0:</a:t>
            </a:r>
          </a:p>
          <a:p>
            <a:r>
              <a:rPr lang="en-US" sz="1300">
                <a:solidFill>
                  <a:srgbClr val="E8E2DB"/>
                </a:solidFill>
                <a:latin typeface="Consolas" panose="020B0609020204030204" pitchFamily="49" charset="0"/>
              </a:rPr>
              <a:t>      valid values: ["Pending",</a:t>
            </a:r>
          </a:p>
          <a:p>
            <a:r>
              <a:rPr lang="en-US" sz="1300">
                <a:solidFill>
                  <a:srgbClr val="E8E2DB"/>
                </a:solidFill>
                <a:latin typeface="Consolas" panose="020B0609020204030204" pitchFamily="49" charset="0"/>
              </a:rPr>
              <a:t>        "Shipped", "Delivered",</a:t>
            </a:r>
          </a:p>
          <a:p>
            <a:r>
              <a:rPr lang="en-US" sz="1300">
                <a:solidFill>
                  <a:srgbClr val="E8E2DB"/>
                </a:solidFill>
                <a:latin typeface="Consolas" panose="020B0609020204030204" pitchFamily="49" charset="0"/>
              </a:rPr>
              <a:t>        "Cancelled", "Returned"]</a:t>
            </a:r>
          </a:p>
          <a:p>
            <a:r>
              <a:rPr lang="en-US" sz="1300">
                <a:solidFill>
                  <a:srgbClr val="E8E2DB"/>
                </a:solidFill>
                <a:latin typeface="Consolas" panose="020B0609020204030204" pitchFamily="49" charset="0"/>
              </a:rPr>
              <a:t>  - invalid_count(unit_price) = 0:</a:t>
            </a:r>
          </a:p>
          <a:p>
            <a:r>
              <a:rPr lang="en-US" sz="1300">
                <a:solidFill>
                  <a:srgbClr val="E8E2DB"/>
                </a:solidFill>
                <a:latin typeface="Consolas" panose="020B0609020204030204" pitchFamily="49" charset="0"/>
              </a:rPr>
              <a:t>      valid min: 0.01</a:t>
            </a:r>
            <a:endParaRPr lang="en-IN" sz="1300">
              <a:solidFill>
                <a:srgbClr val="E8E2DB"/>
              </a:solidFill>
              <a:latin typeface="Consolas" panose="020B0609020204030204" pitchFamily="49" charset="0"/>
            </a:endParaRPr>
          </a:p>
        </p:txBody>
      </p:sp>
      <p:sp>
        <p:nvSpPr>
          <p:cNvPr id="28" name="Rectangle: Rounded Corners 27">
            <a:extLst>
              <a:ext uri="{FF2B5EF4-FFF2-40B4-BE49-F238E27FC236}">
                <a16:creationId xmlns:a16="http://schemas.microsoft.com/office/drawing/2014/main" id="{F4438193-2E2F-BA01-5E3E-B27654FF0889}"/>
              </a:ext>
            </a:extLst>
          </p:cNvPr>
          <p:cNvSpPr/>
          <p:nvPr/>
        </p:nvSpPr>
        <p:spPr>
          <a:xfrm>
            <a:off x="762000" y="5334000"/>
            <a:ext cx="10668000" cy="812800"/>
          </a:xfrm>
          <a:prstGeom prst="roundRect">
            <a:avLst>
              <a:gd name="adj" fmla="val 6250"/>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US" sz="1500" b="1">
                <a:solidFill>
                  <a:srgbClr val="FFFFFF"/>
                </a:solidFill>
                <a:latin typeface="Segoe UI" panose="020B0502040204020203" pitchFamily="34" charset="0"/>
              </a:rPr>
              <a:t>17 checks in total: 12 on orders, 5 on customers. Plain YAML, so even non-programmers can read the rules.</a:t>
            </a:r>
            <a:endParaRPr lang="en-IN" sz="1500" b="1">
              <a:solidFill>
                <a:srgbClr val="FFFFFF"/>
              </a:solidFill>
              <a:latin typeface="Segoe UI" panose="020B0502040204020203" pitchFamily="34" charset="0"/>
            </a:endParaRPr>
          </a:p>
        </p:txBody>
      </p:sp>
    </p:spTree>
    <p:extLst>
      <p:ext uri="{BB962C8B-B14F-4D97-AF65-F5344CB8AC3E}">
        <p14:creationId xmlns:p14="http://schemas.microsoft.com/office/powerpoint/2010/main" val="2167412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E8D663-3C48-96DE-28D9-11E049F2C3B7}"/>
              </a:ext>
            </a:extLst>
          </p:cNvPr>
          <p:cNvSpPr txBox="1"/>
          <p:nvPr/>
        </p:nvSpPr>
        <p:spPr>
          <a:xfrm>
            <a:off x="762000" y="304800"/>
            <a:ext cx="10668000" cy="558800"/>
          </a:xfrm>
          <a:prstGeom prst="rect">
            <a:avLst/>
          </a:prstGeom>
          <a:noFill/>
        </p:spPr>
        <p:txBody>
          <a:bodyPr vert="horz" wrap="square" lIns="0" tIns="0" rIns="0" bIns="0" rtlCol="0" anchor="ctr">
            <a:noAutofit/>
          </a:bodyPr>
          <a:lstStyle/>
          <a:p>
            <a:r>
              <a:rPr lang="en-US" sz="3000" b="1">
                <a:solidFill>
                  <a:srgbClr val="23242D"/>
                </a:solidFill>
                <a:latin typeface="Segoe UI" panose="020B0502040204020203" pitchFamily="34" charset="0"/>
              </a:rPr>
              <a:t>Step 4 - Running the Scan</a:t>
            </a:r>
            <a:endParaRPr lang="en-IN" sz="3000" b="1">
              <a:solidFill>
                <a:srgbClr val="23242D"/>
              </a:solidFill>
              <a:latin typeface="Segoe UI" panose="020B0502040204020203" pitchFamily="34" charset="0"/>
            </a:endParaRPr>
          </a:p>
        </p:txBody>
      </p:sp>
      <p:sp>
        <p:nvSpPr>
          <p:cNvPr id="3" name="TextBox 2">
            <a:extLst>
              <a:ext uri="{FF2B5EF4-FFF2-40B4-BE49-F238E27FC236}">
                <a16:creationId xmlns:a16="http://schemas.microsoft.com/office/drawing/2014/main" id="{FE5E12A1-7771-5D5A-9654-FA84339F80D7}"/>
              </a:ext>
            </a:extLst>
          </p:cNvPr>
          <p:cNvSpPr txBox="1"/>
          <p:nvPr/>
        </p:nvSpPr>
        <p:spPr>
          <a:xfrm>
            <a:off x="762000" y="889000"/>
            <a:ext cx="10668000" cy="203200"/>
          </a:xfrm>
          <a:prstGeom prst="rect">
            <a:avLst/>
          </a:prstGeom>
          <a:noFill/>
        </p:spPr>
        <p:txBody>
          <a:bodyPr vert="horz" wrap="square" lIns="0" tIns="0" rIns="0" bIns="0" rtlCol="0" anchor="t">
            <a:noAutofit/>
          </a:bodyPr>
          <a:lstStyle/>
          <a:p>
            <a:r>
              <a:rPr lang="en-US" sz="1100" b="1">
                <a:solidFill>
                  <a:srgbClr val="C97B5A"/>
                </a:solidFill>
                <a:latin typeface="Segoe UI" panose="020B0502040204020203" pitchFamily="34" charset="0"/>
              </a:rPr>
              <a:t>LIVE DEMO  |  scripts/run_demo.py</a:t>
            </a:r>
            <a:endParaRPr lang="en-IN" sz="1100" b="1">
              <a:solidFill>
                <a:srgbClr val="C97B5A"/>
              </a:solidFill>
              <a:latin typeface="Segoe UI" panose="020B0502040204020203" pitchFamily="34" charset="0"/>
            </a:endParaRPr>
          </a:p>
        </p:txBody>
      </p:sp>
      <p:cxnSp>
        <p:nvCxnSpPr>
          <p:cNvPr id="4" name="Straight Connector 3">
            <a:extLst>
              <a:ext uri="{FF2B5EF4-FFF2-40B4-BE49-F238E27FC236}">
                <a16:creationId xmlns:a16="http://schemas.microsoft.com/office/drawing/2014/main" id="{8AFA1944-19D7-EF22-9A1F-32C22CAAE3FC}"/>
              </a:ext>
            </a:extLst>
          </p:cNvPr>
          <p:cNvCxnSpPr/>
          <p:nvPr/>
        </p:nvCxnSpPr>
        <p:spPr>
          <a:xfrm>
            <a:off x="762000" y="1168400"/>
            <a:ext cx="10668000" cy="0"/>
          </a:xfrm>
          <a:prstGeom prst="line">
            <a:avLst/>
          </a:prstGeom>
          <a:ln w="12700">
            <a:solidFill>
              <a:srgbClr val="D9B8A6"/>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B2DEFF4-2384-EDD4-3667-BC794FF29FB9}"/>
              </a:ext>
            </a:extLst>
          </p:cNvPr>
          <p:cNvCxnSpPr/>
          <p:nvPr/>
        </p:nvCxnSpPr>
        <p:spPr>
          <a:xfrm>
            <a:off x="762000" y="6426200"/>
            <a:ext cx="10668000" cy="0"/>
          </a:xfrm>
          <a:prstGeom prst="line">
            <a:avLst/>
          </a:prstGeom>
          <a:ln w="9525">
            <a:solidFill>
              <a:srgbClr val="C9C5B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666C8868-C9A1-3BD8-5F0A-7179B17A616A}"/>
              </a:ext>
            </a:extLst>
          </p:cNvPr>
          <p:cNvSpPr txBox="1"/>
          <p:nvPr/>
        </p:nvSpPr>
        <p:spPr>
          <a:xfrm>
            <a:off x="762000" y="6502400"/>
            <a:ext cx="5080000" cy="203200"/>
          </a:xfrm>
          <a:prstGeom prst="rect">
            <a:avLst/>
          </a:prstGeom>
          <a:noFill/>
        </p:spPr>
        <p:txBody>
          <a:bodyPr vert="horz" wrap="square" lIns="0" tIns="0" rIns="0" bIns="0" rtlCol="0" anchor="t">
            <a:noAutofit/>
          </a:bodyPr>
          <a:lstStyle/>
          <a:p>
            <a:r>
              <a:rPr lang="en-US" sz="1000">
                <a:solidFill>
                  <a:srgbClr val="6B6A68"/>
                </a:solidFill>
                <a:latin typeface="Segoe UI" panose="020B0502040204020203" pitchFamily="34" charset="0"/>
              </a:rPr>
              <a:t>Data Engineering - Case Study 14</a:t>
            </a:r>
            <a:endParaRPr lang="en-IN" sz="1000">
              <a:solidFill>
                <a:srgbClr val="6B6A68"/>
              </a:solidFill>
              <a:latin typeface="Segoe UI" panose="020B0502040204020203" pitchFamily="34" charset="0"/>
            </a:endParaRPr>
          </a:p>
        </p:txBody>
      </p:sp>
      <p:sp>
        <p:nvSpPr>
          <p:cNvPr id="7" name="TextBox 6">
            <a:extLst>
              <a:ext uri="{FF2B5EF4-FFF2-40B4-BE49-F238E27FC236}">
                <a16:creationId xmlns:a16="http://schemas.microsoft.com/office/drawing/2014/main" id="{D635FCEE-24E4-670F-F9AB-B8FB0FCA2B24}"/>
              </a:ext>
            </a:extLst>
          </p:cNvPr>
          <p:cNvSpPr txBox="1"/>
          <p:nvPr/>
        </p:nvSpPr>
        <p:spPr>
          <a:xfrm>
            <a:off x="4826000" y="6502400"/>
            <a:ext cx="2540000" cy="203200"/>
          </a:xfrm>
          <a:prstGeom prst="rect">
            <a:avLst/>
          </a:prstGeom>
          <a:noFill/>
        </p:spPr>
        <p:txBody>
          <a:bodyPr vert="horz" wrap="square" lIns="0" tIns="0" rIns="0" bIns="0" rtlCol="0" anchor="t">
            <a:noAutofit/>
          </a:bodyPr>
          <a:lstStyle/>
          <a:p>
            <a:pPr algn="ctr"/>
            <a:r>
              <a:rPr lang="en-IN" sz="1000" b="1">
                <a:solidFill>
                  <a:srgbClr val="C97B5A"/>
                </a:solidFill>
                <a:latin typeface="Segoe UI" panose="020B0502040204020203" pitchFamily="34" charset="0"/>
              </a:rPr>
              <a:t>Presenter: Shubham Singh</a:t>
            </a:r>
          </a:p>
        </p:txBody>
      </p:sp>
      <p:sp>
        <p:nvSpPr>
          <p:cNvPr id="8" name="TextBox 7">
            <a:extLst>
              <a:ext uri="{FF2B5EF4-FFF2-40B4-BE49-F238E27FC236}">
                <a16:creationId xmlns:a16="http://schemas.microsoft.com/office/drawing/2014/main" id="{17B177B2-7E1E-64FD-6F2D-640B92273FD5}"/>
              </a:ext>
            </a:extLst>
          </p:cNvPr>
          <p:cNvSpPr txBox="1"/>
          <p:nvPr/>
        </p:nvSpPr>
        <p:spPr>
          <a:xfrm>
            <a:off x="10668000" y="6502400"/>
            <a:ext cx="762000" cy="203200"/>
          </a:xfrm>
          <a:prstGeom prst="rect">
            <a:avLst/>
          </a:prstGeom>
          <a:noFill/>
        </p:spPr>
        <p:txBody>
          <a:bodyPr vert="horz" wrap="square" lIns="0" tIns="0" rIns="0" bIns="0" rtlCol="0" anchor="t">
            <a:noAutofit/>
          </a:bodyPr>
          <a:lstStyle/>
          <a:p>
            <a:pPr algn="r"/>
            <a:r>
              <a:rPr lang="en-IN" sz="1000">
                <a:solidFill>
                  <a:srgbClr val="6B6A68"/>
                </a:solidFill>
                <a:latin typeface="Segoe UI" panose="020B0502040204020203" pitchFamily="34" charset="0"/>
              </a:rPr>
              <a:t>6</a:t>
            </a:r>
          </a:p>
        </p:txBody>
      </p:sp>
      <p:sp>
        <p:nvSpPr>
          <p:cNvPr id="9" name="Rectangle: Rounded Corners 8">
            <a:extLst>
              <a:ext uri="{FF2B5EF4-FFF2-40B4-BE49-F238E27FC236}">
                <a16:creationId xmlns:a16="http://schemas.microsoft.com/office/drawing/2014/main" id="{41DC1DC3-148C-A4ED-9923-4D95DFA365AA}"/>
              </a:ext>
            </a:extLst>
          </p:cNvPr>
          <p:cNvSpPr/>
          <p:nvPr/>
        </p:nvSpPr>
        <p:spPr>
          <a:xfrm>
            <a:off x="762000" y="1371600"/>
            <a:ext cx="2476500" cy="965200"/>
          </a:xfrm>
          <a:prstGeom prst="roundRect">
            <a:avLst>
              <a:gd name="adj" fmla="val 5263"/>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9464AEA9-2BB2-E173-FC5A-2F74926FE5B9}"/>
              </a:ext>
            </a:extLst>
          </p:cNvPr>
          <p:cNvSpPr txBox="1"/>
          <p:nvPr/>
        </p:nvSpPr>
        <p:spPr>
          <a:xfrm>
            <a:off x="889000" y="1447800"/>
            <a:ext cx="508000" cy="177800"/>
          </a:xfrm>
          <a:prstGeom prst="rect">
            <a:avLst/>
          </a:prstGeom>
          <a:noFill/>
        </p:spPr>
        <p:txBody>
          <a:bodyPr vert="horz" wrap="square" lIns="0" tIns="0" rIns="0" bIns="0" rtlCol="0" anchor="t">
            <a:noAutofit/>
          </a:bodyPr>
          <a:lstStyle/>
          <a:p>
            <a:r>
              <a:rPr lang="en-IN" sz="1000" b="1">
                <a:solidFill>
                  <a:srgbClr val="D98B6A"/>
                </a:solidFill>
                <a:latin typeface="Segoe UI" panose="020B0502040204020203" pitchFamily="34" charset="0"/>
              </a:rPr>
              <a:t>01</a:t>
            </a:r>
          </a:p>
        </p:txBody>
      </p:sp>
      <p:sp>
        <p:nvSpPr>
          <p:cNvPr id="11" name="TextBox 10">
            <a:extLst>
              <a:ext uri="{FF2B5EF4-FFF2-40B4-BE49-F238E27FC236}">
                <a16:creationId xmlns:a16="http://schemas.microsoft.com/office/drawing/2014/main" id="{E04957A8-C196-6C8F-C4D5-3309709EBDA4}"/>
              </a:ext>
            </a:extLst>
          </p:cNvPr>
          <p:cNvSpPr txBox="1"/>
          <p:nvPr/>
        </p:nvSpPr>
        <p:spPr>
          <a:xfrm>
            <a:off x="762000" y="1625600"/>
            <a:ext cx="2476500" cy="355600"/>
          </a:xfrm>
          <a:prstGeom prst="rect">
            <a:avLst/>
          </a:prstGeom>
          <a:noFill/>
        </p:spPr>
        <p:txBody>
          <a:bodyPr vert="horz" wrap="square" lIns="0" tIns="0" rIns="0" bIns="0" rtlCol="0" anchor="t">
            <a:noAutofit/>
          </a:bodyPr>
          <a:lstStyle/>
          <a:p>
            <a:pPr algn="ctr"/>
            <a:r>
              <a:rPr lang="en-IN" sz="1500" b="1">
                <a:solidFill>
                  <a:srgbClr val="FFFFFF"/>
                </a:solidFill>
                <a:latin typeface="Segoe UI" panose="020B0502040204020203" pitchFamily="34" charset="0"/>
              </a:rPr>
              <a:t>GENERATE</a:t>
            </a:r>
          </a:p>
        </p:txBody>
      </p:sp>
      <p:sp>
        <p:nvSpPr>
          <p:cNvPr id="12" name="TextBox 11">
            <a:extLst>
              <a:ext uri="{FF2B5EF4-FFF2-40B4-BE49-F238E27FC236}">
                <a16:creationId xmlns:a16="http://schemas.microsoft.com/office/drawing/2014/main" id="{6F7A8B82-3D5C-4943-A051-DFEABD849979}"/>
              </a:ext>
            </a:extLst>
          </p:cNvPr>
          <p:cNvSpPr txBox="1"/>
          <p:nvPr/>
        </p:nvSpPr>
        <p:spPr>
          <a:xfrm>
            <a:off x="762000" y="1981200"/>
            <a:ext cx="2476500" cy="254000"/>
          </a:xfrm>
          <a:prstGeom prst="rect">
            <a:avLst/>
          </a:prstGeom>
          <a:noFill/>
        </p:spPr>
        <p:txBody>
          <a:bodyPr vert="horz" wrap="square" lIns="0" tIns="0" rIns="0" bIns="0" rtlCol="0" anchor="t">
            <a:noAutofit/>
          </a:bodyPr>
          <a:lstStyle/>
          <a:p>
            <a:pPr algn="ctr"/>
            <a:r>
              <a:rPr lang="en-IN" sz="1100">
                <a:solidFill>
                  <a:srgbClr val="FFFFFF"/>
                </a:solidFill>
                <a:latin typeface="Segoe UI" panose="020B0502040204020203" pitchFamily="34" charset="0"/>
              </a:rPr>
              <a:t>Create 260 orders</a:t>
            </a:r>
          </a:p>
        </p:txBody>
      </p:sp>
      <p:cxnSp>
        <p:nvCxnSpPr>
          <p:cNvPr id="13" name="Straight Connector 12">
            <a:extLst>
              <a:ext uri="{FF2B5EF4-FFF2-40B4-BE49-F238E27FC236}">
                <a16:creationId xmlns:a16="http://schemas.microsoft.com/office/drawing/2014/main" id="{E24AF441-EEFB-4885-31C4-3AE32AD6FE8A}"/>
              </a:ext>
            </a:extLst>
          </p:cNvPr>
          <p:cNvCxnSpPr/>
          <p:nvPr/>
        </p:nvCxnSpPr>
        <p:spPr>
          <a:xfrm>
            <a:off x="3263900" y="1854200"/>
            <a:ext cx="266700" cy="0"/>
          </a:xfrm>
          <a:prstGeom prst="line">
            <a:avLst/>
          </a:prstGeom>
          <a:ln w="19050">
            <a:solidFill>
              <a:srgbClr val="C97B5A"/>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019DB6F8-9847-F92E-30F9-47C6ADF986B9}"/>
              </a:ext>
            </a:extLst>
          </p:cNvPr>
          <p:cNvSpPr/>
          <p:nvPr/>
        </p:nvSpPr>
        <p:spPr>
          <a:xfrm>
            <a:off x="3492500" y="1371600"/>
            <a:ext cx="2476500" cy="965200"/>
          </a:xfrm>
          <a:prstGeom prst="roundRect">
            <a:avLst>
              <a:gd name="adj" fmla="val 5263"/>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34F39A7B-3DFF-53D3-8965-A4B9696798B7}"/>
              </a:ext>
            </a:extLst>
          </p:cNvPr>
          <p:cNvSpPr txBox="1"/>
          <p:nvPr/>
        </p:nvSpPr>
        <p:spPr>
          <a:xfrm>
            <a:off x="3619500" y="1447800"/>
            <a:ext cx="508000" cy="177800"/>
          </a:xfrm>
          <a:prstGeom prst="rect">
            <a:avLst/>
          </a:prstGeom>
          <a:noFill/>
        </p:spPr>
        <p:txBody>
          <a:bodyPr vert="horz" wrap="square" lIns="0" tIns="0" rIns="0" bIns="0" rtlCol="0" anchor="t">
            <a:noAutofit/>
          </a:bodyPr>
          <a:lstStyle/>
          <a:p>
            <a:r>
              <a:rPr lang="en-IN" sz="1000" b="1">
                <a:solidFill>
                  <a:srgbClr val="D98B6A"/>
                </a:solidFill>
                <a:latin typeface="Segoe UI" panose="020B0502040204020203" pitchFamily="34" charset="0"/>
              </a:rPr>
              <a:t>02</a:t>
            </a:r>
          </a:p>
        </p:txBody>
      </p:sp>
      <p:sp>
        <p:nvSpPr>
          <p:cNvPr id="16" name="TextBox 15">
            <a:extLst>
              <a:ext uri="{FF2B5EF4-FFF2-40B4-BE49-F238E27FC236}">
                <a16:creationId xmlns:a16="http://schemas.microsoft.com/office/drawing/2014/main" id="{2643E209-69F7-2CD5-882B-85EB3D05FA8F}"/>
              </a:ext>
            </a:extLst>
          </p:cNvPr>
          <p:cNvSpPr txBox="1"/>
          <p:nvPr/>
        </p:nvSpPr>
        <p:spPr>
          <a:xfrm>
            <a:off x="3492500" y="1625600"/>
            <a:ext cx="2476500" cy="355600"/>
          </a:xfrm>
          <a:prstGeom prst="rect">
            <a:avLst/>
          </a:prstGeom>
          <a:noFill/>
        </p:spPr>
        <p:txBody>
          <a:bodyPr vert="horz" wrap="square" lIns="0" tIns="0" rIns="0" bIns="0" rtlCol="0" anchor="t">
            <a:noAutofit/>
          </a:bodyPr>
          <a:lstStyle/>
          <a:p>
            <a:pPr algn="ctr"/>
            <a:r>
              <a:rPr lang="en-IN" sz="1500" b="1">
                <a:solidFill>
                  <a:srgbClr val="FFFFFF"/>
                </a:solidFill>
                <a:latin typeface="Segoe UI" panose="020B0502040204020203" pitchFamily="34" charset="0"/>
              </a:rPr>
              <a:t>LOAD</a:t>
            </a:r>
          </a:p>
        </p:txBody>
      </p:sp>
      <p:sp>
        <p:nvSpPr>
          <p:cNvPr id="17" name="TextBox 16">
            <a:extLst>
              <a:ext uri="{FF2B5EF4-FFF2-40B4-BE49-F238E27FC236}">
                <a16:creationId xmlns:a16="http://schemas.microsoft.com/office/drawing/2014/main" id="{B2183FFC-1E77-7136-A1FF-6153C989B809}"/>
              </a:ext>
            </a:extLst>
          </p:cNvPr>
          <p:cNvSpPr txBox="1"/>
          <p:nvPr/>
        </p:nvSpPr>
        <p:spPr>
          <a:xfrm>
            <a:off x="3492500" y="1981200"/>
            <a:ext cx="2476500" cy="254000"/>
          </a:xfrm>
          <a:prstGeom prst="rect">
            <a:avLst/>
          </a:prstGeom>
          <a:noFill/>
        </p:spPr>
        <p:txBody>
          <a:bodyPr vert="horz" wrap="square" lIns="0" tIns="0" rIns="0" bIns="0" rtlCol="0" anchor="t">
            <a:noAutofit/>
          </a:bodyPr>
          <a:lstStyle/>
          <a:p>
            <a:pPr algn="ctr"/>
            <a:r>
              <a:rPr lang="en-IN" sz="1100">
                <a:solidFill>
                  <a:srgbClr val="FFFFFF"/>
                </a:solidFill>
                <a:latin typeface="Segoe UI" panose="020B0502040204020203" pitchFamily="34" charset="0"/>
              </a:rPr>
              <a:t>Into DuckDB</a:t>
            </a:r>
          </a:p>
        </p:txBody>
      </p:sp>
      <p:cxnSp>
        <p:nvCxnSpPr>
          <p:cNvPr id="18" name="Straight Connector 17">
            <a:extLst>
              <a:ext uri="{FF2B5EF4-FFF2-40B4-BE49-F238E27FC236}">
                <a16:creationId xmlns:a16="http://schemas.microsoft.com/office/drawing/2014/main" id="{301D691C-AFB9-3AED-A7ED-7AFFB396CDE0}"/>
              </a:ext>
            </a:extLst>
          </p:cNvPr>
          <p:cNvCxnSpPr/>
          <p:nvPr/>
        </p:nvCxnSpPr>
        <p:spPr>
          <a:xfrm>
            <a:off x="5994400" y="1854200"/>
            <a:ext cx="266700" cy="0"/>
          </a:xfrm>
          <a:prstGeom prst="line">
            <a:avLst/>
          </a:prstGeom>
          <a:ln w="19050">
            <a:solidFill>
              <a:srgbClr val="C97B5A"/>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C1B8B7F3-4F7F-F381-2606-8B564E75D533}"/>
              </a:ext>
            </a:extLst>
          </p:cNvPr>
          <p:cNvSpPr/>
          <p:nvPr/>
        </p:nvSpPr>
        <p:spPr>
          <a:xfrm>
            <a:off x="6223000" y="1371600"/>
            <a:ext cx="2476500" cy="965200"/>
          </a:xfrm>
          <a:prstGeom prst="roundRect">
            <a:avLst>
              <a:gd name="adj" fmla="val 5263"/>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9ECEC2DE-0B3B-28CB-BDF9-BCC1BE586498}"/>
              </a:ext>
            </a:extLst>
          </p:cNvPr>
          <p:cNvSpPr txBox="1"/>
          <p:nvPr/>
        </p:nvSpPr>
        <p:spPr>
          <a:xfrm>
            <a:off x="6350000" y="1447800"/>
            <a:ext cx="508000" cy="177800"/>
          </a:xfrm>
          <a:prstGeom prst="rect">
            <a:avLst/>
          </a:prstGeom>
          <a:noFill/>
        </p:spPr>
        <p:txBody>
          <a:bodyPr vert="horz" wrap="square" lIns="0" tIns="0" rIns="0" bIns="0" rtlCol="0" anchor="t">
            <a:noAutofit/>
          </a:bodyPr>
          <a:lstStyle/>
          <a:p>
            <a:r>
              <a:rPr lang="en-IN" sz="1000" b="1">
                <a:solidFill>
                  <a:srgbClr val="D98B6A"/>
                </a:solidFill>
                <a:latin typeface="Segoe UI" panose="020B0502040204020203" pitchFamily="34" charset="0"/>
              </a:rPr>
              <a:t>03</a:t>
            </a:r>
          </a:p>
        </p:txBody>
      </p:sp>
      <p:sp>
        <p:nvSpPr>
          <p:cNvPr id="21" name="TextBox 20">
            <a:extLst>
              <a:ext uri="{FF2B5EF4-FFF2-40B4-BE49-F238E27FC236}">
                <a16:creationId xmlns:a16="http://schemas.microsoft.com/office/drawing/2014/main" id="{4F454BDF-4EEC-1E7D-C62C-993DA32C8652}"/>
              </a:ext>
            </a:extLst>
          </p:cNvPr>
          <p:cNvSpPr txBox="1"/>
          <p:nvPr/>
        </p:nvSpPr>
        <p:spPr>
          <a:xfrm>
            <a:off x="6223000" y="1625600"/>
            <a:ext cx="2476500" cy="355600"/>
          </a:xfrm>
          <a:prstGeom prst="rect">
            <a:avLst/>
          </a:prstGeom>
          <a:noFill/>
        </p:spPr>
        <p:txBody>
          <a:bodyPr vert="horz" wrap="square" lIns="0" tIns="0" rIns="0" bIns="0" rtlCol="0" anchor="t">
            <a:noAutofit/>
          </a:bodyPr>
          <a:lstStyle/>
          <a:p>
            <a:pPr algn="ctr"/>
            <a:r>
              <a:rPr lang="en-IN" sz="1500" b="1">
                <a:solidFill>
                  <a:srgbClr val="FFFFFF"/>
                </a:solidFill>
                <a:latin typeface="Segoe UI" panose="020B0502040204020203" pitchFamily="34" charset="0"/>
              </a:rPr>
              <a:t>CONNECT</a:t>
            </a:r>
          </a:p>
        </p:txBody>
      </p:sp>
      <p:sp>
        <p:nvSpPr>
          <p:cNvPr id="22" name="TextBox 21">
            <a:extLst>
              <a:ext uri="{FF2B5EF4-FFF2-40B4-BE49-F238E27FC236}">
                <a16:creationId xmlns:a16="http://schemas.microsoft.com/office/drawing/2014/main" id="{A2D6BC35-1358-D477-07A9-B118F8E46DB4}"/>
              </a:ext>
            </a:extLst>
          </p:cNvPr>
          <p:cNvSpPr txBox="1"/>
          <p:nvPr/>
        </p:nvSpPr>
        <p:spPr>
          <a:xfrm>
            <a:off x="6223000" y="1981200"/>
            <a:ext cx="2476500" cy="254000"/>
          </a:xfrm>
          <a:prstGeom prst="rect">
            <a:avLst/>
          </a:prstGeom>
          <a:noFill/>
        </p:spPr>
        <p:txBody>
          <a:bodyPr vert="horz" wrap="square" lIns="0" tIns="0" rIns="0" bIns="0" rtlCol="0" anchor="t">
            <a:noAutofit/>
          </a:bodyPr>
          <a:lstStyle/>
          <a:p>
            <a:pPr algn="ctr"/>
            <a:r>
              <a:rPr lang="en-IN" sz="1100">
                <a:solidFill>
                  <a:srgbClr val="FFFFFF"/>
                </a:solidFill>
                <a:latin typeface="Segoe UI" panose="020B0502040204020203" pitchFamily="34" charset="0"/>
              </a:rPr>
              <a:t>soda test-connection</a:t>
            </a:r>
          </a:p>
        </p:txBody>
      </p:sp>
      <p:cxnSp>
        <p:nvCxnSpPr>
          <p:cNvPr id="23" name="Straight Connector 22">
            <a:extLst>
              <a:ext uri="{FF2B5EF4-FFF2-40B4-BE49-F238E27FC236}">
                <a16:creationId xmlns:a16="http://schemas.microsoft.com/office/drawing/2014/main" id="{8066E498-FB0A-406C-E001-3AFB7514E514}"/>
              </a:ext>
            </a:extLst>
          </p:cNvPr>
          <p:cNvCxnSpPr/>
          <p:nvPr/>
        </p:nvCxnSpPr>
        <p:spPr>
          <a:xfrm>
            <a:off x="8724900" y="1854200"/>
            <a:ext cx="266700" cy="0"/>
          </a:xfrm>
          <a:prstGeom prst="line">
            <a:avLst/>
          </a:prstGeom>
          <a:ln w="19050">
            <a:solidFill>
              <a:srgbClr val="C97B5A"/>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E876EEDB-0D6B-0CC0-27B9-268D432B73FF}"/>
              </a:ext>
            </a:extLst>
          </p:cNvPr>
          <p:cNvSpPr/>
          <p:nvPr/>
        </p:nvSpPr>
        <p:spPr>
          <a:xfrm>
            <a:off x="8953500" y="1371600"/>
            <a:ext cx="2476500" cy="965200"/>
          </a:xfrm>
          <a:prstGeom prst="roundRect">
            <a:avLst>
              <a:gd name="adj" fmla="val 5263"/>
            </a:avLst>
          </a:prstGeom>
          <a:solidFill>
            <a:srgbClr val="D98B6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D32B5AEF-F197-3AD9-2449-3C80B5FDE263}"/>
              </a:ext>
            </a:extLst>
          </p:cNvPr>
          <p:cNvSpPr txBox="1"/>
          <p:nvPr/>
        </p:nvSpPr>
        <p:spPr>
          <a:xfrm>
            <a:off x="9080500" y="1447800"/>
            <a:ext cx="508000" cy="177800"/>
          </a:xfrm>
          <a:prstGeom prst="rect">
            <a:avLst/>
          </a:prstGeom>
          <a:noFill/>
        </p:spPr>
        <p:txBody>
          <a:bodyPr vert="horz" wrap="square" lIns="0" tIns="0" rIns="0" bIns="0" rtlCol="0" anchor="t">
            <a:noAutofit/>
          </a:bodyPr>
          <a:lstStyle/>
          <a:p>
            <a:r>
              <a:rPr lang="en-IN" sz="1000" b="1">
                <a:solidFill>
                  <a:srgbClr val="FFFFFF"/>
                </a:solidFill>
                <a:latin typeface="Segoe UI" panose="020B0502040204020203" pitchFamily="34" charset="0"/>
              </a:rPr>
              <a:t>04</a:t>
            </a:r>
          </a:p>
        </p:txBody>
      </p:sp>
      <p:sp>
        <p:nvSpPr>
          <p:cNvPr id="26" name="TextBox 25">
            <a:extLst>
              <a:ext uri="{FF2B5EF4-FFF2-40B4-BE49-F238E27FC236}">
                <a16:creationId xmlns:a16="http://schemas.microsoft.com/office/drawing/2014/main" id="{2CDF2030-9588-74B8-98FF-399080CF9340}"/>
              </a:ext>
            </a:extLst>
          </p:cNvPr>
          <p:cNvSpPr txBox="1"/>
          <p:nvPr/>
        </p:nvSpPr>
        <p:spPr>
          <a:xfrm>
            <a:off x="8953500" y="1625600"/>
            <a:ext cx="2476500" cy="355600"/>
          </a:xfrm>
          <a:prstGeom prst="rect">
            <a:avLst/>
          </a:prstGeom>
          <a:noFill/>
        </p:spPr>
        <p:txBody>
          <a:bodyPr vert="horz" wrap="square" lIns="0" tIns="0" rIns="0" bIns="0" rtlCol="0" anchor="t">
            <a:noAutofit/>
          </a:bodyPr>
          <a:lstStyle/>
          <a:p>
            <a:pPr algn="ctr"/>
            <a:r>
              <a:rPr lang="en-IN" sz="1500" b="1">
                <a:solidFill>
                  <a:srgbClr val="FFFFFF"/>
                </a:solidFill>
                <a:latin typeface="Segoe UI" panose="020B0502040204020203" pitchFamily="34" charset="0"/>
              </a:rPr>
              <a:t>SCAN</a:t>
            </a:r>
          </a:p>
        </p:txBody>
      </p:sp>
      <p:sp>
        <p:nvSpPr>
          <p:cNvPr id="27" name="TextBox 26">
            <a:extLst>
              <a:ext uri="{FF2B5EF4-FFF2-40B4-BE49-F238E27FC236}">
                <a16:creationId xmlns:a16="http://schemas.microsoft.com/office/drawing/2014/main" id="{B3AF97AB-D74E-2D8B-D7A2-C1EC365CA9D3}"/>
              </a:ext>
            </a:extLst>
          </p:cNvPr>
          <p:cNvSpPr txBox="1"/>
          <p:nvPr/>
        </p:nvSpPr>
        <p:spPr>
          <a:xfrm>
            <a:off x="8953500" y="1981200"/>
            <a:ext cx="2476500" cy="254000"/>
          </a:xfrm>
          <a:prstGeom prst="rect">
            <a:avLst/>
          </a:prstGeom>
          <a:noFill/>
        </p:spPr>
        <p:txBody>
          <a:bodyPr vert="horz" wrap="square" lIns="0" tIns="0" rIns="0" bIns="0" rtlCol="0" anchor="t">
            <a:noAutofit/>
          </a:bodyPr>
          <a:lstStyle/>
          <a:p>
            <a:pPr algn="ctr"/>
            <a:r>
              <a:rPr lang="en-IN" sz="1100">
                <a:solidFill>
                  <a:srgbClr val="FFFFFF"/>
                </a:solidFill>
                <a:latin typeface="Segoe UI" panose="020B0502040204020203" pitchFamily="34" charset="0"/>
              </a:rPr>
              <a:t>Run all 17 checks</a:t>
            </a:r>
          </a:p>
        </p:txBody>
      </p:sp>
      <p:sp>
        <p:nvSpPr>
          <p:cNvPr id="28" name="Rectangle: Rounded Corners 27">
            <a:extLst>
              <a:ext uri="{FF2B5EF4-FFF2-40B4-BE49-F238E27FC236}">
                <a16:creationId xmlns:a16="http://schemas.microsoft.com/office/drawing/2014/main" id="{82C9946F-A89A-F9F0-7DC6-CFB21AA5839D}"/>
              </a:ext>
            </a:extLst>
          </p:cNvPr>
          <p:cNvSpPr/>
          <p:nvPr/>
        </p:nvSpPr>
        <p:spPr>
          <a:xfrm>
            <a:off x="762000" y="2590800"/>
            <a:ext cx="3683000" cy="2717800"/>
          </a:xfrm>
          <a:prstGeom prst="roundRect">
            <a:avLst>
              <a:gd name="adj" fmla="val 1869"/>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F7D91FDF-B0A8-EC2F-819C-D5E220BF3529}"/>
              </a:ext>
            </a:extLst>
          </p:cNvPr>
          <p:cNvSpPr txBox="1"/>
          <p:nvPr/>
        </p:nvSpPr>
        <p:spPr>
          <a:xfrm>
            <a:off x="965200" y="2743200"/>
            <a:ext cx="3302000" cy="228600"/>
          </a:xfrm>
          <a:prstGeom prst="rect">
            <a:avLst/>
          </a:prstGeom>
          <a:noFill/>
        </p:spPr>
        <p:txBody>
          <a:bodyPr vert="horz" wrap="square" lIns="0" tIns="0" rIns="0" bIns="0" rtlCol="0" anchor="t">
            <a:noAutofit/>
          </a:bodyPr>
          <a:lstStyle/>
          <a:p>
            <a:r>
              <a:rPr lang="en-IN" sz="1200" b="1">
                <a:solidFill>
                  <a:srgbClr val="C97B5A"/>
                </a:solidFill>
                <a:latin typeface="Segoe UI" panose="020B0502040204020203" pitchFamily="34" charset="0"/>
              </a:rPr>
              <a:t>WHAT SODA DOES</a:t>
            </a:r>
          </a:p>
        </p:txBody>
      </p:sp>
      <p:sp>
        <p:nvSpPr>
          <p:cNvPr id="30" name="TextBox 29">
            <a:extLst>
              <a:ext uri="{FF2B5EF4-FFF2-40B4-BE49-F238E27FC236}">
                <a16:creationId xmlns:a16="http://schemas.microsoft.com/office/drawing/2014/main" id="{93C8A5D1-7C7D-A8DD-53E1-7BBB42A377B0}"/>
              </a:ext>
            </a:extLst>
          </p:cNvPr>
          <p:cNvSpPr txBox="1"/>
          <p:nvPr/>
        </p:nvSpPr>
        <p:spPr>
          <a:xfrm>
            <a:off x="965200" y="3073400"/>
            <a:ext cx="3327400" cy="2159000"/>
          </a:xfrm>
          <a:prstGeom prst="rect">
            <a:avLst/>
          </a:prstGeom>
          <a:noFill/>
        </p:spPr>
        <p:txBody>
          <a:bodyPr vert="horz" wrap="square" lIns="0" tIns="0" rIns="0" bIns="0" rtlCol="0" anchor="t">
            <a:noAutofit/>
          </a:bodyPr>
          <a:lstStyle/>
          <a:p>
            <a:pPr marL="203200" indent="-203200">
              <a:spcAft>
                <a:spcPts val="700"/>
              </a:spcAft>
              <a:buClr>
                <a:srgbClr val="C97B5A"/>
              </a:buClr>
              <a:buFont typeface="+mj-lt"/>
              <a:buChar char="•"/>
            </a:pPr>
            <a:r>
              <a:rPr lang="en-US" sz="1300">
                <a:solidFill>
                  <a:srgbClr val="23242D"/>
                </a:solidFill>
                <a:latin typeface="Segoe UI" panose="020B0502040204020203" pitchFamily="34" charset="0"/>
              </a:rPr>
              <a:t>Reads checks.yml</a:t>
            </a:r>
          </a:p>
          <a:p>
            <a:pPr marL="203200" indent="-203200">
              <a:spcAft>
                <a:spcPts val="700"/>
              </a:spcAft>
              <a:buClr>
                <a:srgbClr val="C97B5A"/>
              </a:buClr>
              <a:buFont typeface="+mj-lt"/>
              <a:buChar char="•"/>
            </a:pPr>
            <a:r>
              <a:rPr lang="en-US" sz="1300">
                <a:solidFill>
                  <a:srgbClr val="23242D"/>
                </a:solidFill>
                <a:latin typeface="Segoe UI" panose="020B0502040204020203" pitchFamily="34" charset="0"/>
              </a:rPr>
              <a:t>Turns each rule into a SQL query</a:t>
            </a:r>
          </a:p>
          <a:p>
            <a:pPr marL="203200" indent="-203200">
              <a:spcAft>
                <a:spcPts val="700"/>
              </a:spcAft>
              <a:buClr>
                <a:srgbClr val="C97B5A"/>
              </a:buClr>
              <a:buFont typeface="+mj-lt"/>
              <a:buChar char="•"/>
            </a:pPr>
            <a:r>
              <a:rPr lang="en-US" sz="1300">
                <a:solidFill>
                  <a:srgbClr val="23242D"/>
                </a:solidFill>
                <a:latin typeface="Segoe UI" panose="020B0502040204020203" pitchFamily="34" charset="0"/>
              </a:rPr>
              <a:t>Runs it on the DuckDB tables</a:t>
            </a:r>
          </a:p>
          <a:p>
            <a:pPr marL="203200" indent="-203200">
              <a:spcAft>
                <a:spcPts val="700"/>
              </a:spcAft>
              <a:buClr>
                <a:srgbClr val="C97B5A"/>
              </a:buClr>
              <a:buFont typeface="+mj-lt"/>
              <a:buChar char="•"/>
            </a:pPr>
            <a:r>
              <a:rPr lang="en-US" sz="1300">
                <a:solidFill>
                  <a:srgbClr val="23242D"/>
                </a:solidFill>
                <a:latin typeface="Segoe UI" panose="020B0502040204020203" pitchFamily="34" charset="0"/>
              </a:rPr>
              <a:t>Compares result with expected value</a:t>
            </a:r>
          </a:p>
          <a:p>
            <a:pPr marL="203200" indent="-203200">
              <a:spcAft>
                <a:spcPts val="700"/>
              </a:spcAft>
              <a:buClr>
                <a:srgbClr val="C97B5A"/>
              </a:buClr>
              <a:buFont typeface="+mj-lt"/>
              <a:buChar char="•"/>
            </a:pPr>
            <a:r>
              <a:rPr lang="en-US" sz="1300">
                <a:solidFill>
                  <a:srgbClr val="23242D"/>
                </a:solidFill>
                <a:latin typeface="Segoe UI" panose="020B0502040204020203" pitchFamily="34" charset="0"/>
              </a:rPr>
              <a:t>Prints PASSED or FAILED per check</a:t>
            </a:r>
            <a:endParaRPr lang="en-IN" sz="1300">
              <a:solidFill>
                <a:srgbClr val="23242D"/>
              </a:solidFill>
              <a:latin typeface="Segoe UI" panose="020B0502040204020203" pitchFamily="34" charset="0"/>
            </a:endParaRPr>
          </a:p>
        </p:txBody>
      </p:sp>
      <p:sp>
        <p:nvSpPr>
          <p:cNvPr id="31" name="Rectangle: Rounded Corners 30">
            <a:extLst>
              <a:ext uri="{FF2B5EF4-FFF2-40B4-BE49-F238E27FC236}">
                <a16:creationId xmlns:a16="http://schemas.microsoft.com/office/drawing/2014/main" id="{C9DDF6E5-E128-7CDC-7068-E296922987C6}"/>
              </a:ext>
            </a:extLst>
          </p:cNvPr>
          <p:cNvSpPr/>
          <p:nvPr/>
        </p:nvSpPr>
        <p:spPr>
          <a:xfrm>
            <a:off x="4635500" y="2590800"/>
            <a:ext cx="6794500" cy="2717800"/>
          </a:xfrm>
          <a:prstGeom prst="roundRect">
            <a:avLst>
              <a:gd name="adj" fmla="val 1869"/>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152400" rIns="127000" bIns="101600" rtlCol="0" anchor="t"/>
          <a:lstStyle/>
          <a:p>
            <a:r>
              <a:rPr lang="en-US" sz="1200">
                <a:solidFill>
                  <a:srgbClr val="E8E2DB"/>
                </a:solidFill>
                <a:latin typeface="Consolas" panose="020B0609020204030204" pitchFamily="49" charset="0"/>
              </a:rPr>
              <a:t>PS&gt; python scripts/run_demo.py</a:t>
            </a:r>
          </a:p>
          <a:p>
            <a:endParaRPr lang="en-US" sz="1200">
              <a:solidFill>
                <a:srgbClr val="E8E2DB"/>
              </a:solidFill>
              <a:latin typeface="Consolas" panose="020B0609020204030204" pitchFamily="49" charset="0"/>
            </a:endParaRPr>
          </a:p>
          <a:p>
            <a:r>
              <a:rPr lang="en-US" sz="1200">
                <a:solidFill>
                  <a:srgbClr val="D98B6A"/>
                </a:solidFill>
                <a:latin typeface="Consolas" panose="020B0609020204030204" pitchFamily="49" charset="0"/>
              </a:rPr>
              <a:t># soda scan - illustrative output format</a:t>
            </a:r>
          </a:p>
          <a:p>
            <a:r>
              <a:rPr lang="en-US" sz="1200">
                <a:solidFill>
                  <a:srgbClr val="E8E2DB"/>
                </a:solidFill>
                <a:latin typeface="Consolas" panose="020B0609020204030204" pitchFamily="49" charset="0"/>
              </a:rPr>
              <a:t>orders     missing_count(order_id) = 0     </a:t>
            </a:r>
            <a:r>
              <a:rPr lang="en-US" sz="1200" b="1">
                <a:solidFill>
                  <a:srgbClr val="8FB996"/>
                </a:solidFill>
                <a:latin typeface="Consolas" panose="020B0609020204030204" pitchFamily="49" charset="0"/>
              </a:rPr>
              <a:t>[PASSED]</a:t>
            </a:r>
          </a:p>
          <a:p>
            <a:r>
              <a:rPr lang="en-US" sz="1200">
                <a:solidFill>
                  <a:srgbClr val="E8E2DB"/>
                </a:solidFill>
                <a:latin typeface="Consolas" panose="020B0609020204030204" pitchFamily="49" charset="0"/>
              </a:rPr>
              <a:t>orders     duplicate_count(order_id) = 0   </a:t>
            </a:r>
            <a:r>
              <a:rPr lang="en-US" sz="1200" b="1">
                <a:solidFill>
                  <a:srgbClr val="D98B6A"/>
                </a:solidFill>
                <a:latin typeface="Consolas" panose="020B0609020204030204" pitchFamily="49" charset="0"/>
              </a:rPr>
              <a:t>[FAILED]</a:t>
            </a:r>
          </a:p>
          <a:p>
            <a:r>
              <a:rPr lang="en-US" sz="1200">
                <a:solidFill>
                  <a:srgbClr val="E8E2DB"/>
                </a:solidFill>
                <a:latin typeface="Consolas" panose="020B0609020204030204" pitchFamily="49" charset="0"/>
              </a:rPr>
              <a:t>orders     invalid_count(status) = 0       </a:t>
            </a:r>
            <a:r>
              <a:rPr lang="en-US" sz="1200" b="1">
                <a:solidFill>
                  <a:srgbClr val="D98B6A"/>
                </a:solidFill>
                <a:latin typeface="Consolas" panose="020B0609020204030204" pitchFamily="49" charset="0"/>
              </a:rPr>
              <a:t>[FAILED]</a:t>
            </a:r>
          </a:p>
          <a:p>
            <a:r>
              <a:rPr lang="en-US" sz="1200">
                <a:solidFill>
                  <a:srgbClr val="E8E2DB"/>
                </a:solidFill>
                <a:latin typeface="Consolas" panose="020B0609020204030204" pitchFamily="49" charset="0"/>
              </a:rPr>
              <a:t>orders     invalid_count(quantity) = 0     </a:t>
            </a:r>
            <a:r>
              <a:rPr lang="en-US" sz="1200" b="1">
                <a:solidFill>
                  <a:srgbClr val="D98B6A"/>
                </a:solidFill>
                <a:latin typeface="Consolas" panose="020B0609020204030204" pitchFamily="49" charset="0"/>
              </a:rPr>
              <a:t>[FAILED]</a:t>
            </a:r>
          </a:p>
          <a:p>
            <a:r>
              <a:rPr lang="en-US" sz="1200">
                <a:solidFill>
                  <a:srgbClr val="E8E2DB"/>
                </a:solidFill>
                <a:latin typeface="Consolas" panose="020B0609020204030204" pitchFamily="49" charset="0"/>
              </a:rPr>
              <a:t>customers  missing_count(email) = 0        </a:t>
            </a:r>
            <a:r>
              <a:rPr lang="en-US" sz="1200" b="1">
                <a:solidFill>
                  <a:srgbClr val="D98B6A"/>
                </a:solidFill>
                <a:latin typeface="Consolas" panose="020B0609020204030204" pitchFamily="49" charset="0"/>
              </a:rPr>
              <a:t>[FAILED]</a:t>
            </a:r>
            <a:endParaRPr lang="en-IN" sz="1200" b="1">
              <a:solidFill>
                <a:srgbClr val="D98B6A"/>
              </a:solidFill>
              <a:latin typeface="Consolas" panose="020B0609020204030204" pitchFamily="49" charset="0"/>
            </a:endParaRPr>
          </a:p>
        </p:txBody>
      </p:sp>
      <p:sp>
        <p:nvSpPr>
          <p:cNvPr id="32" name="TextBox 31">
            <a:extLst>
              <a:ext uri="{FF2B5EF4-FFF2-40B4-BE49-F238E27FC236}">
                <a16:creationId xmlns:a16="http://schemas.microsoft.com/office/drawing/2014/main" id="{8D136938-9CBE-D240-8D40-40E1B29532B8}"/>
              </a:ext>
            </a:extLst>
          </p:cNvPr>
          <p:cNvSpPr txBox="1"/>
          <p:nvPr/>
        </p:nvSpPr>
        <p:spPr>
          <a:xfrm>
            <a:off x="762000" y="5486400"/>
            <a:ext cx="10668000" cy="203200"/>
          </a:xfrm>
          <a:prstGeom prst="rect">
            <a:avLst/>
          </a:prstGeom>
          <a:noFill/>
        </p:spPr>
        <p:txBody>
          <a:bodyPr vert="horz" wrap="square" lIns="0" tIns="0" rIns="0" bIns="0" rtlCol="0" anchor="t">
            <a:noAutofit/>
          </a:bodyPr>
          <a:lstStyle/>
          <a:p>
            <a:pPr algn="ctr"/>
            <a:r>
              <a:rPr lang="en-US" sz="1000" b="1">
                <a:solidFill>
                  <a:srgbClr val="C97B5A"/>
                </a:solidFill>
                <a:latin typeface="Segoe UI" panose="020B0502040204020203" pitchFamily="34" charset="0"/>
              </a:rPr>
              <a:t>ASK THE AUDIENCE BEFORE REVEALING THE ANSWER</a:t>
            </a:r>
            <a:endParaRPr lang="en-IN" sz="1000" b="1">
              <a:solidFill>
                <a:srgbClr val="C97B5A"/>
              </a:solidFill>
              <a:latin typeface="Segoe UI" panose="020B0502040204020203" pitchFamily="34" charset="0"/>
            </a:endParaRPr>
          </a:p>
        </p:txBody>
      </p:sp>
      <p:sp>
        <p:nvSpPr>
          <p:cNvPr id="33" name="Rectangle: Rounded Corners 32">
            <a:extLst>
              <a:ext uri="{FF2B5EF4-FFF2-40B4-BE49-F238E27FC236}">
                <a16:creationId xmlns:a16="http://schemas.microsoft.com/office/drawing/2014/main" id="{DC0F84E9-24FB-4303-4EE9-393E664E5F49}"/>
              </a:ext>
            </a:extLst>
          </p:cNvPr>
          <p:cNvSpPr/>
          <p:nvPr/>
        </p:nvSpPr>
        <p:spPr>
          <a:xfrm>
            <a:off x="762000" y="5715000"/>
            <a:ext cx="10668000" cy="533400"/>
          </a:xfrm>
          <a:prstGeom prst="roundRect">
            <a:avLst>
              <a:gd name="adj" fmla="val 9524"/>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en-US" sz="1600" b="1">
                <a:solidFill>
                  <a:srgbClr val="FFFFFF"/>
                </a:solidFill>
                <a:latin typeface="Segoe UI" panose="020B0502040204020203" pitchFamily="34" charset="0"/>
              </a:rPr>
              <a:t>Why do some checks FAIL? Because we injected the bad rows on purpose.</a:t>
            </a:r>
            <a:endParaRPr lang="en-IN" sz="1600" b="1">
              <a:solidFill>
                <a:srgbClr val="FFFFFF"/>
              </a:solidFill>
              <a:latin typeface="Segoe UI" panose="020B0502040204020203" pitchFamily="34" charset="0"/>
            </a:endParaRPr>
          </a:p>
        </p:txBody>
      </p:sp>
    </p:spTree>
    <p:extLst>
      <p:ext uri="{BB962C8B-B14F-4D97-AF65-F5344CB8AC3E}">
        <p14:creationId xmlns:p14="http://schemas.microsoft.com/office/powerpoint/2010/main" val="2170187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CB2FEE-A39B-025B-F4BE-E59CB3AD4BD8}"/>
              </a:ext>
            </a:extLst>
          </p:cNvPr>
          <p:cNvSpPr txBox="1"/>
          <p:nvPr/>
        </p:nvSpPr>
        <p:spPr>
          <a:xfrm>
            <a:off x="762000" y="304800"/>
            <a:ext cx="10668000" cy="558800"/>
          </a:xfrm>
          <a:prstGeom prst="rect">
            <a:avLst/>
          </a:prstGeom>
          <a:noFill/>
        </p:spPr>
        <p:txBody>
          <a:bodyPr vert="horz" wrap="square" lIns="0" tIns="0" rIns="0" bIns="0" rtlCol="0" anchor="ctr">
            <a:noAutofit/>
          </a:bodyPr>
          <a:lstStyle/>
          <a:p>
            <a:r>
              <a:rPr lang="en-IN" sz="3000" b="1">
                <a:solidFill>
                  <a:srgbClr val="23242D"/>
                </a:solidFill>
                <a:latin typeface="Segoe UI" panose="020B0502040204020203" pitchFamily="34" charset="0"/>
              </a:rPr>
              <a:t>Analyzing the Failures</a:t>
            </a:r>
          </a:p>
        </p:txBody>
      </p:sp>
      <p:sp>
        <p:nvSpPr>
          <p:cNvPr id="3" name="TextBox 2">
            <a:extLst>
              <a:ext uri="{FF2B5EF4-FFF2-40B4-BE49-F238E27FC236}">
                <a16:creationId xmlns:a16="http://schemas.microsoft.com/office/drawing/2014/main" id="{BA4A972F-2A40-3152-7ADE-E34412122378}"/>
              </a:ext>
            </a:extLst>
          </p:cNvPr>
          <p:cNvSpPr txBox="1"/>
          <p:nvPr/>
        </p:nvSpPr>
        <p:spPr>
          <a:xfrm>
            <a:off x="762000" y="889000"/>
            <a:ext cx="10668000" cy="203200"/>
          </a:xfrm>
          <a:prstGeom prst="rect">
            <a:avLst/>
          </a:prstGeom>
          <a:noFill/>
        </p:spPr>
        <p:txBody>
          <a:bodyPr vert="horz" wrap="square" lIns="0" tIns="0" rIns="0" bIns="0" rtlCol="0" anchor="t">
            <a:noAutofit/>
          </a:bodyPr>
          <a:lstStyle/>
          <a:p>
            <a:r>
              <a:rPr lang="en-US" sz="1100" b="1">
                <a:solidFill>
                  <a:srgbClr val="C97B5A"/>
                </a:solidFill>
                <a:latin typeface="Segoe UI" panose="020B0502040204020203" pitchFamily="34" charset="0"/>
              </a:rPr>
              <a:t>VALIDATION REPORT  |  WHAT SODA CAUGHT</a:t>
            </a:r>
            <a:endParaRPr lang="en-IN" sz="1100" b="1">
              <a:solidFill>
                <a:srgbClr val="C97B5A"/>
              </a:solidFill>
              <a:latin typeface="Segoe UI" panose="020B0502040204020203" pitchFamily="34" charset="0"/>
            </a:endParaRPr>
          </a:p>
        </p:txBody>
      </p:sp>
      <p:cxnSp>
        <p:nvCxnSpPr>
          <p:cNvPr id="4" name="Straight Connector 3">
            <a:extLst>
              <a:ext uri="{FF2B5EF4-FFF2-40B4-BE49-F238E27FC236}">
                <a16:creationId xmlns:a16="http://schemas.microsoft.com/office/drawing/2014/main" id="{D370AE62-FC00-45E1-8D63-89758E81608B}"/>
              </a:ext>
            </a:extLst>
          </p:cNvPr>
          <p:cNvCxnSpPr/>
          <p:nvPr/>
        </p:nvCxnSpPr>
        <p:spPr>
          <a:xfrm>
            <a:off x="762000" y="1168400"/>
            <a:ext cx="10668000" cy="0"/>
          </a:xfrm>
          <a:prstGeom prst="line">
            <a:avLst/>
          </a:prstGeom>
          <a:ln w="12700">
            <a:solidFill>
              <a:srgbClr val="D9B8A6"/>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84C178F4-483B-0BD6-80F7-6284479E901D}"/>
              </a:ext>
            </a:extLst>
          </p:cNvPr>
          <p:cNvCxnSpPr/>
          <p:nvPr/>
        </p:nvCxnSpPr>
        <p:spPr>
          <a:xfrm>
            <a:off x="762000" y="6426200"/>
            <a:ext cx="10668000" cy="0"/>
          </a:xfrm>
          <a:prstGeom prst="line">
            <a:avLst/>
          </a:prstGeom>
          <a:ln w="9525">
            <a:solidFill>
              <a:srgbClr val="C9C5B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AD70A5B-4B50-2D07-1977-F603CED9356A}"/>
              </a:ext>
            </a:extLst>
          </p:cNvPr>
          <p:cNvSpPr txBox="1"/>
          <p:nvPr/>
        </p:nvSpPr>
        <p:spPr>
          <a:xfrm>
            <a:off x="762000" y="6502400"/>
            <a:ext cx="5080000" cy="203200"/>
          </a:xfrm>
          <a:prstGeom prst="rect">
            <a:avLst/>
          </a:prstGeom>
          <a:noFill/>
        </p:spPr>
        <p:txBody>
          <a:bodyPr vert="horz" wrap="square" lIns="0" tIns="0" rIns="0" bIns="0" rtlCol="0" anchor="t">
            <a:noAutofit/>
          </a:bodyPr>
          <a:lstStyle/>
          <a:p>
            <a:r>
              <a:rPr lang="en-US" sz="1000">
                <a:solidFill>
                  <a:srgbClr val="6B6A68"/>
                </a:solidFill>
                <a:latin typeface="Segoe UI" panose="020B0502040204020203" pitchFamily="34" charset="0"/>
              </a:rPr>
              <a:t>Data Engineering - Case Study 14</a:t>
            </a:r>
            <a:endParaRPr lang="en-IN" sz="1000">
              <a:solidFill>
                <a:srgbClr val="6B6A68"/>
              </a:solidFill>
              <a:latin typeface="Segoe UI" panose="020B0502040204020203" pitchFamily="34" charset="0"/>
            </a:endParaRPr>
          </a:p>
        </p:txBody>
      </p:sp>
      <p:sp>
        <p:nvSpPr>
          <p:cNvPr id="7" name="TextBox 6">
            <a:extLst>
              <a:ext uri="{FF2B5EF4-FFF2-40B4-BE49-F238E27FC236}">
                <a16:creationId xmlns:a16="http://schemas.microsoft.com/office/drawing/2014/main" id="{BDECF506-C14D-9AF6-9DBF-522DEBCC825E}"/>
              </a:ext>
            </a:extLst>
          </p:cNvPr>
          <p:cNvSpPr txBox="1"/>
          <p:nvPr/>
        </p:nvSpPr>
        <p:spPr>
          <a:xfrm>
            <a:off x="4826000" y="6502400"/>
            <a:ext cx="2540000" cy="203200"/>
          </a:xfrm>
          <a:prstGeom prst="rect">
            <a:avLst/>
          </a:prstGeom>
          <a:noFill/>
        </p:spPr>
        <p:txBody>
          <a:bodyPr vert="horz" wrap="square" lIns="0" tIns="0" rIns="0" bIns="0" rtlCol="0" anchor="t">
            <a:noAutofit/>
          </a:bodyPr>
          <a:lstStyle/>
          <a:p>
            <a:pPr algn="ctr"/>
            <a:r>
              <a:rPr lang="en-IN" sz="1000" b="1">
                <a:solidFill>
                  <a:srgbClr val="C97B5A"/>
                </a:solidFill>
                <a:latin typeface="Segoe UI" panose="020B0502040204020203" pitchFamily="34" charset="0"/>
              </a:rPr>
              <a:t>Presenter: Shubham Singh</a:t>
            </a:r>
          </a:p>
        </p:txBody>
      </p:sp>
      <p:sp>
        <p:nvSpPr>
          <p:cNvPr id="8" name="TextBox 7">
            <a:extLst>
              <a:ext uri="{FF2B5EF4-FFF2-40B4-BE49-F238E27FC236}">
                <a16:creationId xmlns:a16="http://schemas.microsoft.com/office/drawing/2014/main" id="{4D0FB627-7E8F-0F39-DBA0-7EA1E820E497}"/>
              </a:ext>
            </a:extLst>
          </p:cNvPr>
          <p:cNvSpPr txBox="1"/>
          <p:nvPr/>
        </p:nvSpPr>
        <p:spPr>
          <a:xfrm>
            <a:off x="10668000" y="6502400"/>
            <a:ext cx="762000" cy="203200"/>
          </a:xfrm>
          <a:prstGeom prst="rect">
            <a:avLst/>
          </a:prstGeom>
          <a:noFill/>
        </p:spPr>
        <p:txBody>
          <a:bodyPr vert="horz" wrap="square" lIns="0" tIns="0" rIns="0" bIns="0" rtlCol="0" anchor="t">
            <a:noAutofit/>
          </a:bodyPr>
          <a:lstStyle/>
          <a:p>
            <a:pPr algn="r"/>
            <a:r>
              <a:rPr lang="en-IN" sz="1000">
                <a:solidFill>
                  <a:srgbClr val="6B6A68"/>
                </a:solidFill>
                <a:latin typeface="Segoe UI" panose="020B0502040204020203" pitchFamily="34" charset="0"/>
              </a:rPr>
              <a:t>7</a:t>
            </a:r>
          </a:p>
        </p:txBody>
      </p:sp>
      <p:sp>
        <p:nvSpPr>
          <p:cNvPr id="9" name="Rectangle: Rounded Corners 8">
            <a:extLst>
              <a:ext uri="{FF2B5EF4-FFF2-40B4-BE49-F238E27FC236}">
                <a16:creationId xmlns:a16="http://schemas.microsoft.com/office/drawing/2014/main" id="{75CB3996-FBA6-FDEB-30EB-BB578CC0CDE3}"/>
              </a:ext>
            </a:extLst>
          </p:cNvPr>
          <p:cNvSpPr/>
          <p:nvPr/>
        </p:nvSpPr>
        <p:spPr>
          <a:xfrm>
            <a:off x="762000" y="1371600"/>
            <a:ext cx="3073400" cy="355600"/>
          </a:xfrm>
          <a:prstGeom prst="roundRect">
            <a:avLst>
              <a:gd name="adj" fmla="val 14286"/>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r>
              <a:rPr lang="en-IN" sz="1100" b="1">
                <a:solidFill>
                  <a:srgbClr val="FFFFFF"/>
                </a:solidFill>
                <a:latin typeface="Segoe UI" panose="020B0502040204020203" pitchFamily="34" charset="0"/>
              </a:rPr>
              <a:t>INJECTED PROBLEM</a:t>
            </a:r>
          </a:p>
        </p:txBody>
      </p:sp>
      <p:sp>
        <p:nvSpPr>
          <p:cNvPr id="10" name="Rectangle: Rounded Corners 9">
            <a:extLst>
              <a:ext uri="{FF2B5EF4-FFF2-40B4-BE49-F238E27FC236}">
                <a16:creationId xmlns:a16="http://schemas.microsoft.com/office/drawing/2014/main" id="{FA8832AF-33A9-BE2C-C989-DB2C52EC5C33}"/>
              </a:ext>
            </a:extLst>
          </p:cNvPr>
          <p:cNvSpPr/>
          <p:nvPr/>
        </p:nvSpPr>
        <p:spPr>
          <a:xfrm>
            <a:off x="3860800" y="1371600"/>
            <a:ext cx="1092200" cy="355600"/>
          </a:xfrm>
          <a:prstGeom prst="roundRect">
            <a:avLst>
              <a:gd name="adj" fmla="val 14286"/>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r>
              <a:rPr lang="en-IN" sz="1100" b="1">
                <a:solidFill>
                  <a:srgbClr val="FFFFFF"/>
                </a:solidFill>
                <a:latin typeface="Segoe UI" panose="020B0502040204020203" pitchFamily="34" charset="0"/>
              </a:rPr>
              <a:t>TABLE</a:t>
            </a:r>
          </a:p>
        </p:txBody>
      </p:sp>
      <p:sp>
        <p:nvSpPr>
          <p:cNvPr id="11" name="Rectangle: Rounded Corners 10">
            <a:extLst>
              <a:ext uri="{FF2B5EF4-FFF2-40B4-BE49-F238E27FC236}">
                <a16:creationId xmlns:a16="http://schemas.microsoft.com/office/drawing/2014/main" id="{0B739F81-7165-AA9C-B78A-3CA2EDB5D5BB}"/>
              </a:ext>
            </a:extLst>
          </p:cNvPr>
          <p:cNvSpPr/>
          <p:nvPr/>
        </p:nvSpPr>
        <p:spPr>
          <a:xfrm>
            <a:off x="4978400" y="1371600"/>
            <a:ext cx="3022600" cy="355600"/>
          </a:xfrm>
          <a:prstGeom prst="roundRect">
            <a:avLst>
              <a:gd name="adj" fmla="val 14286"/>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r>
              <a:rPr lang="en-IN" sz="1100" b="1">
                <a:solidFill>
                  <a:srgbClr val="FFFFFF"/>
                </a:solidFill>
                <a:latin typeface="Segoe UI" panose="020B0502040204020203" pitchFamily="34" charset="0"/>
              </a:rPr>
              <a:t>RULE THAT CAUGHT IT</a:t>
            </a:r>
          </a:p>
        </p:txBody>
      </p:sp>
      <p:sp>
        <p:nvSpPr>
          <p:cNvPr id="12" name="Rectangle: Rounded Corners 11">
            <a:extLst>
              <a:ext uri="{FF2B5EF4-FFF2-40B4-BE49-F238E27FC236}">
                <a16:creationId xmlns:a16="http://schemas.microsoft.com/office/drawing/2014/main" id="{8C0924A6-661B-4748-8206-2E9893035CD8}"/>
              </a:ext>
            </a:extLst>
          </p:cNvPr>
          <p:cNvSpPr/>
          <p:nvPr/>
        </p:nvSpPr>
        <p:spPr>
          <a:xfrm>
            <a:off x="762000" y="1765300"/>
            <a:ext cx="30734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Duplicate order_id</a:t>
            </a:r>
          </a:p>
        </p:txBody>
      </p:sp>
      <p:sp>
        <p:nvSpPr>
          <p:cNvPr id="13" name="Rectangle: Rounded Corners 12">
            <a:extLst>
              <a:ext uri="{FF2B5EF4-FFF2-40B4-BE49-F238E27FC236}">
                <a16:creationId xmlns:a16="http://schemas.microsoft.com/office/drawing/2014/main" id="{066B25B8-8A9B-0F33-2877-36EC4CB68311}"/>
              </a:ext>
            </a:extLst>
          </p:cNvPr>
          <p:cNvSpPr/>
          <p:nvPr/>
        </p:nvSpPr>
        <p:spPr>
          <a:xfrm>
            <a:off x="3860800" y="1765300"/>
            <a:ext cx="10922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orders</a:t>
            </a:r>
          </a:p>
        </p:txBody>
      </p:sp>
      <p:sp>
        <p:nvSpPr>
          <p:cNvPr id="14" name="Rectangle: Rounded Corners 13">
            <a:extLst>
              <a:ext uri="{FF2B5EF4-FFF2-40B4-BE49-F238E27FC236}">
                <a16:creationId xmlns:a16="http://schemas.microsoft.com/office/drawing/2014/main" id="{34604B02-6C10-839A-2538-22691121D9E5}"/>
              </a:ext>
            </a:extLst>
          </p:cNvPr>
          <p:cNvSpPr/>
          <p:nvPr/>
        </p:nvSpPr>
        <p:spPr>
          <a:xfrm>
            <a:off x="4978400" y="1765300"/>
            <a:ext cx="30226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100">
                <a:solidFill>
                  <a:srgbClr val="23242D"/>
                </a:solidFill>
                <a:latin typeface="Consolas" panose="020B0609020204030204" pitchFamily="49" charset="0"/>
              </a:rPr>
              <a:t>duplicate_count(order_id)</a:t>
            </a:r>
          </a:p>
        </p:txBody>
      </p:sp>
      <p:sp>
        <p:nvSpPr>
          <p:cNvPr id="15" name="Rectangle: Rounded Corners 14">
            <a:extLst>
              <a:ext uri="{FF2B5EF4-FFF2-40B4-BE49-F238E27FC236}">
                <a16:creationId xmlns:a16="http://schemas.microsoft.com/office/drawing/2014/main" id="{610E5442-3AFF-AA04-2AB6-42B243FCD5D0}"/>
              </a:ext>
            </a:extLst>
          </p:cNvPr>
          <p:cNvSpPr/>
          <p:nvPr/>
        </p:nvSpPr>
        <p:spPr>
          <a:xfrm>
            <a:off x="762000" y="2235200"/>
            <a:ext cx="30734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US" sz="1200">
                <a:solidFill>
                  <a:srgbClr val="23242D"/>
                </a:solidFill>
                <a:latin typeface="Segoe UI" panose="020B0502040204020203" pitchFamily="34" charset="0"/>
              </a:rPr>
              <a:t>Missing customer_id, product, date</a:t>
            </a:r>
            <a:endParaRPr lang="en-IN" sz="1200">
              <a:solidFill>
                <a:srgbClr val="23242D"/>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4B0E3F4D-3DBC-B2EC-989A-4D3EA94F9116}"/>
              </a:ext>
            </a:extLst>
          </p:cNvPr>
          <p:cNvSpPr/>
          <p:nvPr/>
        </p:nvSpPr>
        <p:spPr>
          <a:xfrm>
            <a:off x="3860800" y="2235200"/>
            <a:ext cx="10922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orders</a:t>
            </a:r>
          </a:p>
        </p:txBody>
      </p:sp>
      <p:sp>
        <p:nvSpPr>
          <p:cNvPr id="17" name="Rectangle: Rounded Corners 16">
            <a:extLst>
              <a:ext uri="{FF2B5EF4-FFF2-40B4-BE49-F238E27FC236}">
                <a16:creationId xmlns:a16="http://schemas.microsoft.com/office/drawing/2014/main" id="{ADB3DE6D-A33A-14C9-C818-EA3B319FFC01}"/>
              </a:ext>
            </a:extLst>
          </p:cNvPr>
          <p:cNvSpPr/>
          <p:nvPr/>
        </p:nvSpPr>
        <p:spPr>
          <a:xfrm>
            <a:off x="4978400" y="2235200"/>
            <a:ext cx="30226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100">
                <a:solidFill>
                  <a:srgbClr val="23242D"/>
                </a:solidFill>
                <a:latin typeface="Consolas" panose="020B0609020204030204" pitchFamily="49" charset="0"/>
              </a:rPr>
              <a:t>missing_count(...)</a:t>
            </a:r>
          </a:p>
        </p:txBody>
      </p:sp>
      <p:sp>
        <p:nvSpPr>
          <p:cNvPr id="18" name="Rectangle: Rounded Corners 17">
            <a:extLst>
              <a:ext uri="{FF2B5EF4-FFF2-40B4-BE49-F238E27FC236}">
                <a16:creationId xmlns:a16="http://schemas.microsoft.com/office/drawing/2014/main" id="{205860BC-5CBB-436F-A090-BAD65BE34763}"/>
              </a:ext>
            </a:extLst>
          </p:cNvPr>
          <p:cNvSpPr/>
          <p:nvPr/>
        </p:nvSpPr>
        <p:spPr>
          <a:xfrm>
            <a:off x="762000" y="2705100"/>
            <a:ext cx="30734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Status = Unknown</a:t>
            </a:r>
          </a:p>
        </p:txBody>
      </p:sp>
      <p:sp>
        <p:nvSpPr>
          <p:cNvPr id="19" name="Rectangle: Rounded Corners 18">
            <a:extLst>
              <a:ext uri="{FF2B5EF4-FFF2-40B4-BE49-F238E27FC236}">
                <a16:creationId xmlns:a16="http://schemas.microsoft.com/office/drawing/2014/main" id="{655A54F2-0D0B-3674-E870-BA22C2844A05}"/>
              </a:ext>
            </a:extLst>
          </p:cNvPr>
          <p:cNvSpPr/>
          <p:nvPr/>
        </p:nvSpPr>
        <p:spPr>
          <a:xfrm>
            <a:off x="3860800" y="2705100"/>
            <a:ext cx="10922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orders</a:t>
            </a:r>
          </a:p>
        </p:txBody>
      </p:sp>
      <p:sp>
        <p:nvSpPr>
          <p:cNvPr id="20" name="Rectangle: Rounded Corners 19">
            <a:extLst>
              <a:ext uri="{FF2B5EF4-FFF2-40B4-BE49-F238E27FC236}">
                <a16:creationId xmlns:a16="http://schemas.microsoft.com/office/drawing/2014/main" id="{F523DADF-6E7E-2E26-E537-4B489BDAAF58}"/>
              </a:ext>
            </a:extLst>
          </p:cNvPr>
          <p:cNvSpPr/>
          <p:nvPr/>
        </p:nvSpPr>
        <p:spPr>
          <a:xfrm>
            <a:off x="4978400" y="2705100"/>
            <a:ext cx="30226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100">
                <a:solidFill>
                  <a:srgbClr val="23242D"/>
                </a:solidFill>
                <a:latin typeface="Consolas" panose="020B0609020204030204" pitchFamily="49" charset="0"/>
              </a:rPr>
              <a:t>invalid_count(status)</a:t>
            </a:r>
          </a:p>
        </p:txBody>
      </p:sp>
      <p:sp>
        <p:nvSpPr>
          <p:cNvPr id="21" name="Rectangle: Rounded Corners 20">
            <a:extLst>
              <a:ext uri="{FF2B5EF4-FFF2-40B4-BE49-F238E27FC236}">
                <a16:creationId xmlns:a16="http://schemas.microsoft.com/office/drawing/2014/main" id="{B14E007E-9D3F-D629-93E0-F47B876A790A}"/>
              </a:ext>
            </a:extLst>
          </p:cNvPr>
          <p:cNvSpPr/>
          <p:nvPr/>
        </p:nvSpPr>
        <p:spPr>
          <a:xfrm>
            <a:off x="762000" y="3175000"/>
            <a:ext cx="30734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Price -65,000</a:t>
            </a:r>
          </a:p>
        </p:txBody>
      </p:sp>
      <p:sp>
        <p:nvSpPr>
          <p:cNvPr id="22" name="Rectangle: Rounded Corners 21">
            <a:extLst>
              <a:ext uri="{FF2B5EF4-FFF2-40B4-BE49-F238E27FC236}">
                <a16:creationId xmlns:a16="http://schemas.microsoft.com/office/drawing/2014/main" id="{6D97AA89-5829-7ECD-1548-D82035659F1D}"/>
              </a:ext>
            </a:extLst>
          </p:cNvPr>
          <p:cNvSpPr/>
          <p:nvPr/>
        </p:nvSpPr>
        <p:spPr>
          <a:xfrm>
            <a:off x="3860800" y="3175000"/>
            <a:ext cx="10922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orders</a:t>
            </a:r>
          </a:p>
        </p:txBody>
      </p:sp>
      <p:sp>
        <p:nvSpPr>
          <p:cNvPr id="23" name="Rectangle: Rounded Corners 22">
            <a:extLst>
              <a:ext uri="{FF2B5EF4-FFF2-40B4-BE49-F238E27FC236}">
                <a16:creationId xmlns:a16="http://schemas.microsoft.com/office/drawing/2014/main" id="{A89766D8-4853-442D-1D44-3C78E641475E}"/>
              </a:ext>
            </a:extLst>
          </p:cNvPr>
          <p:cNvSpPr/>
          <p:nvPr/>
        </p:nvSpPr>
        <p:spPr>
          <a:xfrm>
            <a:off x="4978400" y="3175000"/>
            <a:ext cx="30226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100">
                <a:solidFill>
                  <a:srgbClr val="23242D"/>
                </a:solidFill>
                <a:latin typeface="Consolas" panose="020B0609020204030204" pitchFamily="49" charset="0"/>
              </a:rPr>
              <a:t>unit_price valid min</a:t>
            </a:r>
          </a:p>
        </p:txBody>
      </p:sp>
      <p:sp>
        <p:nvSpPr>
          <p:cNvPr id="24" name="Rectangle: Rounded Corners 23">
            <a:extLst>
              <a:ext uri="{FF2B5EF4-FFF2-40B4-BE49-F238E27FC236}">
                <a16:creationId xmlns:a16="http://schemas.microsoft.com/office/drawing/2014/main" id="{8579EC5D-BEB3-A367-5C90-E95334A4838C}"/>
              </a:ext>
            </a:extLst>
          </p:cNvPr>
          <p:cNvSpPr/>
          <p:nvPr/>
        </p:nvSpPr>
        <p:spPr>
          <a:xfrm>
            <a:off x="762000" y="3644900"/>
            <a:ext cx="30734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Price 9,99,999</a:t>
            </a:r>
          </a:p>
        </p:txBody>
      </p:sp>
      <p:sp>
        <p:nvSpPr>
          <p:cNvPr id="25" name="Rectangle: Rounded Corners 24">
            <a:extLst>
              <a:ext uri="{FF2B5EF4-FFF2-40B4-BE49-F238E27FC236}">
                <a16:creationId xmlns:a16="http://schemas.microsoft.com/office/drawing/2014/main" id="{658A3E21-55BC-4F7A-3039-A4A42DC68B12}"/>
              </a:ext>
            </a:extLst>
          </p:cNvPr>
          <p:cNvSpPr/>
          <p:nvPr/>
        </p:nvSpPr>
        <p:spPr>
          <a:xfrm>
            <a:off x="3860800" y="3644900"/>
            <a:ext cx="10922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orders</a:t>
            </a:r>
          </a:p>
        </p:txBody>
      </p:sp>
      <p:sp>
        <p:nvSpPr>
          <p:cNvPr id="26" name="Rectangle: Rounded Corners 25">
            <a:extLst>
              <a:ext uri="{FF2B5EF4-FFF2-40B4-BE49-F238E27FC236}">
                <a16:creationId xmlns:a16="http://schemas.microsoft.com/office/drawing/2014/main" id="{B0289020-685B-EA56-93EF-5024E5F7CA82}"/>
              </a:ext>
            </a:extLst>
          </p:cNvPr>
          <p:cNvSpPr/>
          <p:nvPr/>
        </p:nvSpPr>
        <p:spPr>
          <a:xfrm>
            <a:off x="4978400" y="3644900"/>
            <a:ext cx="30226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100">
                <a:solidFill>
                  <a:srgbClr val="23242D"/>
                </a:solidFill>
                <a:latin typeface="Consolas" panose="020B0609020204030204" pitchFamily="49" charset="0"/>
              </a:rPr>
              <a:t>unit_price valid max</a:t>
            </a:r>
          </a:p>
        </p:txBody>
      </p:sp>
      <p:sp>
        <p:nvSpPr>
          <p:cNvPr id="27" name="Rectangle: Rounded Corners 26">
            <a:extLst>
              <a:ext uri="{FF2B5EF4-FFF2-40B4-BE49-F238E27FC236}">
                <a16:creationId xmlns:a16="http://schemas.microsoft.com/office/drawing/2014/main" id="{90828572-E6A7-0951-D7DD-61877EAB7DBD}"/>
              </a:ext>
            </a:extLst>
          </p:cNvPr>
          <p:cNvSpPr/>
          <p:nvPr/>
        </p:nvSpPr>
        <p:spPr>
          <a:xfrm>
            <a:off x="762000" y="4114800"/>
            <a:ext cx="30734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Quantity 0 and -3</a:t>
            </a:r>
          </a:p>
        </p:txBody>
      </p:sp>
      <p:sp>
        <p:nvSpPr>
          <p:cNvPr id="28" name="Rectangle: Rounded Corners 27">
            <a:extLst>
              <a:ext uri="{FF2B5EF4-FFF2-40B4-BE49-F238E27FC236}">
                <a16:creationId xmlns:a16="http://schemas.microsoft.com/office/drawing/2014/main" id="{7D250D7D-B45D-4791-F230-240AB7BD51E4}"/>
              </a:ext>
            </a:extLst>
          </p:cNvPr>
          <p:cNvSpPr/>
          <p:nvPr/>
        </p:nvSpPr>
        <p:spPr>
          <a:xfrm>
            <a:off x="3860800" y="4114800"/>
            <a:ext cx="10922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orders</a:t>
            </a:r>
          </a:p>
        </p:txBody>
      </p:sp>
      <p:sp>
        <p:nvSpPr>
          <p:cNvPr id="29" name="Rectangle: Rounded Corners 28">
            <a:extLst>
              <a:ext uri="{FF2B5EF4-FFF2-40B4-BE49-F238E27FC236}">
                <a16:creationId xmlns:a16="http://schemas.microsoft.com/office/drawing/2014/main" id="{23859220-E019-2B59-BA7B-DB37EC194EA1}"/>
              </a:ext>
            </a:extLst>
          </p:cNvPr>
          <p:cNvSpPr/>
          <p:nvPr/>
        </p:nvSpPr>
        <p:spPr>
          <a:xfrm>
            <a:off x="4978400" y="4114800"/>
            <a:ext cx="30226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100">
                <a:solidFill>
                  <a:srgbClr val="23242D"/>
                </a:solidFill>
                <a:latin typeface="Consolas" panose="020B0609020204030204" pitchFamily="49" charset="0"/>
              </a:rPr>
              <a:t>quantity valid min</a:t>
            </a:r>
          </a:p>
        </p:txBody>
      </p:sp>
      <p:sp>
        <p:nvSpPr>
          <p:cNvPr id="30" name="Rectangle: Rounded Corners 29">
            <a:extLst>
              <a:ext uri="{FF2B5EF4-FFF2-40B4-BE49-F238E27FC236}">
                <a16:creationId xmlns:a16="http://schemas.microsoft.com/office/drawing/2014/main" id="{50973C1E-647E-F209-C722-EBDFF30029AB}"/>
              </a:ext>
            </a:extLst>
          </p:cNvPr>
          <p:cNvSpPr/>
          <p:nvPr/>
        </p:nvSpPr>
        <p:spPr>
          <a:xfrm>
            <a:off x="762000" y="4584700"/>
            <a:ext cx="30734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Missing name or email</a:t>
            </a:r>
          </a:p>
        </p:txBody>
      </p:sp>
      <p:sp>
        <p:nvSpPr>
          <p:cNvPr id="31" name="Rectangle: Rounded Corners 30">
            <a:extLst>
              <a:ext uri="{FF2B5EF4-FFF2-40B4-BE49-F238E27FC236}">
                <a16:creationId xmlns:a16="http://schemas.microsoft.com/office/drawing/2014/main" id="{D3954141-E2D2-F87C-3E6A-0E965AD54F7A}"/>
              </a:ext>
            </a:extLst>
          </p:cNvPr>
          <p:cNvSpPr/>
          <p:nvPr/>
        </p:nvSpPr>
        <p:spPr>
          <a:xfrm>
            <a:off x="3860800" y="4584700"/>
            <a:ext cx="10922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customers</a:t>
            </a:r>
          </a:p>
        </p:txBody>
      </p:sp>
      <p:sp>
        <p:nvSpPr>
          <p:cNvPr id="32" name="Rectangle: Rounded Corners 31">
            <a:extLst>
              <a:ext uri="{FF2B5EF4-FFF2-40B4-BE49-F238E27FC236}">
                <a16:creationId xmlns:a16="http://schemas.microsoft.com/office/drawing/2014/main" id="{A79E5559-C24D-7B5E-AC78-667E811E1A7C}"/>
              </a:ext>
            </a:extLst>
          </p:cNvPr>
          <p:cNvSpPr/>
          <p:nvPr/>
        </p:nvSpPr>
        <p:spPr>
          <a:xfrm>
            <a:off x="4978400" y="4584700"/>
            <a:ext cx="30226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100">
                <a:solidFill>
                  <a:srgbClr val="23242D"/>
                </a:solidFill>
                <a:latin typeface="Consolas" panose="020B0609020204030204" pitchFamily="49" charset="0"/>
              </a:rPr>
              <a:t>missing_count(...)</a:t>
            </a:r>
          </a:p>
        </p:txBody>
      </p:sp>
      <p:sp>
        <p:nvSpPr>
          <p:cNvPr id="33" name="Rectangle: Rounded Corners 32">
            <a:extLst>
              <a:ext uri="{FF2B5EF4-FFF2-40B4-BE49-F238E27FC236}">
                <a16:creationId xmlns:a16="http://schemas.microsoft.com/office/drawing/2014/main" id="{7D311072-1FD0-BFDE-FCF3-91A395FF0874}"/>
              </a:ext>
            </a:extLst>
          </p:cNvPr>
          <p:cNvSpPr/>
          <p:nvPr/>
        </p:nvSpPr>
        <p:spPr>
          <a:xfrm>
            <a:off x="762000" y="5054600"/>
            <a:ext cx="30734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Duplicate customer_id C001</a:t>
            </a:r>
          </a:p>
        </p:txBody>
      </p:sp>
      <p:sp>
        <p:nvSpPr>
          <p:cNvPr id="34" name="Rectangle: Rounded Corners 33">
            <a:extLst>
              <a:ext uri="{FF2B5EF4-FFF2-40B4-BE49-F238E27FC236}">
                <a16:creationId xmlns:a16="http://schemas.microsoft.com/office/drawing/2014/main" id="{DB9590AF-51B2-04AF-BDCA-DC5BAC282DC8}"/>
              </a:ext>
            </a:extLst>
          </p:cNvPr>
          <p:cNvSpPr/>
          <p:nvPr/>
        </p:nvSpPr>
        <p:spPr>
          <a:xfrm>
            <a:off x="3860800" y="5054600"/>
            <a:ext cx="10922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200">
                <a:solidFill>
                  <a:srgbClr val="23242D"/>
                </a:solidFill>
                <a:latin typeface="Segoe UI" panose="020B0502040204020203" pitchFamily="34" charset="0"/>
              </a:rPr>
              <a:t>customers</a:t>
            </a:r>
          </a:p>
        </p:txBody>
      </p:sp>
      <p:sp>
        <p:nvSpPr>
          <p:cNvPr id="35" name="Rectangle: Rounded Corners 34">
            <a:extLst>
              <a:ext uri="{FF2B5EF4-FFF2-40B4-BE49-F238E27FC236}">
                <a16:creationId xmlns:a16="http://schemas.microsoft.com/office/drawing/2014/main" id="{DD3DC0D7-4DCD-513B-8BAD-3B0981DA95A2}"/>
              </a:ext>
            </a:extLst>
          </p:cNvPr>
          <p:cNvSpPr/>
          <p:nvPr/>
        </p:nvSpPr>
        <p:spPr>
          <a:xfrm>
            <a:off x="4978400" y="5054600"/>
            <a:ext cx="3022600" cy="431800"/>
          </a:xfrm>
          <a:prstGeom prst="roundRect">
            <a:avLst>
              <a:gd name="adj" fmla="val 1176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lstStyle/>
          <a:p>
            <a:r>
              <a:rPr lang="en-IN" sz="1100">
                <a:solidFill>
                  <a:srgbClr val="23242D"/>
                </a:solidFill>
                <a:latin typeface="Consolas" panose="020B0609020204030204" pitchFamily="49" charset="0"/>
              </a:rPr>
              <a:t>duplicate_count(customer_id)</a:t>
            </a:r>
          </a:p>
        </p:txBody>
      </p:sp>
      <p:sp>
        <p:nvSpPr>
          <p:cNvPr id="36" name="Rectangle: Rounded Corners 35">
            <a:extLst>
              <a:ext uri="{FF2B5EF4-FFF2-40B4-BE49-F238E27FC236}">
                <a16:creationId xmlns:a16="http://schemas.microsoft.com/office/drawing/2014/main" id="{564E7A21-D2FF-4C71-14CB-974BBA576DEA}"/>
              </a:ext>
            </a:extLst>
          </p:cNvPr>
          <p:cNvSpPr/>
          <p:nvPr/>
        </p:nvSpPr>
        <p:spPr>
          <a:xfrm>
            <a:off x="8191500" y="1371600"/>
            <a:ext cx="3238500" cy="1117600"/>
          </a:xfrm>
          <a:prstGeom prst="roundRect">
            <a:avLst>
              <a:gd name="adj" fmla="val 4545"/>
            </a:avLst>
          </a:prstGeom>
          <a:solidFill>
            <a:srgbClr val="C97B5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a:extLst>
              <a:ext uri="{FF2B5EF4-FFF2-40B4-BE49-F238E27FC236}">
                <a16:creationId xmlns:a16="http://schemas.microsoft.com/office/drawing/2014/main" id="{8E1DB56C-FFA3-3F34-5846-74FD8D9B517D}"/>
              </a:ext>
            </a:extLst>
          </p:cNvPr>
          <p:cNvSpPr txBox="1"/>
          <p:nvPr/>
        </p:nvSpPr>
        <p:spPr>
          <a:xfrm>
            <a:off x="8191500" y="1422400"/>
            <a:ext cx="3238500" cy="635000"/>
          </a:xfrm>
          <a:prstGeom prst="rect">
            <a:avLst/>
          </a:prstGeom>
          <a:noFill/>
        </p:spPr>
        <p:txBody>
          <a:bodyPr vert="horz" wrap="square" lIns="0" tIns="0" rIns="0" bIns="0" rtlCol="0" anchor="ctr">
            <a:noAutofit/>
          </a:bodyPr>
          <a:lstStyle/>
          <a:p>
            <a:pPr algn="ctr"/>
            <a:r>
              <a:rPr lang="en-IN" sz="3400" b="1">
                <a:solidFill>
                  <a:srgbClr val="FFFFFF"/>
                </a:solidFill>
                <a:latin typeface="Segoe UI" panose="020B0502040204020203" pitchFamily="34" charset="0"/>
              </a:rPr>
              <a:t>12 / 14</a:t>
            </a:r>
          </a:p>
        </p:txBody>
      </p:sp>
      <p:sp>
        <p:nvSpPr>
          <p:cNvPr id="38" name="TextBox 37">
            <a:extLst>
              <a:ext uri="{FF2B5EF4-FFF2-40B4-BE49-F238E27FC236}">
                <a16:creationId xmlns:a16="http://schemas.microsoft.com/office/drawing/2014/main" id="{7686F6E8-898D-909B-4377-4BD0C76423A6}"/>
              </a:ext>
            </a:extLst>
          </p:cNvPr>
          <p:cNvSpPr txBox="1"/>
          <p:nvPr/>
        </p:nvSpPr>
        <p:spPr>
          <a:xfrm>
            <a:off x="8191500" y="2057400"/>
            <a:ext cx="3238500" cy="254000"/>
          </a:xfrm>
          <a:prstGeom prst="rect">
            <a:avLst/>
          </a:prstGeom>
          <a:noFill/>
        </p:spPr>
        <p:txBody>
          <a:bodyPr vert="horz" wrap="square" lIns="0" tIns="0" rIns="0" bIns="0" rtlCol="0" anchor="t">
            <a:noAutofit/>
          </a:bodyPr>
          <a:lstStyle/>
          <a:p>
            <a:pPr algn="ctr"/>
            <a:r>
              <a:rPr lang="en-IN" sz="1100" b="1">
                <a:solidFill>
                  <a:srgbClr val="FFFFFF"/>
                </a:solidFill>
                <a:latin typeface="Segoe UI" panose="020B0502040204020203" pitchFamily="34" charset="0"/>
              </a:rPr>
              <a:t>INJECTED ISSUES CAUGHT</a:t>
            </a:r>
          </a:p>
        </p:txBody>
      </p:sp>
      <p:sp>
        <p:nvSpPr>
          <p:cNvPr id="39" name="Rectangle: Rounded Corners 38">
            <a:extLst>
              <a:ext uri="{FF2B5EF4-FFF2-40B4-BE49-F238E27FC236}">
                <a16:creationId xmlns:a16="http://schemas.microsoft.com/office/drawing/2014/main" id="{D1A7D9FE-2192-8708-52DC-C03587FDA49B}"/>
              </a:ext>
            </a:extLst>
          </p:cNvPr>
          <p:cNvSpPr/>
          <p:nvPr/>
        </p:nvSpPr>
        <p:spPr>
          <a:xfrm>
            <a:off x="8191500" y="2641600"/>
            <a:ext cx="3238500" cy="1625600"/>
          </a:xfrm>
          <a:prstGeom prst="roundRect">
            <a:avLst>
              <a:gd name="adj" fmla="val 3125"/>
            </a:avLst>
          </a:prstGeom>
          <a:solidFill>
            <a:srgbClr val="E8E2DB"/>
          </a:solidFill>
          <a:ln w="9525">
            <a:solidFill>
              <a:srgbClr val="D9B8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TextBox 39">
            <a:extLst>
              <a:ext uri="{FF2B5EF4-FFF2-40B4-BE49-F238E27FC236}">
                <a16:creationId xmlns:a16="http://schemas.microsoft.com/office/drawing/2014/main" id="{AEC95159-BDC0-1781-E6ED-6B27450F80D5}"/>
              </a:ext>
            </a:extLst>
          </p:cNvPr>
          <p:cNvSpPr txBox="1"/>
          <p:nvPr/>
        </p:nvSpPr>
        <p:spPr>
          <a:xfrm>
            <a:off x="8394700" y="2768600"/>
            <a:ext cx="2857500" cy="203200"/>
          </a:xfrm>
          <a:prstGeom prst="rect">
            <a:avLst/>
          </a:prstGeom>
          <a:noFill/>
        </p:spPr>
        <p:txBody>
          <a:bodyPr vert="horz" wrap="square" lIns="0" tIns="0" rIns="0" bIns="0" rtlCol="0" anchor="t">
            <a:noAutofit/>
          </a:bodyPr>
          <a:lstStyle/>
          <a:p>
            <a:r>
              <a:rPr lang="en-IN" sz="1100" b="1">
                <a:solidFill>
                  <a:srgbClr val="C97B5A"/>
                </a:solidFill>
                <a:latin typeface="Segoe UI" panose="020B0502040204020203" pitchFamily="34" charset="0"/>
              </a:rPr>
              <a:t>NOT CAUGHT YET</a:t>
            </a:r>
          </a:p>
        </p:txBody>
      </p:sp>
      <p:sp>
        <p:nvSpPr>
          <p:cNvPr id="41" name="TextBox 40">
            <a:extLst>
              <a:ext uri="{FF2B5EF4-FFF2-40B4-BE49-F238E27FC236}">
                <a16:creationId xmlns:a16="http://schemas.microsoft.com/office/drawing/2014/main" id="{C7AF268F-DD0C-2944-ED7E-F7CF822A5323}"/>
              </a:ext>
            </a:extLst>
          </p:cNvPr>
          <p:cNvSpPr txBox="1"/>
          <p:nvPr/>
        </p:nvSpPr>
        <p:spPr>
          <a:xfrm>
            <a:off x="8394700" y="3048000"/>
            <a:ext cx="2895600" cy="1168400"/>
          </a:xfrm>
          <a:prstGeom prst="rect">
            <a:avLst/>
          </a:prstGeom>
          <a:noFill/>
        </p:spPr>
        <p:txBody>
          <a:bodyPr vert="horz" wrap="square" lIns="0" tIns="0" rIns="0" bIns="0" rtlCol="0" anchor="t">
            <a:noAutofit/>
          </a:bodyPr>
          <a:lstStyle/>
          <a:p>
            <a:pPr marL="203200" indent="-203200">
              <a:spcAft>
                <a:spcPts val="300"/>
              </a:spcAft>
              <a:buClr>
                <a:srgbClr val="C97B5A"/>
              </a:buClr>
              <a:buFont typeface="+mj-lt"/>
              <a:buChar char="•"/>
            </a:pPr>
            <a:r>
              <a:rPr lang="en-US" sz="1200">
                <a:solidFill>
                  <a:srgbClr val="23242D"/>
                </a:solidFill>
                <a:latin typeface="Segoe UI" panose="020B0502040204020203" pitchFamily="34" charset="0"/>
              </a:rPr>
              <a:t>Future dates (2099): no date rule</a:t>
            </a:r>
          </a:p>
          <a:p>
            <a:pPr marL="203200" indent="-203200">
              <a:spcAft>
                <a:spcPts val="300"/>
              </a:spcAft>
              <a:buClr>
                <a:srgbClr val="C97B5A"/>
              </a:buClr>
              <a:buFont typeface="+mj-lt"/>
              <a:buChar char="•"/>
            </a:pPr>
            <a:r>
              <a:rPr lang="en-US" sz="1200">
                <a:solidFill>
                  <a:srgbClr val="23242D"/>
                </a:solidFill>
                <a:latin typeface="Segoe UI" panose="020B0502040204020203" pitchFamily="34" charset="0"/>
              </a:rPr>
              <a:t>Unknown customer_id: no cross-table check</a:t>
            </a:r>
          </a:p>
          <a:p>
            <a:pPr marL="203200" indent="-203200">
              <a:spcAft>
                <a:spcPts val="300"/>
              </a:spcAft>
              <a:buClr>
                <a:srgbClr val="C97B5A"/>
              </a:buClr>
              <a:buFont typeface="+mj-lt"/>
              <a:buChar char="•"/>
            </a:pPr>
            <a:r>
              <a:rPr lang="en-US" sz="1200">
                <a:solidFill>
                  <a:srgbClr val="23242D"/>
                </a:solidFill>
                <a:latin typeface="Segoe UI" panose="020B0502040204020203" pitchFamily="34" charset="0"/>
              </a:rPr>
              <a:t>Next step: add both rules</a:t>
            </a:r>
            <a:endParaRPr lang="en-IN" sz="1200">
              <a:solidFill>
                <a:srgbClr val="23242D"/>
              </a:solidFill>
              <a:latin typeface="Segoe UI" panose="020B0502040204020203" pitchFamily="34" charset="0"/>
            </a:endParaRPr>
          </a:p>
        </p:txBody>
      </p:sp>
      <p:sp>
        <p:nvSpPr>
          <p:cNvPr id="42" name="Rectangle: Rounded Corners 41">
            <a:extLst>
              <a:ext uri="{FF2B5EF4-FFF2-40B4-BE49-F238E27FC236}">
                <a16:creationId xmlns:a16="http://schemas.microsoft.com/office/drawing/2014/main" id="{09A9374C-1443-16EF-4701-297A3192901C}"/>
              </a:ext>
            </a:extLst>
          </p:cNvPr>
          <p:cNvSpPr/>
          <p:nvPr/>
        </p:nvSpPr>
        <p:spPr>
          <a:xfrm>
            <a:off x="8191500" y="4419600"/>
            <a:ext cx="3238500" cy="1168400"/>
          </a:xfrm>
          <a:prstGeom prst="roundRect">
            <a:avLst>
              <a:gd name="adj" fmla="val 4348"/>
            </a:avLst>
          </a:prstGeom>
          <a:solidFill>
            <a:srgbClr val="2324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42">
            <a:extLst>
              <a:ext uri="{FF2B5EF4-FFF2-40B4-BE49-F238E27FC236}">
                <a16:creationId xmlns:a16="http://schemas.microsoft.com/office/drawing/2014/main" id="{467928BD-6E66-41C3-DF70-EF74A3EE36EE}"/>
              </a:ext>
            </a:extLst>
          </p:cNvPr>
          <p:cNvSpPr txBox="1"/>
          <p:nvPr/>
        </p:nvSpPr>
        <p:spPr>
          <a:xfrm>
            <a:off x="8394700" y="4521200"/>
            <a:ext cx="2857500" cy="203200"/>
          </a:xfrm>
          <a:prstGeom prst="rect">
            <a:avLst/>
          </a:prstGeom>
          <a:noFill/>
        </p:spPr>
        <p:txBody>
          <a:bodyPr vert="horz" wrap="square" lIns="0" tIns="0" rIns="0" bIns="0" rtlCol="0" anchor="t">
            <a:noAutofit/>
          </a:bodyPr>
          <a:lstStyle/>
          <a:p>
            <a:r>
              <a:rPr lang="en-IN" sz="1100" b="1">
                <a:solidFill>
                  <a:srgbClr val="D98B6A"/>
                </a:solidFill>
                <a:latin typeface="Segoe UI" panose="020B0502040204020203" pitchFamily="34" charset="0"/>
              </a:rPr>
              <a:t>TAKEAWAY</a:t>
            </a:r>
          </a:p>
        </p:txBody>
      </p:sp>
      <p:sp>
        <p:nvSpPr>
          <p:cNvPr id="44" name="TextBox 43">
            <a:extLst>
              <a:ext uri="{FF2B5EF4-FFF2-40B4-BE49-F238E27FC236}">
                <a16:creationId xmlns:a16="http://schemas.microsoft.com/office/drawing/2014/main" id="{97C8E2C7-F9EC-D13C-1B9C-C9E4187320F2}"/>
              </a:ext>
            </a:extLst>
          </p:cNvPr>
          <p:cNvSpPr txBox="1"/>
          <p:nvPr/>
        </p:nvSpPr>
        <p:spPr>
          <a:xfrm>
            <a:off x="8394700" y="4775200"/>
            <a:ext cx="2895600" cy="736600"/>
          </a:xfrm>
          <a:prstGeom prst="rect">
            <a:avLst/>
          </a:prstGeom>
          <a:noFill/>
        </p:spPr>
        <p:txBody>
          <a:bodyPr vert="horz" wrap="square" lIns="0" tIns="0" rIns="0" bIns="0" rtlCol="0" anchor="t">
            <a:noAutofit/>
          </a:bodyPr>
          <a:lstStyle/>
          <a:p>
            <a:r>
              <a:rPr lang="en-US" sz="1300" b="1">
                <a:solidFill>
                  <a:srgbClr val="FFFFFF"/>
                </a:solidFill>
                <a:latin typeface="Segoe UI" panose="020B0502040204020203" pitchFamily="34" charset="0"/>
              </a:rPr>
              <a:t>Measurable rules plus automation catch bad data before it reaches reports.</a:t>
            </a:r>
            <a:endParaRPr lang="en-IN" sz="1300" b="1">
              <a:solidFill>
                <a:srgbClr val="FFFFFF"/>
              </a:solidFill>
              <a:latin typeface="Segoe UI" panose="020B0502040204020203" pitchFamily="34" charset="0"/>
            </a:endParaRPr>
          </a:p>
        </p:txBody>
      </p:sp>
      <p:sp>
        <p:nvSpPr>
          <p:cNvPr id="45" name="TextBox 44">
            <a:extLst>
              <a:ext uri="{FF2B5EF4-FFF2-40B4-BE49-F238E27FC236}">
                <a16:creationId xmlns:a16="http://schemas.microsoft.com/office/drawing/2014/main" id="{3CE3C4A5-5551-1101-A1EF-7F1AAC7E311D}"/>
              </a:ext>
            </a:extLst>
          </p:cNvPr>
          <p:cNvSpPr txBox="1"/>
          <p:nvPr/>
        </p:nvSpPr>
        <p:spPr>
          <a:xfrm>
            <a:off x="762000" y="5791200"/>
            <a:ext cx="10668000" cy="381000"/>
          </a:xfrm>
          <a:prstGeom prst="rect">
            <a:avLst/>
          </a:prstGeom>
          <a:noFill/>
        </p:spPr>
        <p:txBody>
          <a:bodyPr vert="horz" wrap="square" lIns="0" tIns="0" rIns="0" bIns="0" rtlCol="0" anchor="ctr">
            <a:noAutofit/>
          </a:bodyPr>
          <a:lstStyle/>
          <a:p>
            <a:pPr algn="ctr"/>
            <a:r>
              <a:rPr lang="en-US" sz="1400" b="1">
                <a:solidFill>
                  <a:srgbClr val="23242D"/>
                </a:solidFill>
                <a:latin typeface="Segoe UI" panose="020B0502040204020203" pitchFamily="34" charset="0"/>
              </a:rPr>
              <a:t>Failed checks show exactly which column, which rule and how many rows to fix.</a:t>
            </a:r>
            <a:endParaRPr lang="en-IN" sz="1400" b="1">
              <a:solidFill>
                <a:srgbClr val="23242D"/>
              </a:solidFill>
              <a:latin typeface="Segoe UI" panose="020B0502040204020203" pitchFamily="34" charset="0"/>
            </a:endParaRPr>
          </a:p>
        </p:txBody>
      </p:sp>
    </p:spTree>
    <p:extLst>
      <p:ext uri="{BB962C8B-B14F-4D97-AF65-F5344CB8AC3E}">
        <p14:creationId xmlns:p14="http://schemas.microsoft.com/office/powerpoint/2010/main" val="35989472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1696</Words>
  <Application>Microsoft Office PowerPoint</Application>
  <PresentationFormat>Custom</PresentationFormat>
  <Paragraphs>242</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SINGH NIHARIKA NEERAJ</dc:creator>
  <cp:lastModifiedBy>SINGH NIHARIKA NEERAJ</cp:lastModifiedBy>
  <cp:revision>1</cp:revision>
  <dcterms:created xsi:type="dcterms:W3CDTF">2026-10-06T18:20:26Z</dcterms:created>
  <dcterms:modified xsi:type="dcterms:W3CDTF">2026-10-06T18:20:26Z</dcterms:modified>
</cp:coreProperties>
</file>