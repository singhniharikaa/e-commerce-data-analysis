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4" r:id="rId20"/>
    <p:sldId id="265" r:id="rId22"/>
    <p:sldId id="266" r:id="rId23"/>
    <p:sldId id="267" r:id="rId24"/>
    <p:sldId id="268" r:id="rId25"/>
    <p:sldId id="269" r:id="rId26"/>
  </p:sldIdLst>
  <p:sldSz cx="18288000" cy="10287000"/>
  <p:notesSz cx="6858000" cy="9144000"/>
  <p:embeddedFontLst>
    <p:embeddedFont>
      <p:font typeface="Open Sauce Bold" charset="1" panose="00000800000000000000"/>
      <p:regular r:id="rId14"/>
    </p:embeddedFont>
    <p:embeddedFont>
      <p:font typeface="Open Sauce Semi-Bold" charset="1" panose="00000700000000000000"/>
      <p:regular r:id="rId15"/>
    </p:embeddedFont>
    <p:embeddedFont>
      <p:font typeface="Open Sauce Medium" charset="1" panose="00000600000000000000"/>
      <p:regular r:id="rId16"/>
    </p:embeddedFont>
    <p:embeddedFont>
      <p:font typeface="Open Sauce" charset="1" panose="00000500000000000000"/>
      <p:regular r:id="rId17"/>
    </p:embeddedFont>
    <p:embeddedFont>
      <p:font typeface="Livvic Bold" charset="1" panose="00000000000000000000"/>
      <p:regular r:id="rId18"/>
    </p:embeddedFont>
    <p:embeddedFont>
      <p:font typeface="DM Sans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4" Type="http://schemas.openxmlformats.org/officeDocument/2006/relationships/font" Target="fonts/font14.fntdata"/><Relationship Id="rId15" Type="http://schemas.openxmlformats.org/officeDocument/2006/relationships/font" Target="fonts/font15.fntdata"/><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slide" Target="slides/slide9.xml"/><Relationship Id="rId21" Type="http://schemas.openxmlformats.org/officeDocument/2006/relationships/notesMaster" Target="notesMasters/notesMaster1.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Storing data at scale (HDFS) solves capacity, not trust. If order data is wrong, every report, revenue number and decision built on it is wrong. Data quality means defining measurable rules and checking them automatically before the data is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data is generated into a CSV, loaded into DuckDB, checked by Soda against the rules in checks.yml, and summarised in a PASS / FAIL report. Everything runs locally.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orders.csv has 100 valid orders plus 7 deliberately bad rows: five field-level defects and two rows that reuse order ID O0001. The bad rows exist so the pipeline has real problems to detect.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live in a plain YAML file. Each line states what healthy data must satisfy. Nine rules across five quality dimensions.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of the scan on 107 rows: 3 checks passed and 6 failed. The failures are expected because the bad rows were planted on purpose. Soda only detects and reports.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goes one step beyond PASS / FAIL: it lists the exact records that broke each rule, so the team knows what to fix or reject. The same view is available in the click-through pipeline UI.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image" Target="../media/image18.png"/><Relationship Id="rId19" Type="http://schemas.openxmlformats.org/officeDocument/2006/relationships/image" Target="../media/image19.png"/><Relationship Id="rId20" Type="http://schemas.openxmlformats.org/officeDocument/2006/relationships/image" Target="../media/image20.png"/><Relationship Id="rId21" Type="http://schemas.openxmlformats.org/officeDocument/2006/relationships/image" Target="../media/image21.png"/><Relationship Id="rId22"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3F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088814"/>
          </a:xfrm>
          <a:custGeom>
            <a:avLst/>
            <a:gdLst/>
            <a:ahLst/>
            <a:cxnLst/>
            <a:rect r="r" b="b" t="t" l="l"/>
            <a:pathLst>
              <a:path h="10088814" w="18288000">
                <a:moveTo>
                  <a:pt x="0" y="0"/>
                </a:moveTo>
                <a:lnTo>
                  <a:pt x="18288000" y="0"/>
                </a:lnTo>
                <a:lnTo>
                  <a:pt x="18288000" y="10088814"/>
                </a:lnTo>
                <a:lnTo>
                  <a:pt x="0" y="10088814"/>
                </a:lnTo>
                <a:lnTo>
                  <a:pt x="0" y="0"/>
                </a:lnTo>
                <a:close/>
              </a:path>
            </a:pathLst>
          </a:custGeom>
          <a:blipFill>
            <a:blip r:embed="rId2"/>
            <a:stretch>
              <a:fillRect l="-404" t="0" r="-404" b="-39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38946" y="239890"/>
            <a:ext cx="7720280" cy="1548750"/>
          </a:xfrm>
          <a:prstGeom prst="rect">
            <a:avLst/>
          </a:prstGeom>
        </p:spPr>
        <p:txBody>
          <a:bodyPr anchor="t" rtlCol="false" tIns="0" lIns="0" bIns="0" rIns="0">
            <a:spAutoFit/>
          </a:bodyPr>
          <a:lstStyle/>
          <a:p>
            <a:pPr algn="l">
              <a:lnSpc>
                <a:spcPts val="6282"/>
              </a:lnSpc>
            </a:pPr>
            <a:r>
              <a:rPr lang="en-US" sz="4585" b="true">
                <a:solidFill>
                  <a:srgbClr val="2C2C36"/>
                </a:solidFill>
                <a:latin typeface="Open Sauce Bold"/>
                <a:ea typeface="Open Sauce Bold"/>
                <a:cs typeface="Open Sauce Bold"/>
                <a:sym typeface="Open Sauce Bold"/>
              </a:rPr>
              <a:t>Case Study — When Data Outgrows a Single Server</a:t>
            </a:r>
          </a:p>
        </p:txBody>
      </p:sp>
      <p:sp>
        <p:nvSpPr>
          <p:cNvPr name="TextBox 4" id="4"/>
          <p:cNvSpPr txBox="true"/>
          <p:nvPr/>
        </p:nvSpPr>
        <p:spPr>
          <a:xfrm rot="0">
            <a:off x="554843" y="1945121"/>
            <a:ext cx="8809424" cy="294827"/>
          </a:xfrm>
          <a:prstGeom prst="rect">
            <a:avLst/>
          </a:prstGeom>
        </p:spPr>
        <p:txBody>
          <a:bodyPr anchor="t" rtlCol="false" tIns="0" lIns="0" bIns="0" rIns="0">
            <a:spAutoFit/>
          </a:bodyPr>
          <a:lstStyle/>
          <a:p>
            <a:pPr algn="l">
              <a:lnSpc>
                <a:spcPts val="2444"/>
              </a:lnSpc>
            </a:pPr>
            <a:r>
              <a:rPr lang="en-US" sz="1784" b="true">
                <a:solidFill>
                  <a:srgbClr val="C9886D"/>
                </a:solidFill>
                <a:latin typeface="Open Sauce Bold"/>
                <a:ea typeface="Open Sauce Bold"/>
                <a:cs typeface="Open Sauce Bold"/>
                <a:sym typeface="Open Sauce Bold"/>
              </a:rPr>
              <a:t>ILLUSTRATIVE SCENARIO — NOT A SPECIFIC COMPANY IMPLEMENTATION</a:t>
            </a:r>
          </a:p>
        </p:txBody>
      </p:sp>
      <p:sp>
        <p:nvSpPr>
          <p:cNvPr name="TextBox 5" id="5"/>
          <p:cNvSpPr txBox="true"/>
          <p:nvPr/>
        </p:nvSpPr>
        <p:spPr>
          <a:xfrm rot="0">
            <a:off x="581801" y="2553527"/>
            <a:ext cx="6113630" cy="806842"/>
          </a:xfrm>
          <a:prstGeom prst="rect">
            <a:avLst/>
          </a:prstGeom>
        </p:spPr>
        <p:txBody>
          <a:bodyPr anchor="t" rtlCol="false" tIns="0" lIns="0" bIns="0" rIns="0">
            <a:spAutoFit/>
          </a:bodyPr>
          <a:lstStyle/>
          <a:p>
            <a:pPr algn="l">
              <a:lnSpc>
                <a:spcPts val="3347"/>
              </a:lnSpc>
            </a:pPr>
            <a:r>
              <a:rPr lang="en-US" sz="2443" b="true">
                <a:solidFill>
                  <a:srgbClr val="2C2C36"/>
                </a:solidFill>
                <a:latin typeface="Open Sauce Bold"/>
                <a:ea typeface="Open Sauce Bold"/>
                <a:cs typeface="Open Sauce Bold"/>
                <a:sym typeface="Open Sauce Bold"/>
              </a:rPr>
              <a:t>An e-commerce platform continuously generates:</a:t>
            </a:r>
          </a:p>
        </p:txBody>
      </p:sp>
      <p:sp>
        <p:nvSpPr>
          <p:cNvPr name="Freeform 6" id="6"/>
          <p:cNvSpPr/>
          <p:nvPr/>
        </p:nvSpPr>
        <p:spPr>
          <a:xfrm flipH="false" flipV="false" rot="0">
            <a:off x="647700" y="3638550"/>
            <a:ext cx="447675" cy="438150"/>
          </a:xfrm>
          <a:custGeom>
            <a:avLst/>
            <a:gdLst/>
            <a:ahLst/>
            <a:cxnLst/>
            <a:rect r="r" b="b" t="t" l="l"/>
            <a:pathLst>
              <a:path h="438150" w="447675">
                <a:moveTo>
                  <a:pt x="0" y="0"/>
                </a:moveTo>
                <a:lnTo>
                  <a:pt x="447675" y="0"/>
                </a:lnTo>
                <a:lnTo>
                  <a:pt x="447675" y="438150"/>
                </a:lnTo>
                <a:lnTo>
                  <a:pt x="0" y="438150"/>
                </a:lnTo>
                <a:lnTo>
                  <a:pt x="0" y="0"/>
                </a:lnTo>
                <a:close/>
              </a:path>
            </a:pathLst>
          </a:custGeom>
          <a:blipFill>
            <a:blip r:embed="rId3"/>
            <a:stretch>
              <a:fillRect l="0" t="0" r="0" b="0"/>
            </a:stretch>
          </a:blipFill>
        </p:spPr>
      </p:sp>
      <p:sp>
        <p:nvSpPr>
          <p:cNvPr name="TextBox 7" id="7"/>
          <p:cNvSpPr txBox="true"/>
          <p:nvPr/>
        </p:nvSpPr>
        <p:spPr>
          <a:xfrm rot="0">
            <a:off x="1368253" y="3638484"/>
            <a:ext cx="2477809" cy="396076"/>
          </a:xfrm>
          <a:prstGeom prst="rect">
            <a:avLst/>
          </a:prstGeom>
        </p:spPr>
        <p:txBody>
          <a:bodyPr anchor="t" rtlCol="false" tIns="0" lIns="0" bIns="0" rIns="0">
            <a:spAutoFit/>
          </a:bodyPr>
          <a:lstStyle/>
          <a:p>
            <a:pPr algn="l">
              <a:lnSpc>
                <a:spcPts val="3347"/>
              </a:lnSpc>
            </a:pPr>
            <a:r>
              <a:rPr lang="en-US" sz="2443" b="true">
                <a:solidFill>
                  <a:srgbClr val="2C2C36"/>
                </a:solidFill>
                <a:latin typeface="Open Sauce Semi-Bold"/>
                <a:ea typeface="Open Sauce Semi-Bold"/>
                <a:cs typeface="Open Sauce Semi-Bold"/>
                <a:sym typeface="Open Sauce Semi-Bold"/>
              </a:rPr>
              <a:t>Product images</a:t>
            </a:r>
          </a:p>
        </p:txBody>
      </p:sp>
      <p:sp>
        <p:nvSpPr>
          <p:cNvPr name="Freeform 8" id="8"/>
          <p:cNvSpPr/>
          <p:nvPr/>
        </p:nvSpPr>
        <p:spPr>
          <a:xfrm flipH="false" flipV="false" rot="0">
            <a:off x="647700" y="4286250"/>
            <a:ext cx="447675" cy="428625"/>
          </a:xfrm>
          <a:custGeom>
            <a:avLst/>
            <a:gdLst/>
            <a:ahLst/>
            <a:cxnLst/>
            <a:rect r="r" b="b" t="t" l="l"/>
            <a:pathLst>
              <a:path h="428625" w="447675">
                <a:moveTo>
                  <a:pt x="0" y="0"/>
                </a:moveTo>
                <a:lnTo>
                  <a:pt x="447675" y="0"/>
                </a:lnTo>
                <a:lnTo>
                  <a:pt x="447675" y="428625"/>
                </a:lnTo>
                <a:lnTo>
                  <a:pt x="0" y="428625"/>
                </a:lnTo>
                <a:lnTo>
                  <a:pt x="0" y="0"/>
                </a:lnTo>
                <a:close/>
              </a:path>
            </a:pathLst>
          </a:custGeom>
          <a:blipFill>
            <a:blip r:embed="rId4"/>
            <a:stretch>
              <a:fillRect l="0" t="0" r="0" b="0"/>
            </a:stretch>
          </a:blipFill>
        </p:spPr>
      </p:sp>
      <p:sp>
        <p:nvSpPr>
          <p:cNvPr name="TextBox 9" id="9"/>
          <p:cNvSpPr txBox="true"/>
          <p:nvPr/>
        </p:nvSpPr>
        <p:spPr>
          <a:xfrm rot="0">
            <a:off x="1363444" y="4271375"/>
            <a:ext cx="2958692" cy="396076"/>
          </a:xfrm>
          <a:prstGeom prst="rect">
            <a:avLst/>
          </a:prstGeom>
        </p:spPr>
        <p:txBody>
          <a:bodyPr anchor="t" rtlCol="false" tIns="0" lIns="0" bIns="0" rIns="0">
            <a:spAutoFit/>
          </a:bodyPr>
          <a:lstStyle/>
          <a:p>
            <a:pPr algn="l">
              <a:lnSpc>
                <a:spcPts val="3347"/>
              </a:lnSpc>
            </a:pPr>
            <a:r>
              <a:rPr lang="en-US" sz="2443" b="true">
                <a:solidFill>
                  <a:srgbClr val="2C2C36"/>
                </a:solidFill>
                <a:latin typeface="Open Sauce Semi-Bold"/>
                <a:ea typeface="Open Sauce Semi-Bold"/>
                <a:cs typeface="Open Sauce Semi-Bold"/>
                <a:sym typeface="Open Sauce Semi-Bold"/>
              </a:rPr>
              <a:t>Order transactions</a:t>
            </a:r>
          </a:p>
        </p:txBody>
      </p:sp>
      <p:sp>
        <p:nvSpPr>
          <p:cNvPr name="Freeform 10" id="10"/>
          <p:cNvSpPr/>
          <p:nvPr/>
        </p:nvSpPr>
        <p:spPr>
          <a:xfrm flipH="false" flipV="false" rot="0">
            <a:off x="647700" y="4924425"/>
            <a:ext cx="447675" cy="219075"/>
          </a:xfrm>
          <a:custGeom>
            <a:avLst/>
            <a:gdLst/>
            <a:ahLst/>
            <a:cxnLst/>
            <a:rect r="r" b="b" t="t" l="l"/>
            <a:pathLst>
              <a:path h="219075" w="447675">
                <a:moveTo>
                  <a:pt x="0" y="0"/>
                </a:moveTo>
                <a:lnTo>
                  <a:pt x="447675" y="0"/>
                </a:lnTo>
                <a:lnTo>
                  <a:pt x="447675" y="219075"/>
                </a:lnTo>
                <a:lnTo>
                  <a:pt x="0" y="219075"/>
                </a:lnTo>
                <a:lnTo>
                  <a:pt x="0" y="0"/>
                </a:lnTo>
                <a:close/>
              </a:path>
            </a:pathLst>
          </a:custGeom>
          <a:blipFill>
            <a:blip r:embed="rId5"/>
            <a:stretch>
              <a:fillRect l="0" t="0" r="0" b="0"/>
            </a:stretch>
          </a:blipFill>
        </p:spPr>
      </p:sp>
      <p:sp>
        <p:nvSpPr>
          <p:cNvPr name="TextBox 11" id="11"/>
          <p:cNvSpPr txBox="true"/>
          <p:nvPr/>
        </p:nvSpPr>
        <p:spPr>
          <a:xfrm rot="0">
            <a:off x="1366326" y="4859060"/>
            <a:ext cx="2670545" cy="396076"/>
          </a:xfrm>
          <a:prstGeom prst="rect">
            <a:avLst/>
          </a:prstGeom>
        </p:spPr>
        <p:txBody>
          <a:bodyPr anchor="t" rtlCol="false" tIns="0" lIns="0" bIns="0" rIns="0">
            <a:spAutoFit/>
          </a:bodyPr>
          <a:lstStyle/>
          <a:p>
            <a:pPr algn="l">
              <a:lnSpc>
                <a:spcPts val="3347"/>
              </a:lnSpc>
            </a:pPr>
            <a:r>
              <a:rPr lang="en-US" sz="2443" b="true">
                <a:solidFill>
                  <a:srgbClr val="2C2C36"/>
                </a:solidFill>
                <a:latin typeface="Open Sauce Semi-Bold"/>
                <a:ea typeface="Open Sauce Semi-Bold"/>
                <a:cs typeface="Open Sauce Semi-Bold"/>
                <a:sym typeface="Open Sauce Semi-Bold"/>
              </a:rPr>
              <a:t>Clickstream logs</a:t>
            </a:r>
          </a:p>
        </p:txBody>
      </p:sp>
      <p:sp>
        <p:nvSpPr>
          <p:cNvPr name="Freeform 12" id="12"/>
          <p:cNvSpPr/>
          <p:nvPr/>
        </p:nvSpPr>
        <p:spPr>
          <a:xfrm flipH="false" flipV="false" rot="0">
            <a:off x="647700" y="5353050"/>
            <a:ext cx="447675" cy="438150"/>
          </a:xfrm>
          <a:custGeom>
            <a:avLst/>
            <a:gdLst/>
            <a:ahLst/>
            <a:cxnLst/>
            <a:rect r="r" b="b" t="t" l="l"/>
            <a:pathLst>
              <a:path h="438150" w="447675">
                <a:moveTo>
                  <a:pt x="0" y="0"/>
                </a:moveTo>
                <a:lnTo>
                  <a:pt x="447675" y="0"/>
                </a:lnTo>
                <a:lnTo>
                  <a:pt x="447675" y="438150"/>
                </a:lnTo>
                <a:lnTo>
                  <a:pt x="0" y="438150"/>
                </a:lnTo>
                <a:lnTo>
                  <a:pt x="0" y="0"/>
                </a:lnTo>
                <a:close/>
              </a:path>
            </a:pathLst>
          </a:custGeom>
          <a:blipFill>
            <a:blip r:embed="rId6"/>
            <a:stretch>
              <a:fillRect l="0" t="0" r="0" b="0"/>
            </a:stretch>
          </a:blipFill>
        </p:spPr>
      </p:sp>
      <p:sp>
        <p:nvSpPr>
          <p:cNvPr name="TextBox 13" id="13"/>
          <p:cNvSpPr txBox="true"/>
          <p:nvPr/>
        </p:nvSpPr>
        <p:spPr>
          <a:xfrm rot="0">
            <a:off x="1365324" y="5431676"/>
            <a:ext cx="2770742" cy="396076"/>
          </a:xfrm>
          <a:prstGeom prst="rect">
            <a:avLst/>
          </a:prstGeom>
        </p:spPr>
        <p:txBody>
          <a:bodyPr anchor="t" rtlCol="false" tIns="0" lIns="0" bIns="0" rIns="0">
            <a:spAutoFit/>
          </a:bodyPr>
          <a:lstStyle/>
          <a:p>
            <a:pPr algn="l">
              <a:lnSpc>
                <a:spcPts val="3347"/>
              </a:lnSpc>
            </a:pPr>
            <a:r>
              <a:rPr lang="en-US" sz="2443" b="true">
                <a:solidFill>
                  <a:srgbClr val="2C2C36"/>
                </a:solidFill>
                <a:latin typeface="Open Sauce Semi-Bold"/>
                <a:ea typeface="Open Sauce Semi-Bold"/>
                <a:cs typeface="Open Sauce Semi-Bold"/>
                <a:sym typeface="Open Sauce Semi-Bold"/>
              </a:rPr>
              <a:t>Customer activity</a:t>
            </a:r>
          </a:p>
        </p:txBody>
      </p:sp>
      <p:sp>
        <p:nvSpPr>
          <p:cNvPr name="Freeform 14" id="14"/>
          <p:cNvSpPr/>
          <p:nvPr/>
        </p:nvSpPr>
        <p:spPr>
          <a:xfrm flipH="false" flipV="false" rot="0">
            <a:off x="647700" y="6000750"/>
            <a:ext cx="7191375" cy="428625"/>
          </a:xfrm>
          <a:custGeom>
            <a:avLst/>
            <a:gdLst/>
            <a:ahLst/>
            <a:cxnLst/>
            <a:rect r="r" b="b" t="t" l="l"/>
            <a:pathLst>
              <a:path h="428625" w="7191375">
                <a:moveTo>
                  <a:pt x="0" y="0"/>
                </a:moveTo>
                <a:lnTo>
                  <a:pt x="7191375" y="0"/>
                </a:lnTo>
                <a:lnTo>
                  <a:pt x="7191375" y="428625"/>
                </a:lnTo>
                <a:lnTo>
                  <a:pt x="0" y="428625"/>
                </a:lnTo>
                <a:lnTo>
                  <a:pt x="0" y="0"/>
                </a:lnTo>
                <a:close/>
              </a:path>
            </a:pathLst>
          </a:custGeom>
          <a:blipFill>
            <a:blip r:embed="rId7"/>
            <a:stretch>
              <a:fillRect l="0" t="0" r="0" b="0"/>
            </a:stretch>
          </a:blipFill>
        </p:spPr>
      </p:sp>
      <p:sp>
        <p:nvSpPr>
          <p:cNvPr name="TextBox 15" id="15"/>
          <p:cNvSpPr txBox="true"/>
          <p:nvPr/>
        </p:nvSpPr>
        <p:spPr>
          <a:xfrm rot="0">
            <a:off x="669727" y="6522270"/>
            <a:ext cx="7206258" cy="729950"/>
          </a:xfrm>
          <a:prstGeom prst="rect">
            <a:avLst/>
          </a:prstGeom>
        </p:spPr>
        <p:txBody>
          <a:bodyPr anchor="t" rtlCol="false" tIns="0" lIns="0" bIns="0" rIns="0">
            <a:spAutoFit/>
          </a:bodyPr>
          <a:lstStyle/>
          <a:p>
            <a:pPr algn="l">
              <a:lnSpc>
                <a:spcPts val="3089"/>
              </a:lnSpc>
            </a:pPr>
            <a:r>
              <a:rPr lang="en-US" sz="2254" b="true">
                <a:solidFill>
                  <a:srgbClr val="2C2C36"/>
                </a:solidFill>
                <a:latin typeface="Open Sauce Semi-Bold"/>
                <a:ea typeface="Open Sauce Semi-Bold"/>
                <a:cs typeface="Open Sauce Semi-Bold"/>
                <a:sym typeface="Open Sauce Semi-Bold"/>
              </a:rPr>
              <a:t>Relying on one machine limits storage capacity, scalability, availability and processing throughput.</a:t>
            </a:r>
          </a:p>
        </p:txBody>
      </p:sp>
      <p:sp>
        <p:nvSpPr>
          <p:cNvPr name="TextBox 16" id="16"/>
          <p:cNvSpPr txBox="true"/>
          <p:nvPr/>
        </p:nvSpPr>
        <p:spPr>
          <a:xfrm rot="0">
            <a:off x="6328005" y="7635526"/>
            <a:ext cx="5511796" cy="283542"/>
          </a:xfrm>
          <a:prstGeom prst="rect">
            <a:avLst/>
          </a:prstGeom>
        </p:spPr>
        <p:txBody>
          <a:bodyPr anchor="t" rtlCol="false" tIns="0" lIns="0" bIns="0" rIns="0">
            <a:spAutoFit/>
          </a:bodyPr>
          <a:lstStyle/>
          <a:p>
            <a:pPr algn="ctr">
              <a:lnSpc>
                <a:spcPts val="2480"/>
              </a:lnSpc>
            </a:pPr>
            <a:r>
              <a:rPr lang="en-US" b="true" sz="1810">
                <a:solidFill>
                  <a:srgbClr val="C9886D"/>
                </a:solidFill>
                <a:latin typeface="Open Sauce Bold"/>
                <a:ea typeface="Open Sauce Bold"/>
                <a:cs typeface="Open Sauce Bold"/>
                <a:sym typeface="Open Sauce Bold"/>
              </a:rPr>
              <a:t>DISCUSS BEFORE MOVING TO THE SOLUTION</a:t>
            </a:r>
          </a:p>
        </p:txBody>
      </p:sp>
      <p:sp>
        <p:nvSpPr>
          <p:cNvPr name="Freeform 17" id="17"/>
          <p:cNvSpPr/>
          <p:nvPr/>
        </p:nvSpPr>
        <p:spPr>
          <a:xfrm flipH="false" flipV="false" rot="0">
            <a:off x="647700" y="7924800"/>
            <a:ext cx="16992600" cy="1504950"/>
          </a:xfrm>
          <a:custGeom>
            <a:avLst/>
            <a:gdLst/>
            <a:ahLst/>
            <a:cxnLst/>
            <a:rect r="r" b="b" t="t" l="l"/>
            <a:pathLst>
              <a:path h="1504950" w="16992600">
                <a:moveTo>
                  <a:pt x="0" y="0"/>
                </a:moveTo>
                <a:lnTo>
                  <a:pt x="16992600" y="0"/>
                </a:lnTo>
                <a:lnTo>
                  <a:pt x="16992600" y="1504950"/>
                </a:lnTo>
                <a:lnTo>
                  <a:pt x="0" y="1504950"/>
                </a:lnTo>
                <a:lnTo>
                  <a:pt x="0" y="0"/>
                </a:lnTo>
                <a:close/>
              </a:path>
            </a:pathLst>
          </a:custGeom>
          <a:blipFill>
            <a:blip r:embed="rId8"/>
            <a:stretch>
              <a:fillRect l="0" t="0" r="0" b="0"/>
            </a:stretch>
          </a:blipFill>
        </p:spPr>
      </p:sp>
      <p:sp>
        <p:nvSpPr>
          <p:cNvPr name="TextBox 18" id="18"/>
          <p:cNvSpPr txBox="true"/>
          <p:nvPr/>
        </p:nvSpPr>
        <p:spPr>
          <a:xfrm rot="0">
            <a:off x="3091945" y="8134636"/>
            <a:ext cx="11593868" cy="916687"/>
          </a:xfrm>
          <a:prstGeom prst="rect">
            <a:avLst/>
          </a:prstGeom>
        </p:spPr>
        <p:txBody>
          <a:bodyPr anchor="t" rtlCol="false" tIns="0" lIns="0" bIns="0" rIns="0">
            <a:spAutoFit/>
          </a:bodyPr>
          <a:lstStyle/>
          <a:p>
            <a:pPr algn="ctr">
              <a:lnSpc>
                <a:spcPts val="3781"/>
              </a:lnSpc>
            </a:pPr>
            <a:r>
              <a:rPr lang="en-US" sz="2759" b="true">
                <a:solidFill>
                  <a:srgbClr val="F4F4F0"/>
                </a:solidFill>
                <a:latin typeface="Open Sauce Bold"/>
                <a:ea typeface="Open Sauce Bold"/>
                <a:cs typeface="Open Sauce Bold"/>
                <a:sym typeface="Open Sauce Bold"/>
              </a:rPr>
              <a:t>How can the platform store and access growing amounts of data without depending on a single machine?</a:t>
            </a:r>
          </a:p>
        </p:txBody>
      </p:sp>
      <p:sp>
        <p:nvSpPr>
          <p:cNvPr name="Freeform 19" id="19"/>
          <p:cNvSpPr/>
          <p:nvPr/>
        </p:nvSpPr>
        <p:spPr>
          <a:xfrm flipH="false" flipV="false" rot="0">
            <a:off x="647700" y="9429750"/>
            <a:ext cx="16992600" cy="219075"/>
          </a:xfrm>
          <a:custGeom>
            <a:avLst/>
            <a:gdLst/>
            <a:ahLst/>
            <a:cxnLst/>
            <a:rect r="r" b="b" t="t" l="l"/>
            <a:pathLst>
              <a:path h="219075" w="16992600">
                <a:moveTo>
                  <a:pt x="0" y="0"/>
                </a:moveTo>
                <a:lnTo>
                  <a:pt x="16992600" y="0"/>
                </a:lnTo>
                <a:lnTo>
                  <a:pt x="16992600" y="219075"/>
                </a:lnTo>
                <a:lnTo>
                  <a:pt x="0" y="219075"/>
                </a:lnTo>
                <a:lnTo>
                  <a:pt x="0" y="0"/>
                </a:lnTo>
                <a:close/>
              </a:path>
            </a:pathLst>
          </a:custGeom>
          <a:blipFill>
            <a:blip r:embed="rId9"/>
            <a:stretch>
              <a:fillRect l="0" t="0" r="0" b="0"/>
            </a:stretch>
          </a:blipFill>
        </p:spPr>
      </p:sp>
      <p:sp>
        <p:nvSpPr>
          <p:cNvPr name="Freeform 20" id="20"/>
          <p:cNvSpPr/>
          <p:nvPr/>
        </p:nvSpPr>
        <p:spPr>
          <a:xfrm flipH="false" flipV="false" rot="0">
            <a:off x="9791700" y="638175"/>
            <a:ext cx="7191375" cy="866775"/>
          </a:xfrm>
          <a:custGeom>
            <a:avLst/>
            <a:gdLst/>
            <a:ahLst/>
            <a:cxnLst/>
            <a:rect r="r" b="b" t="t" l="l"/>
            <a:pathLst>
              <a:path h="866775" w="7191375">
                <a:moveTo>
                  <a:pt x="0" y="0"/>
                </a:moveTo>
                <a:lnTo>
                  <a:pt x="7191375" y="0"/>
                </a:lnTo>
                <a:lnTo>
                  <a:pt x="7191375" y="866775"/>
                </a:lnTo>
                <a:lnTo>
                  <a:pt x="0" y="866775"/>
                </a:lnTo>
                <a:lnTo>
                  <a:pt x="0" y="0"/>
                </a:lnTo>
                <a:close/>
              </a:path>
            </a:pathLst>
          </a:custGeom>
          <a:blipFill>
            <a:blip r:embed="rId10"/>
            <a:stretch>
              <a:fillRect l="0" t="0" r="0" b="0"/>
            </a:stretch>
          </a:blipFill>
        </p:spPr>
      </p:sp>
      <p:sp>
        <p:nvSpPr>
          <p:cNvPr name="TextBox 21" id="21"/>
          <p:cNvSpPr txBox="true"/>
          <p:nvPr/>
        </p:nvSpPr>
        <p:spPr>
          <a:xfrm rot="0">
            <a:off x="12230149" y="986529"/>
            <a:ext cx="2133203" cy="333184"/>
          </a:xfrm>
          <a:prstGeom prst="rect">
            <a:avLst/>
          </a:prstGeom>
        </p:spPr>
        <p:txBody>
          <a:bodyPr anchor="t" rtlCol="false" tIns="0" lIns="0" bIns="0" rIns="0">
            <a:spAutoFit/>
          </a:bodyPr>
          <a:lstStyle/>
          <a:p>
            <a:pPr algn="ctr">
              <a:lnSpc>
                <a:spcPts val="2805"/>
              </a:lnSpc>
            </a:pPr>
            <a:r>
              <a:rPr lang="en-US" b="true" sz="2047">
                <a:solidFill>
                  <a:srgbClr val="F4F4F0"/>
                </a:solidFill>
                <a:latin typeface="Open Sauce Semi-Bold"/>
                <a:ea typeface="Open Sauce Semi-Bold"/>
                <a:cs typeface="Open Sauce Semi-Bold"/>
                <a:sym typeface="Open Sauce Semi-Bold"/>
              </a:rPr>
              <a:t>DATA SOURCES</a:t>
            </a:r>
          </a:p>
        </p:txBody>
      </p:sp>
      <p:sp>
        <p:nvSpPr>
          <p:cNvPr name="Freeform 22" id="22"/>
          <p:cNvSpPr/>
          <p:nvPr/>
        </p:nvSpPr>
        <p:spPr>
          <a:xfrm flipH="false" flipV="false" rot="0">
            <a:off x="13277850" y="1285875"/>
            <a:ext cx="228600" cy="428625"/>
          </a:xfrm>
          <a:custGeom>
            <a:avLst/>
            <a:gdLst/>
            <a:ahLst/>
            <a:cxnLst/>
            <a:rect r="r" b="b" t="t" l="l"/>
            <a:pathLst>
              <a:path h="428625" w="228600">
                <a:moveTo>
                  <a:pt x="0" y="0"/>
                </a:moveTo>
                <a:lnTo>
                  <a:pt x="228600" y="0"/>
                </a:lnTo>
                <a:lnTo>
                  <a:pt x="228600" y="428625"/>
                </a:lnTo>
                <a:lnTo>
                  <a:pt x="0" y="428625"/>
                </a:lnTo>
                <a:lnTo>
                  <a:pt x="0" y="0"/>
                </a:lnTo>
                <a:close/>
              </a:path>
            </a:pathLst>
          </a:custGeom>
          <a:blipFill>
            <a:blip r:embed="rId11"/>
            <a:stretch>
              <a:fillRect l="0" t="0" r="0" b="0"/>
            </a:stretch>
          </a:blipFill>
        </p:spPr>
      </p:sp>
      <p:sp>
        <p:nvSpPr>
          <p:cNvPr name="Freeform 23" id="23"/>
          <p:cNvSpPr/>
          <p:nvPr/>
        </p:nvSpPr>
        <p:spPr>
          <a:xfrm flipH="false" flipV="false" rot="0">
            <a:off x="9791700" y="1714500"/>
            <a:ext cx="7191375" cy="647700"/>
          </a:xfrm>
          <a:custGeom>
            <a:avLst/>
            <a:gdLst/>
            <a:ahLst/>
            <a:cxnLst/>
            <a:rect r="r" b="b" t="t" l="l"/>
            <a:pathLst>
              <a:path h="647700" w="7191375">
                <a:moveTo>
                  <a:pt x="0" y="0"/>
                </a:moveTo>
                <a:lnTo>
                  <a:pt x="7191375" y="0"/>
                </a:lnTo>
                <a:lnTo>
                  <a:pt x="7191375" y="647700"/>
                </a:lnTo>
                <a:lnTo>
                  <a:pt x="0" y="647700"/>
                </a:lnTo>
                <a:lnTo>
                  <a:pt x="0" y="0"/>
                </a:lnTo>
                <a:close/>
              </a:path>
            </a:pathLst>
          </a:custGeom>
          <a:blipFill>
            <a:blip r:embed="rId12"/>
            <a:stretch>
              <a:fillRect l="0" t="0" r="0" b="0"/>
            </a:stretch>
          </a:blipFill>
        </p:spPr>
      </p:sp>
      <p:sp>
        <p:nvSpPr>
          <p:cNvPr name="TextBox 24" id="24"/>
          <p:cNvSpPr txBox="true"/>
          <p:nvPr/>
        </p:nvSpPr>
        <p:spPr>
          <a:xfrm rot="0">
            <a:off x="11671124" y="1860522"/>
            <a:ext cx="3251254" cy="333184"/>
          </a:xfrm>
          <a:prstGeom prst="rect">
            <a:avLst/>
          </a:prstGeom>
        </p:spPr>
        <p:txBody>
          <a:bodyPr anchor="t" rtlCol="false" tIns="0" lIns="0" bIns="0" rIns="0">
            <a:spAutoFit/>
          </a:bodyPr>
          <a:lstStyle/>
          <a:p>
            <a:pPr algn="ctr">
              <a:lnSpc>
                <a:spcPts val="2805"/>
              </a:lnSpc>
            </a:pPr>
            <a:r>
              <a:rPr lang="en-US" b="true" sz="2047">
                <a:solidFill>
                  <a:srgbClr val="F4F4F0"/>
                </a:solidFill>
                <a:latin typeface="Open Sauce Semi-Bold"/>
                <a:ea typeface="Open Sauce Semi-Bold"/>
                <a:cs typeface="Open Sauce Semi-Bold"/>
                <a:sym typeface="Open Sauce Semi-Bold"/>
              </a:rPr>
              <a:t>MASSIVE DATA VOLUME</a:t>
            </a:r>
          </a:p>
        </p:txBody>
      </p:sp>
      <p:sp>
        <p:nvSpPr>
          <p:cNvPr name="Freeform 25" id="25"/>
          <p:cNvSpPr/>
          <p:nvPr/>
        </p:nvSpPr>
        <p:spPr>
          <a:xfrm flipH="false" flipV="false" rot="0">
            <a:off x="13277850" y="2352675"/>
            <a:ext cx="228600" cy="438150"/>
          </a:xfrm>
          <a:custGeom>
            <a:avLst/>
            <a:gdLst/>
            <a:ahLst/>
            <a:cxnLst/>
            <a:rect r="r" b="b" t="t" l="l"/>
            <a:pathLst>
              <a:path h="438150" w="228600">
                <a:moveTo>
                  <a:pt x="0" y="0"/>
                </a:moveTo>
                <a:lnTo>
                  <a:pt x="228600" y="0"/>
                </a:lnTo>
                <a:lnTo>
                  <a:pt x="228600" y="438150"/>
                </a:lnTo>
                <a:lnTo>
                  <a:pt x="0" y="438150"/>
                </a:lnTo>
                <a:lnTo>
                  <a:pt x="0" y="0"/>
                </a:lnTo>
                <a:close/>
              </a:path>
            </a:pathLst>
          </a:custGeom>
          <a:blipFill>
            <a:blip r:embed="rId13"/>
            <a:stretch>
              <a:fillRect l="0" t="0" r="0" b="0"/>
            </a:stretch>
          </a:blipFill>
        </p:spPr>
      </p:sp>
      <p:sp>
        <p:nvSpPr>
          <p:cNvPr name="Freeform 26" id="26"/>
          <p:cNvSpPr/>
          <p:nvPr/>
        </p:nvSpPr>
        <p:spPr>
          <a:xfrm flipH="false" flipV="false" rot="0">
            <a:off x="9791700" y="2571750"/>
            <a:ext cx="7191375" cy="857250"/>
          </a:xfrm>
          <a:custGeom>
            <a:avLst/>
            <a:gdLst/>
            <a:ahLst/>
            <a:cxnLst/>
            <a:rect r="r" b="b" t="t" l="l"/>
            <a:pathLst>
              <a:path h="857250" w="7191375">
                <a:moveTo>
                  <a:pt x="0" y="0"/>
                </a:moveTo>
                <a:lnTo>
                  <a:pt x="7191375" y="0"/>
                </a:lnTo>
                <a:lnTo>
                  <a:pt x="7191375" y="857250"/>
                </a:lnTo>
                <a:lnTo>
                  <a:pt x="0" y="857250"/>
                </a:lnTo>
                <a:lnTo>
                  <a:pt x="0" y="0"/>
                </a:lnTo>
                <a:close/>
              </a:path>
            </a:pathLst>
          </a:custGeom>
          <a:blipFill>
            <a:blip r:embed="rId14"/>
            <a:stretch>
              <a:fillRect l="0" t="0" r="0" b="0"/>
            </a:stretch>
          </a:blipFill>
        </p:spPr>
      </p:sp>
      <p:sp>
        <p:nvSpPr>
          <p:cNvPr name="TextBox 27" id="27"/>
          <p:cNvSpPr txBox="true"/>
          <p:nvPr/>
        </p:nvSpPr>
        <p:spPr>
          <a:xfrm rot="0">
            <a:off x="12241582" y="2749584"/>
            <a:ext cx="2110337" cy="333184"/>
          </a:xfrm>
          <a:prstGeom prst="rect">
            <a:avLst/>
          </a:prstGeom>
        </p:spPr>
        <p:txBody>
          <a:bodyPr anchor="t" rtlCol="false" tIns="0" lIns="0" bIns="0" rIns="0">
            <a:spAutoFit/>
          </a:bodyPr>
          <a:lstStyle/>
          <a:p>
            <a:pPr algn="ctr">
              <a:lnSpc>
                <a:spcPts val="2805"/>
              </a:lnSpc>
            </a:pPr>
            <a:r>
              <a:rPr lang="en-US" b="true" sz="2047">
                <a:solidFill>
                  <a:srgbClr val="F4F4F0"/>
                </a:solidFill>
                <a:latin typeface="Open Sauce Semi-Bold"/>
                <a:ea typeface="Open Sauce Semi-Bold"/>
                <a:cs typeface="Open Sauce Semi-Bold"/>
                <a:sym typeface="Open Sauce Semi-Bold"/>
              </a:rPr>
              <a:t>SINGLE SERVER</a:t>
            </a:r>
          </a:p>
        </p:txBody>
      </p:sp>
      <p:sp>
        <p:nvSpPr>
          <p:cNvPr name="Freeform 28" id="28"/>
          <p:cNvSpPr/>
          <p:nvPr/>
        </p:nvSpPr>
        <p:spPr>
          <a:xfrm flipH="false" flipV="false" rot="0">
            <a:off x="13277850" y="3209925"/>
            <a:ext cx="228600" cy="438150"/>
          </a:xfrm>
          <a:custGeom>
            <a:avLst/>
            <a:gdLst/>
            <a:ahLst/>
            <a:cxnLst/>
            <a:rect r="r" b="b" t="t" l="l"/>
            <a:pathLst>
              <a:path h="438150" w="228600">
                <a:moveTo>
                  <a:pt x="0" y="0"/>
                </a:moveTo>
                <a:lnTo>
                  <a:pt x="228600" y="0"/>
                </a:lnTo>
                <a:lnTo>
                  <a:pt x="228600" y="438150"/>
                </a:lnTo>
                <a:lnTo>
                  <a:pt x="0" y="438150"/>
                </a:lnTo>
                <a:lnTo>
                  <a:pt x="0" y="0"/>
                </a:lnTo>
                <a:close/>
              </a:path>
            </a:pathLst>
          </a:custGeom>
          <a:blipFill>
            <a:blip r:embed="rId15"/>
            <a:stretch>
              <a:fillRect l="0" t="0" r="0" b="0"/>
            </a:stretch>
          </a:blipFill>
        </p:spPr>
      </p:sp>
      <p:sp>
        <p:nvSpPr>
          <p:cNvPr name="Freeform 29" id="29"/>
          <p:cNvSpPr/>
          <p:nvPr/>
        </p:nvSpPr>
        <p:spPr>
          <a:xfrm flipH="false" flipV="false" rot="0">
            <a:off x="9791700" y="3429000"/>
            <a:ext cx="7191375" cy="647700"/>
          </a:xfrm>
          <a:custGeom>
            <a:avLst/>
            <a:gdLst/>
            <a:ahLst/>
            <a:cxnLst/>
            <a:rect r="r" b="b" t="t" l="l"/>
            <a:pathLst>
              <a:path h="647700" w="7191375">
                <a:moveTo>
                  <a:pt x="0" y="0"/>
                </a:moveTo>
                <a:lnTo>
                  <a:pt x="7191375" y="0"/>
                </a:lnTo>
                <a:lnTo>
                  <a:pt x="7191375" y="647700"/>
                </a:lnTo>
                <a:lnTo>
                  <a:pt x="0" y="647700"/>
                </a:lnTo>
                <a:lnTo>
                  <a:pt x="0" y="0"/>
                </a:lnTo>
                <a:close/>
              </a:path>
            </a:pathLst>
          </a:custGeom>
          <a:blipFill>
            <a:blip r:embed="rId16"/>
            <a:stretch>
              <a:fillRect l="0" t="0" r="0" b="0"/>
            </a:stretch>
          </a:blipFill>
        </p:spPr>
      </p:sp>
      <p:sp>
        <p:nvSpPr>
          <p:cNvPr name="TextBox 30" id="30"/>
          <p:cNvSpPr txBox="true"/>
          <p:nvPr/>
        </p:nvSpPr>
        <p:spPr>
          <a:xfrm rot="0">
            <a:off x="12221907" y="3593439"/>
            <a:ext cx="2149688" cy="333184"/>
          </a:xfrm>
          <a:prstGeom prst="rect">
            <a:avLst/>
          </a:prstGeom>
        </p:spPr>
        <p:txBody>
          <a:bodyPr anchor="t" rtlCol="false" tIns="0" lIns="0" bIns="0" rIns="0">
            <a:spAutoFit/>
          </a:bodyPr>
          <a:lstStyle/>
          <a:p>
            <a:pPr algn="ctr">
              <a:lnSpc>
                <a:spcPts val="2805"/>
              </a:lnSpc>
            </a:pPr>
            <a:r>
              <a:rPr lang="en-US" b="true" sz="2047">
                <a:solidFill>
                  <a:srgbClr val="F4F4F0"/>
                </a:solidFill>
                <a:latin typeface="Open Sauce Semi-Bold"/>
                <a:ea typeface="Open Sauce Semi-Bold"/>
                <a:cs typeface="Open Sauce Semi-Bold"/>
                <a:sym typeface="Open Sauce Semi-Bold"/>
              </a:rPr>
              <a:t>CAPACITY LIMIT</a:t>
            </a:r>
          </a:p>
        </p:txBody>
      </p:sp>
      <p:sp>
        <p:nvSpPr>
          <p:cNvPr name="Freeform 31" id="31"/>
          <p:cNvSpPr/>
          <p:nvPr/>
        </p:nvSpPr>
        <p:spPr>
          <a:xfrm flipH="false" flipV="false" rot="0">
            <a:off x="13277850" y="3857625"/>
            <a:ext cx="228600" cy="647700"/>
          </a:xfrm>
          <a:custGeom>
            <a:avLst/>
            <a:gdLst/>
            <a:ahLst/>
            <a:cxnLst/>
            <a:rect r="r" b="b" t="t" l="l"/>
            <a:pathLst>
              <a:path h="647700" w="228600">
                <a:moveTo>
                  <a:pt x="0" y="0"/>
                </a:moveTo>
                <a:lnTo>
                  <a:pt x="228600" y="0"/>
                </a:lnTo>
                <a:lnTo>
                  <a:pt x="228600" y="647700"/>
                </a:lnTo>
                <a:lnTo>
                  <a:pt x="0" y="647700"/>
                </a:lnTo>
                <a:lnTo>
                  <a:pt x="0" y="0"/>
                </a:lnTo>
                <a:close/>
              </a:path>
            </a:pathLst>
          </a:custGeom>
          <a:blipFill>
            <a:blip r:embed="rId17"/>
            <a:stretch>
              <a:fillRect l="0" t="0" r="0" b="0"/>
            </a:stretch>
          </a:blipFill>
        </p:spPr>
      </p:sp>
      <p:sp>
        <p:nvSpPr>
          <p:cNvPr name="Freeform 32" id="32"/>
          <p:cNvSpPr/>
          <p:nvPr/>
        </p:nvSpPr>
        <p:spPr>
          <a:xfrm flipH="false" flipV="false" rot="0">
            <a:off x="9791700" y="4286250"/>
            <a:ext cx="7191375" cy="857250"/>
          </a:xfrm>
          <a:custGeom>
            <a:avLst/>
            <a:gdLst/>
            <a:ahLst/>
            <a:cxnLst/>
            <a:rect r="r" b="b" t="t" l="l"/>
            <a:pathLst>
              <a:path h="857250" w="7191375">
                <a:moveTo>
                  <a:pt x="0" y="0"/>
                </a:moveTo>
                <a:lnTo>
                  <a:pt x="7191375" y="0"/>
                </a:lnTo>
                <a:lnTo>
                  <a:pt x="7191375" y="857250"/>
                </a:lnTo>
                <a:lnTo>
                  <a:pt x="0" y="857250"/>
                </a:lnTo>
                <a:lnTo>
                  <a:pt x="0" y="0"/>
                </a:lnTo>
                <a:close/>
              </a:path>
            </a:pathLst>
          </a:custGeom>
          <a:blipFill>
            <a:blip r:embed="rId18"/>
            <a:stretch>
              <a:fillRect l="0" t="0" r="0" b="0"/>
            </a:stretch>
          </a:blipFill>
        </p:spPr>
      </p:sp>
      <p:sp>
        <p:nvSpPr>
          <p:cNvPr name="TextBox 33" id="33"/>
          <p:cNvSpPr txBox="true"/>
          <p:nvPr/>
        </p:nvSpPr>
        <p:spPr>
          <a:xfrm rot="0">
            <a:off x="12404438" y="4467433"/>
            <a:ext cx="1784627" cy="333184"/>
          </a:xfrm>
          <a:prstGeom prst="rect">
            <a:avLst/>
          </a:prstGeom>
        </p:spPr>
        <p:txBody>
          <a:bodyPr anchor="t" rtlCol="false" tIns="0" lIns="0" bIns="0" rIns="0">
            <a:spAutoFit/>
          </a:bodyPr>
          <a:lstStyle/>
          <a:p>
            <a:pPr algn="ctr">
              <a:lnSpc>
                <a:spcPts val="2805"/>
              </a:lnSpc>
            </a:pPr>
            <a:r>
              <a:rPr lang="en-US" b="true" sz="2047">
                <a:solidFill>
                  <a:srgbClr val="F4F4F0"/>
                </a:solidFill>
                <a:latin typeface="Open Sauce Semi-Bold"/>
                <a:ea typeface="Open Sauce Semi-Bold"/>
                <a:cs typeface="Open Sauce Semi-Bold"/>
                <a:sym typeface="Open Sauce Semi-Bold"/>
              </a:rPr>
              <a:t>FAILURE RISK</a:t>
            </a:r>
          </a:p>
        </p:txBody>
      </p:sp>
      <p:sp>
        <p:nvSpPr>
          <p:cNvPr name="Freeform 34" id="34"/>
          <p:cNvSpPr/>
          <p:nvPr/>
        </p:nvSpPr>
        <p:spPr>
          <a:xfrm flipH="false" flipV="false" rot="0">
            <a:off x="13277850" y="4924425"/>
            <a:ext cx="228600" cy="438150"/>
          </a:xfrm>
          <a:custGeom>
            <a:avLst/>
            <a:gdLst/>
            <a:ahLst/>
            <a:cxnLst/>
            <a:rect r="r" b="b" t="t" l="l"/>
            <a:pathLst>
              <a:path h="438150" w="228600">
                <a:moveTo>
                  <a:pt x="0" y="0"/>
                </a:moveTo>
                <a:lnTo>
                  <a:pt x="228600" y="0"/>
                </a:lnTo>
                <a:lnTo>
                  <a:pt x="228600" y="438150"/>
                </a:lnTo>
                <a:lnTo>
                  <a:pt x="0" y="438150"/>
                </a:lnTo>
                <a:lnTo>
                  <a:pt x="0" y="0"/>
                </a:lnTo>
                <a:close/>
              </a:path>
            </a:pathLst>
          </a:custGeom>
          <a:blipFill>
            <a:blip r:embed="rId19"/>
            <a:stretch>
              <a:fillRect l="0" t="0" r="0" b="0"/>
            </a:stretch>
          </a:blipFill>
        </p:spPr>
      </p:sp>
      <p:sp>
        <p:nvSpPr>
          <p:cNvPr name="Freeform 35" id="35"/>
          <p:cNvSpPr/>
          <p:nvPr/>
        </p:nvSpPr>
        <p:spPr>
          <a:xfrm flipH="false" flipV="false" rot="0">
            <a:off x="9791700" y="5143500"/>
            <a:ext cx="7191375" cy="857250"/>
          </a:xfrm>
          <a:custGeom>
            <a:avLst/>
            <a:gdLst/>
            <a:ahLst/>
            <a:cxnLst/>
            <a:rect r="r" b="b" t="t" l="l"/>
            <a:pathLst>
              <a:path h="857250" w="7191375">
                <a:moveTo>
                  <a:pt x="0" y="0"/>
                </a:moveTo>
                <a:lnTo>
                  <a:pt x="7191375" y="0"/>
                </a:lnTo>
                <a:lnTo>
                  <a:pt x="7191375" y="857250"/>
                </a:lnTo>
                <a:lnTo>
                  <a:pt x="0" y="857250"/>
                </a:lnTo>
                <a:lnTo>
                  <a:pt x="0" y="0"/>
                </a:lnTo>
                <a:close/>
              </a:path>
            </a:pathLst>
          </a:custGeom>
          <a:blipFill>
            <a:blip r:embed="rId20"/>
            <a:stretch>
              <a:fillRect l="0" t="0" r="0" b="0"/>
            </a:stretch>
          </a:blipFill>
        </p:spPr>
      </p:sp>
      <p:sp>
        <p:nvSpPr>
          <p:cNvPr name="TextBox 36" id="36"/>
          <p:cNvSpPr txBox="true"/>
          <p:nvPr/>
        </p:nvSpPr>
        <p:spPr>
          <a:xfrm rot="0">
            <a:off x="11471311" y="5356495"/>
            <a:ext cx="3650881" cy="333184"/>
          </a:xfrm>
          <a:prstGeom prst="rect">
            <a:avLst/>
          </a:prstGeom>
        </p:spPr>
        <p:txBody>
          <a:bodyPr anchor="t" rtlCol="false" tIns="0" lIns="0" bIns="0" rIns="0">
            <a:spAutoFit/>
          </a:bodyPr>
          <a:lstStyle/>
          <a:p>
            <a:pPr algn="ctr">
              <a:lnSpc>
                <a:spcPts val="2805"/>
              </a:lnSpc>
            </a:pPr>
            <a:r>
              <a:rPr lang="en-US" b="true" sz="2047">
                <a:solidFill>
                  <a:srgbClr val="F4F4F0"/>
                </a:solidFill>
                <a:latin typeface="Open Sauce Semi-Bold"/>
                <a:ea typeface="Open Sauce Semi-Bold"/>
                <a:cs typeface="Open Sauce Semi-Bold"/>
                <a:sym typeface="Open Sauce Semi-Bold"/>
              </a:rPr>
              <a:t>PROCESSING BOTTLENECK</a:t>
            </a:r>
          </a:p>
        </p:txBody>
      </p:sp>
      <p:sp>
        <p:nvSpPr>
          <p:cNvPr name="Freeform 37" id="37"/>
          <p:cNvSpPr/>
          <p:nvPr/>
        </p:nvSpPr>
        <p:spPr>
          <a:xfrm flipH="false" flipV="false" rot="0">
            <a:off x="13277850" y="5781675"/>
            <a:ext cx="228600" cy="438150"/>
          </a:xfrm>
          <a:custGeom>
            <a:avLst/>
            <a:gdLst/>
            <a:ahLst/>
            <a:cxnLst/>
            <a:rect r="r" b="b" t="t" l="l"/>
            <a:pathLst>
              <a:path h="438150" w="228600">
                <a:moveTo>
                  <a:pt x="0" y="0"/>
                </a:moveTo>
                <a:lnTo>
                  <a:pt x="228600" y="0"/>
                </a:lnTo>
                <a:lnTo>
                  <a:pt x="228600" y="438150"/>
                </a:lnTo>
                <a:lnTo>
                  <a:pt x="0" y="438150"/>
                </a:lnTo>
                <a:lnTo>
                  <a:pt x="0" y="0"/>
                </a:lnTo>
                <a:close/>
              </a:path>
            </a:pathLst>
          </a:custGeom>
          <a:blipFill>
            <a:blip r:embed="rId21"/>
            <a:stretch>
              <a:fillRect l="0" t="0" r="0" b="0"/>
            </a:stretch>
          </a:blipFill>
        </p:spPr>
      </p:sp>
      <p:sp>
        <p:nvSpPr>
          <p:cNvPr name="Freeform 38" id="38"/>
          <p:cNvSpPr/>
          <p:nvPr/>
        </p:nvSpPr>
        <p:spPr>
          <a:xfrm flipH="false" flipV="false" rot="0">
            <a:off x="9791700" y="6000750"/>
            <a:ext cx="7191375" cy="857250"/>
          </a:xfrm>
          <a:custGeom>
            <a:avLst/>
            <a:gdLst/>
            <a:ahLst/>
            <a:cxnLst/>
            <a:rect r="r" b="b" t="t" l="l"/>
            <a:pathLst>
              <a:path h="857250" w="7191375">
                <a:moveTo>
                  <a:pt x="0" y="0"/>
                </a:moveTo>
                <a:lnTo>
                  <a:pt x="7191375" y="0"/>
                </a:lnTo>
                <a:lnTo>
                  <a:pt x="7191375" y="857250"/>
                </a:lnTo>
                <a:lnTo>
                  <a:pt x="0" y="857250"/>
                </a:lnTo>
                <a:lnTo>
                  <a:pt x="0" y="0"/>
                </a:lnTo>
                <a:close/>
              </a:path>
            </a:pathLst>
          </a:custGeom>
          <a:blipFill>
            <a:blip r:embed="rId22"/>
            <a:stretch>
              <a:fillRect l="0" t="0" r="0" b="0"/>
            </a:stretch>
          </a:blipFill>
        </p:spPr>
      </p:sp>
      <p:sp>
        <p:nvSpPr>
          <p:cNvPr name="TextBox 39" id="39"/>
          <p:cNvSpPr txBox="true"/>
          <p:nvPr/>
        </p:nvSpPr>
        <p:spPr>
          <a:xfrm rot="0">
            <a:off x="11138023" y="6230488"/>
            <a:ext cx="4317457" cy="333184"/>
          </a:xfrm>
          <a:prstGeom prst="rect">
            <a:avLst/>
          </a:prstGeom>
        </p:spPr>
        <p:txBody>
          <a:bodyPr anchor="t" rtlCol="false" tIns="0" lIns="0" bIns="0" rIns="0">
            <a:spAutoFit/>
          </a:bodyPr>
          <a:lstStyle/>
          <a:p>
            <a:pPr algn="ctr">
              <a:lnSpc>
                <a:spcPts val="2805"/>
              </a:lnSpc>
            </a:pPr>
            <a:r>
              <a:rPr lang="en-US" b="true" sz="2047">
                <a:solidFill>
                  <a:srgbClr val="F4F4F0"/>
                </a:solidFill>
                <a:latin typeface="Open Sauce Semi-Bold"/>
                <a:ea typeface="Open Sauce Semi-Bold"/>
                <a:cs typeface="Open Sauce Semi-Bold"/>
                <a:sym typeface="Open Sauce Semi-Bold"/>
              </a:rPr>
              <a:t>DISTRIBUTED STORAGE NEEDED</a:t>
            </a:r>
          </a:p>
        </p:txBody>
      </p:sp>
      <p:sp>
        <p:nvSpPr>
          <p:cNvPr name="TextBox 40" id="40"/>
          <p:cNvSpPr txBox="true"/>
          <p:nvPr/>
        </p:nvSpPr>
        <p:spPr>
          <a:xfrm rot="0">
            <a:off x="657761" y="9645104"/>
            <a:ext cx="1196587" cy="230744"/>
          </a:xfrm>
          <a:prstGeom prst="rect">
            <a:avLst/>
          </a:prstGeom>
        </p:spPr>
        <p:txBody>
          <a:bodyPr anchor="t" rtlCol="false" tIns="0" lIns="0" bIns="0" rIns="0">
            <a:spAutoFit/>
          </a:bodyPr>
          <a:lstStyle/>
          <a:p>
            <a:pPr algn="l">
              <a:lnSpc>
                <a:spcPts val="1902"/>
              </a:lnSpc>
            </a:pPr>
            <a:r>
              <a:rPr lang="en-US" sz="1388" b="true">
                <a:solidFill>
                  <a:srgbClr val="2C2C36"/>
                </a:solidFill>
                <a:latin typeface="Open Sauce Semi-Bold"/>
                <a:ea typeface="Open Sauce Semi-Bold"/>
                <a:cs typeface="Open Sauce Semi-Bold"/>
                <a:sym typeface="Open Sauce Semi-Bold"/>
              </a:rPr>
              <a:t>ISE Activity 2</a:t>
            </a:r>
          </a:p>
        </p:txBody>
      </p:sp>
      <p:sp>
        <p:nvSpPr>
          <p:cNvPr name="TextBox 41" id="41"/>
          <p:cNvSpPr txBox="true"/>
          <p:nvPr/>
        </p:nvSpPr>
        <p:spPr>
          <a:xfrm rot="0">
            <a:off x="17336573" y="9645104"/>
            <a:ext cx="120384" cy="230744"/>
          </a:xfrm>
          <a:prstGeom prst="rect">
            <a:avLst/>
          </a:prstGeom>
        </p:spPr>
        <p:txBody>
          <a:bodyPr anchor="t" rtlCol="false" tIns="0" lIns="0" bIns="0" rIns="0">
            <a:spAutoFit/>
          </a:bodyPr>
          <a:lstStyle/>
          <a:p>
            <a:pPr algn="r">
              <a:lnSpc>
                <a:spcPts val="1902"/>
              </a:lnSpc>
            </a:pPr>
            <a:r>
              <a:rPr lang="en-US" sz="1388" b="true">
                <a:solidFill>
                  <a:srgbClr val="2C2C36"/>
                </a:solidFill>
                <a:latin typeface="Open Sauce Semi-Bold"/>
                <a:ea typeface="Open Sauce Semi-Bold"/>
                <a:cs typeface="Open Sauce Semi-Bold"/>
                <a:sym typeface="Open Sauce Semi-Bold"/>
              </a:rPr>
              <a:t>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3F0"/>
        </a:solidFill>
      </p:bgPr>
    </p:bg>
    <p:spTree>
      <p:nvGrpSpPr>
        <p:cNvPr id="1" name=""/>
        <p:cNvGrpSpPr/>
        <p:nvPr/>
      </p:nvGrpSpPr>
      <p:grpSpPr>
        <a:xfrm>
          <a:off x="0" y="0"/>
          <a:ext cx="0" cy="0"/>
          <a:chOff x="0" y="0"/>
          <a:chExt cx="0" cy="0"/>
        </a:xfrm>
      </p:grpSpPr>
      <p:sp>
        <p:nvSpPr>
          <p:cNvPr name="TextBox 2" id="2"/>
          <p:cNvSpPr txBox="true"/>
          <p:nvPr/>
        </p:nvSpPr>
        <p:spPr>
          <a:xfrm rot="0">
            <a:off x="857250" y="495300"/>
            <a:ext cx="10477500" cy="570735"/>
          </a:xfrm>
          <a:prstGeom prst="rect">
            <a:avLst/>
          </a:prstGeom>
        </p:spPr>
        <p:txBody>
          <a:bodyPr anchor="t" rtlCol="false" tIns="0" lIns="0" bIns="0" rIns="0">
            <a:spAutoFit/>
          </a:bodyPr>
          <a:lstStyle/>
          <a:p>
            <a:pPr algn="l">
              <a:lnSpc>
                <a:spcPts val="4767"/>
              </a:lnSpc>
            </a:pPr>
            <a:r>
              <a:rPr lang="en-US" sz="3405" b="true">
                <a:solidFill>
                  <a:srgbClr val="24252F"/>
                </a:solidFill>
                <a:latin typeface="Open Sauce Bold"/>
                <a:ea typeface="Open Sauce Bold"/>
                <a:cs typeface="Open Sauce Bold"/>
                <a:sym typeface="Open Sauce Bold"/>
              </a:rPr>
              <a:t>Case Study — HDFS: Distributing the Workload</a:t>
            </a:r>
          </a:p>
        </p:txBody>
      </p:sp>
      <p:sp>
        <p:nvSpPr>
          <p:cNvPr name="TextBox 3" id="3"/>
          <p:cNvSpPr txBox="true"/>
          <p:nvPr/>
        </p:nvSpPr>
        <p:spPr>
          <a:xfrm rot="0">
            <a:off x="857250" y="1133475"/>
            <a:ext cx="2857500" cy="257175"/>
          </a:xfrm>
          <a:prstGeom prst="rect">
            <a:avLst/>
          </a:prstGeom>
        </p:spPr>
        <p:txBody>
          <a:bodyPr anchor="t" rtlCol="false" tIns="0" lIns="0" bIns="0" rIns="0">
            <a:spAutoFit/>
          </a:bodyPr>
          <a:lstStyle/>
          <a:p>
            <a:pPr algn="l">
              <a:lnSpc>
                <a:spcPts val="2100"/>
              </a:lnSpc>
            </a:pPr>
            <a:r>
              <a:rPr lang="en-US" sz="1500" b="true">
                <a:solidFill>
                  <a:srgbClr val="C9785A"/>
                </a:solidFill>
                <a:latin typeface="Open Sauce Bold"/>
                <a:ea typeface="Open Sauce Bold"/>
                <a:cs typeface="Open Sauce Bold"/>
                <a:sym typeface="Open Sauce Bold"/>
              </a:rPr>
              <a:t>HDFS SOLUTION</a:t>
            </a:r>
          </a:p>
        </p:txBody>
      </p:sp>
      <p:sp>
        <p:nvSpPr>
          <p:cNvPr name="AutoShape 4" id="4"/>
          <p:cNvSpPr/>
          <p:nvPr/>
        </p:nvSpPr>
        <p:spPr>
          <a:xfrm>
            <a:off x="857250" y="1457325"/>
            <a:ext cx="16573500" cy="0"/>
          </a:xfrm>
          <a:prstGeom prst="line">
            <a:avLst/>
          </a:prstGeom>
          <a:ln cap="flat" w="19050">
            <a:solidFill>
              <a:srgbClr val="D8B58F"/>
            </a:solidFill>
            <a:prstDash val="solid"/>
            <a:headEnd type="none" len="sm" w="sm"/>
            <a:tailEnd type="none" len="sm" w="sm"/>
          </a:ln>
        </p:spPr>
      </p:sp>
      <p:grpSp>
        <p:nvGrpSpPr>
          <p:cNvPr name="Group 5" id="5"/>
          <p:cNvGrpSpPr/>
          <p:nvPr/>
        </p:nvGrpSpPr>
        <p:grpSpPr>
          <a:xfrm rot="0">
            <a:off x="7524750" y="1809750"/>
            <a:ext cx="3238500" cy="552450"/>
            <a:chOff x="0" y="0"/>
            <a:chExt cx="4318000" cy="736600"/>
          </a:xfrm>
        </p:grpSpPr>
        <p:sp>
          <p:nvSpPr>
            <p:cNvPr name="Freeform 6" id="6"/>
            <p:cNvSpPr/>
            <p:nvPr/>
          </p:nvSpPr>
          <p:spPr>
            <a:xfrm flipH="false" flipV="false" rot="0">
              <a:off x="0" y="0"/>
              <a:ext cx="4318000" cy="736600"/>
            </a:xfrm>
            <a:custGeom>
              <a:avLst/>
              <a:gdLst/>
              <a:ahLst/>
              <a:cxnLst/>
              <a:rect r="r" b="b" t="t" l="l"/>
              <a:pathLst>
                <a:path h="736600" w="4318000">
                  <a:moveTo>
                    <a:pt x="0" y="0"/>
                  </a:moveTo>
                  <a:lnTo>
                    <a:pt x="4318000" y="0"/>
                  </a:lnTo>
                  <a:lnTo>
                    <a:pt x="4318000" y="736600"/>
                  </a:lnTo>
                  <a:lnTo>
                    <a:pt x="0" y="736600"/>
                  </a:lnTo>
                  <a:close/>
                </a:path>
              </a:pathLst>
            </a:custGeom>
            <a:solidFill>
              <a:srgbClr val="24252F"/>
            </a:solidFill>
          </p:spPr>
        </p:sp>
        <p:sp>
          <p:nvSpPr>
            <p:cNvPr name="TextBox 7" id="7"/>
            <p:cNvSpPr txBox="true"/>
            <p:nvPr/>
          </p:nvSpPr>
          <p:spPr>
            <a:xfrm>
              <a:off x="0" y="-38100"/>
              <a:ext cx="4318000" cy="7747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7524750" y="1943100"/>
            <a:ext cx="3238500" cy="323215"/>
          </a:xfrm>
          <a:prstGeom prst="rect">
            <a:avLst/>
          </a:prstGeom>
        </p:spPr>
        <p:txBody>
          <a:bodyPr anchor="t" rtlCol="false" tIns="0" lIns="0" bIns="0" rIns="0">
            <a:spAutoFit/>
          </a:bodyPr>
          <a:lstStyle/>
          <a:p>
            <a:pPr algn="ctr">
              <a:lnSpc>
                <a:spcPts val="2659"/>
              </a:lnSpc>
            </a:pPr>
            <a:r>
              <a:rPr lang="en-US" sz="1899" b="true">
                <a:solidFill>
                  <a:srgbClr val="FFFFFF"/>
                </a:solidFill>
                <a:latin typeface="Open Sauce Bold"/>
                <a:ea typeface="Open Sauce Bold"/>
                <a:cs typeface="Open Sauce Bold"/>
                <a:sym typeface="Open Sauce Bold"/>
              </a:rPr>
              <a:t>CLIENT</a:t>
            </a:r>
          </a:p>
        </p:txBody>
      </p:sp>
      <p:sp>
        <p:nvSpPr>
          <p:cNvPr name="AutoShape 9" id="9"/>
          <p:cNvSpPr/>
          <p:nvPr/>
        </p:nvSpPr>
        <p:spPr>
          <a:xfrm>
            <a:off x="9144000" y="2381250"/>
            <a:ext cx="0" cy="323850"/>
          </a:xfrm>
          <a:prstGeom prst="line">
            <a:avLst/>
          </a:prstGeom>
          <a:ln cap="flat" w="19050">
            <a:solidFill>
              <a:srgbClr val="C9785A"/>
            </a:solidFill>
            <a:prstDash val="solid"/>
            <a:headEnd type="none" len="sm" w="sm"/>
            <a:tailEnd type="arrow" len="sm" w="med"/>
          </a:ln>
        </p:spPr>
      </p:sp>
      <p:grpSp>
        <p:nvGrpSpPr>
          <p:cNvPr name="Group 10" id="10"/>
          <p:cNvGrpSpPr/>
          <p:nvPr/>
        </p:nvGrpSpPr>
        <p:grpSpPr>
          <a:xfrm rot="0">
            <a:off x="6667500" y="2857500"/>
            <a:ext cx="4953000" cy="819150"/>
            <a:chOff x="0" y="0"/>
            <a:chExt cx="6604000" cy="1092200"/>
          </a:xfrm>
        </p:grpSpPr>
        <p:sp>
          <p:nvSpPr>
            <p:cNvPr name="Freeform 11" id="11"/>
            <p:cNvSpPr/>
            <p:nvPr/>
          </p:nvSpPr>
          <p:spPr>
            <a:xfrm flipH="false" flipV="false" rot="0">
              <a:off x="0" y="0"/>
              <a:ext cx="6604000" cy="1092200"/>
            </a:xfrm>
            <a:custGeom>
              <a:avLst/>
              <a:gdLst/>
              <a:ahLst/>
              <a:cxnLst/>
              <a:rect r="r" b="b" t="t" l="l"/>
              <a:pathLst>
                <a:path h="1092200" w="6604000">
                  <a:moveTo>
                    <a:pt x="0" y="0"/>
                  </a:moveTo>
                  <a:lnTo>
                    <a:pt x="6604000" y="0"/>
                  </a:lnTo>
                  <a:lnTo>
                    <a:pt x="6604000" y="1092200"/>
                  </a:lnTo>
                  <a:lnTo>
                    <a:pt x="0" y="1092200"/>
                  </a:lnTo>
                  <a:close/>
                </a:path>
              </a:pathLst>
            </a:custGeom>
            <a:solidFill>
              <a:srgbClr val="C9785A"/>
            </a:solidFill>
          </p:spPr>
        </p:sp>
        <p:sp>
          <p:nvSpPr>
            <p:cNvPr name="TextBox 12" id="12"/>
            <p:cNvSpPr txBox="true"/>
            <p:nvPr/>
          </p:nvSpPr>
          <p:spPr>
            <a:xfrm>
              <a:off x="0" y="-38100"/>
              <a:ext cx="6604000" cy="11303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6667500" y="2971800"/>
            <a:ext cx="4953000" cy="372745"/>
          </a:xfrm>
          <a:prstGeom prst="rect">
            <a:avLst/>
          </a:prstGeom>
        </p:spPr>
        <p:txBody>
          <a:bodyPr anchor="t" rtlCol="false" tIns="0" lIns="0" bIns="0" rIns="0">
            <a:spAutoFit/>
          </a:bodyPr>
          <a:lstStyle/>
          <a:p>
            <a:pPr algn="ctr">
              <a:lnSpc>
                <a:spcPts val="3079"/>
              </a:lnSpc>
            </a:pPr>
            <a:r>
              <a:rPr lang="en-US" sz="2199" b="true">
                <a:solidFill>
                  <a:srgbClr val="FFFFFF"/>
                </a:solidFill>
                <a:latin typeface="Open Sauce Bold"/>
                <a:ea typeface="Open Sauce Bold"/>
                <a:cs typeface="Open Sauce Bold"/>
                <a:sym typeface="Open Sauce Bold"/>
              </a:rPr>
              <a:t>NAMENODE</a:t>
            </a:r>
          </a:p>
        </p:txBody>
      </p:sp>
      <p:sp>
        <p:nvSpPr>
          <p:cNvPr name="TextBox 14" id="14"/>
          <p:cNvSpPr txBox="true"/>
          <p:nvPr/>
        </p:nvSpPr>
        <p:spPr>
          <a:xfrm rot="0">
            <a:off x="6667500" y="3324225"/>
            <a:ext cx="4953000" cy="257175"/>
          </a:xfrm>
          <a:prstGeom prst="rect">
            <a:avLst/>
          </a:prstGeom>
        </p:spPr>
        <p:txBody>
          <a:bodyPr anchor="t" rtlCol="false" tIns="0" lIns="0" bIns="0" rIns="0">
            <a:spAutoFit/>
          </a:bodyPr>
          <a:lstStyle/>
          <a:p>
            <a:pPr algn="ctr">
              <a:lnSpc>
                <a:spcPts val="2100"/>
              </a:lnSpc>
            </a:pPr>
            <a:r>
              <a:rPr lang="en-US" sz="1500" b="true">
                <a:solidFill>
                  <a:srgbClr val="FFFFFF"/>
                </a:solidFill>
                <a:latin typeface="Open Sauce Medium"/>
                <a:ea typeface="Open Sauce Medium"/>
                <a:cs typeface="Open Sauce Medium"/>
                <a:sym typeface="Open Sauce Medium"/>
              </a:rPr>
              <a:t>metadata • namespace • block locations</a:t>
            </a:r>
          </a:p>
        </p:txBody>
      </p:sp>
      <p:sp>
        <p:nvSpPr>
          <p:cNvPr name="AutoShape 15" id="15"/>
          <p:cNvSpPr/>
          <p:nvPr/>
        </p:nvSpPr>
        <p:spPr>
          <a:xfrm>
            <a:off x="9144000" y="3676650"/>
            <a:ext cx="0" cy="419100"/>
          </a:xfrm>
          <a:prstGeom prst="line">
            <a:avLst/>
          </a:prstGeom>
          <a:ln cap="flat" w="19050">
            <a:solidFill>
              <a:srgbClr val="C9785A"/>
            </a:solidFill>
            <a:prstDash val="solid"/>
            <a:headEnd type="none" len="sm" w="sm"/>
            <a:tailEnd type="arrow" len="sm" w="med"/>
          </a:ln>
        </p:spPr>
      </p:sp>
      <p:grpSp>
        <p:nvGrpSpPr>
          <p:cNvPr name="Group 16" id="16"/>
          <p:cNvGrpSpPr/>
          <p:nvPr/>
        </p:nvGrpSpPr>
        <p:grpSpPr>
          <a:xfrm rot="0">
            <a:off x="3143250" y="4476750"/>
            <a:ext cx="2857500" cy="952500"/>
            <a:chOff x="0" y="0"/>
            <a:chExt cx="3810000" cy="1270000"/>
          </a:xfrm>
        </p:grpSpPr>
        <p:sp>
          <p:nvSpPr>
            <p:cNvPr name="Freeform 17" id="17"/>
            <p:cNvSpPr/>
            <p:nvPr/>
          </p:nvSpPr>
          <p:spPr>
            <a:xfrm flipH="false" flipV="false" rot="0">
              <a:off x="0" y="0"/>
              <a:ext cx="3810000" cy="1270000"/>
            </a:xfrm>
            <a:custGeom>
              <a:avLst/>
              <a:gdLst/>
              <a:ahLst/>
              <a:cxnLst/>
              <a:rect r="r" b="b" t="t" l="l"/>
              <a:pathLst>
                <a:path h="1270000" w="3810000">
                  <a:moveTo>
                    <a:pt x="0" y="0"/>
                  </a:moveTo>
                  <a:lnTo>
                    <a:pt x="3810000" y="0"/>
                  </a:lnTo>
                  <a:lnTo>
                    <a:pt x="3810000" y="1270000"/>
                  </a:lnTo>
                  <a:lnTo>
                    <a:pt x="0" y="1270000"/>
                  </a:lnTo>
                  <a:close/>
                </a:path>
              </a:pathLst>
            </a:custGeom>
            <a:solidFill>
              <a:srgbClr val="24252F"/>
            </a:solidFill>
          </p:spPr>
        </p:sp>
        <p:sp>
          <p:nvSpPr>
            <p:cNvPr name="TextBox 18" id="18"/>
            <p:cNvSpPr txBox="true"/>
            <p:nvPr/>
          </p:nvSpPr>
          <p:spPr>
            <a:xfrm>
              <a:off x="0" y="-38100"/>
              <a:ext cx="3810000" cy="1308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3143250" y="4648200"/>
            <a:ext cx="2857500" cy="323215"/>
          </a:xfrm>
          <a:prstGeom prst="rect">
            <a:avLst/>
          </a:prstGeom>
        </p:spPr>
        <p:txBody>
          <a:bodyPr anchor="t" rtlCol="false" tIns="0" lIns="0" bIns="0" rIns="0">
            <a:spAutoFit/>
          </a:bodyPr>
          <a:lstStyle/>
          <a:p>
            <a:pPr algn="ctr">
              <a:lnSpc>
                <a:spcPts val="2659"/>
              </a:lnSpc>
            </a:pPr>
            <a:r>
              <a:rPr lang="en-US" sz="1899" b="true">
                <a:solidFill>
                  <a:srgbClr val="FFFFFF"/>
                </a:solidFill>
                <a:latin typeface="Open Sauce Bold"/>
                <a:ea typeface="Open Sauce Bold"/>
                <a:cs typeface="Open Sauce Bold"/>
                <a:sym typeface="Open Sauce Bold"/>
              </a:rPr>
              <a:t>DATANODE 1</a:t>
            </a:r>
          </a:p>
        </p:txBody>
      </p:sp>
      <p:sp>
        <p:nvSpPr>
          <p:cNvPr name="TextBox 20" id="20"/>
          <p:cNvSpPr txBox="true"/>
          <p:nvPr/>
        </p:nvSpPr>
        <p:spPr>
          <a:xfrm rot="0">
            <a:off x="3143250" y="4991100"/>
            <a:ext cx="2857500" cy="257175"/>
          </a:xfrm>
          <a:prstGeom prst="rect">
            <a:avLst/>
          </a:prstGeom>
        </p:spPr>
        <p:txBody>
          <a:bodyPr anchor="t" rtlCol="false" tIns="0" lIns="0" bIns="0" rIns="0">
            <a:spAutoFit/>
          </a:bodyPr>
          <a:lstStyle/>
          <a:p>
            <a:pPr algn="ctr">
              <a:lnSpc>
                <a:spcPts val="2100"/>
              </a:lnSpc>
            </a:pPr>
            <a:r>
              <a:rPr lang="en-US" sz="1500" b="true">
                <a:solidFill>
                  <a:srgbClr val="E8C4B5"/>
                </a:solidFill>
                <a:latin typeface="Open Sauce Medium"/>
                <a:ea typeface="Open Sauce Medium"/>
                <a:cs typeface="Open Sauce Medium"/>
                <a:sym typeface="Open Sauce Medium"/>
              </a:rPr>
              <a:t>physical data blocks</a:t>
            </a:r>
          </a:p>
        </p:txBody>
      </p:sp>
      <p:sp>
        <p:nvSpPr>
          <p:cNvPr name="AutoShape 21" id="21"/>
          <p:cNvSpPr/>
          <p:nvPr/>
        </p:nvSpPr>
        <p:spPr>
          <a:xfrm flipH="true">
            <a:off x="4572000" y="4095750"/>
            <a:ext cx="4572000" cy="381000"/>
          </a:xfrm>
          <a:prstGeom prst="line">
            <a:avLst/>
          </a:prstGeom>
          <a:ln cap="flat" w="19050">
            <a:solidFill>
              <a:srgbClr val="C9785A"/>
            </a:solidFill>
            <a:prstDash val="solid"/>
            <a:headEnd type="none" len="sm" w="sm"/>
            <a:tailEnd type="arrow" len="sm" w="med"/>
          </a:ln>
        </p:spPr>
      </p:sp>
      <p:grpSp>
        <p:nvGrpSpPr>
          <p:cNvPr name="Group 22" id="22"/>
          <p:cNvGrpSpPr/>
          <p:nvPr/>
        </p:nvGrpSpPr>
        <p:grpSpPr>
          <a:xfrm rot="0">
            <a:off x="7715250" y="4476750"/>
            <a:ext cx="2857500" cy="952500"/>
            <a:chOff x="0" y="0"/>
            <a:chExt cx="3810000" cy="1270000"/>
          </a:xfrm>
        </p:grpSpPr>
        <p:sp>
          <p:nvSpPr>
            <p:cNvPr name="Freeform 23" id="23"/>
            <p:cNvSpPr/>
            <p:nvPr/>
          </p:nvSpPr>
          <p:spPr>
            <a:xfrm flipH="false" flipV="false" rot="0">
              <a:off x="0" y="0"/>
              <a:ext cx="3810000" cy="1270000"/>
            </a:xfrm>
            <a:custGeom>
              <a:avLst/>
              <a:gdLst/>
              <a:ahLst/>
              <a:cxnLst/>
              <a:rect r="r" b="b" t="t" l="l"/>
              <a:pathLst>
                <a:path h="1270000" w="3810000">
                  <a:moveTo>
                    <a:pt x="0" y="0"/>
                  </a:moveTo>
                  <a:lnTo>
                    <a:pt x="3810000" y="0"/>
                  </a:lnTo>
                  <a:lnTo>
                    <a:pt x="3810000" y="1270000"/>
                  </a:lnTo>
                  <a:lnTo>
                    <a:pt x="0" y="1270000"/>
                  </a:lnTo>
                  <a:close/>
                </a:path>
              </a:pathLst>
            </a:custGeom>
            <a:solidFill>
              <a:srgbClr val="24252F"/>
            </a:solidFill>
          </p:spPr>
        </p:sp>
        <p:sp>
          <p:nvSpPr>
            <p:cNvPr name="TextBox 24" id="24"/>
            <p:cNvSpPr txBox="true"/>
            <p:nvPr/>
          </p:nvSpPr>
          <p:spPr>
            <a:xfrm>
              <a:off x="0" y="-38100"/>
              <a:ext cx="3810000" cy="1308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7715250" y="4648200"/>
            <a:ext cx="2857500" cy="323215"/>
          </a:xfrm>
          <a:prstGeom prst="rect">
            <a:avLst/>
          </a:prstGeom>
        </p:spPr>
        <p:txBody>
          <a:bodyPr anchor="t" rtlCol="false" tIns="0" lIns="0" bIns="0" rIns="0">
            <a:spAutoFit/>
          </a:bodyPr>
          <a:lstStyle/>
          <a:p>
            <a:pPr algn="ctr">
              <a:lnSpc>
                <a:spcPts val="2659"/>
              </a:lnSpc>
            </a:pPr>
            <a:r>
              <a:rPr lang="en-US" sz="1899" b="true">
                <a:solidFill>
                  <a:srgbClr val="FFFFFF"/>
                </a:solidFill>
                <a:latin typeface="Open Sauce Bold"/>
                <a:ea typeface="Open Sauce Bold"/>
                <a:cs typeface="Open Sauce Bold"/>
                <a:sym typeface="Open Sauce Bold"/>
              </a:rPr>
              <a:t>DATANODE 2</a:t>
            </a:r>
          </a:p>
        </p:txBody>
      </p:sp>
      <p:sp>
        <p:nvSpPr>
          <p:cNvPr name="TextBox 26" id="26"/>
          <p:cNvSpPr txBox="true"/>
          <p:nvPr/>
        </p:nvSpPr>
        <p:spPr>
          <a:xfrm rot="0">
            <a:off x="7715250" y="4991100"/>
            <a:ext cx="2857500" cy="257175"/>
          </a:xfrm>
          <a:prstGeom prst="rect">
            <a:avLst/>
          </a:prstGeom>
        </p:spPr>
        <p:txBody>
          <a:bodyPr anchor="t" rtlCol="false" tIns="0" lIns="0" bIns="0" rIns="0">
            <a:spAutoFit/>
          </a:bodyPr>
          <a:lstStyle/>
          <a:p>
            <a:pPr algn="ctr">
              <a:lnSpc>
                <a:spcPts val="2100"/>
              </a:lnSpc>
            </a:pPr>
            <a:r>
              <a:rPr lang="en-US" sz="1500" b="true">
                <a:solidFill>
                  <a:srgbClr val="E8C4B5"/>
                </a:solidFill>
                <a:latin typeface="Open Sauce Medium"/>
                <a:ea typeface="Open Sauce Medium"/>
                <a:cs typeface="Open Sauce Medium"/>
                <a:sym typeface="Open Sauce Medium"/>
              </a:rPr>
              <a:t>physical data blocks</a:t>
            </a:r>
          </a:p>
        </p:txBody>
      </p:sp>
      <p:sp>
        <p:nvSpPr>
          <p:cNvPr name="AutoShape 27" id="27"/>
          <p:cNvSpPr/>
          <p:nvPr/>
        </p:nvSpPr>
        <p:spPr>
          <a:xfrm>
            <a:off x="9144000" y="4095750"/>
            <a:ext cx="0" cy="381000"/>
          </a:xfrm>
          <a:prstGeom prst="line">
            <a:avLst/>
          </a:prstGeom>
          <a:ln cap="flat" w="19050">
            <a:solidFill>
              <a:srgbClr val="C9785A"/>
            </a:solidFill>
            <a:prstDash val="solid"/>
            <a:headEnd type="none" len="sm" w="sm"/>
            <a:tailEnd type="arrow" len="sm" w="med"/>
          </a:ln>
        </p:spPr>
      </p:sp>
      <p:grpSp>
        <p:nvGrpSpPr>
          <p:cNvPr name="Group 28" id="28"/>
          <p:cNvGrpSpPr/>
          <p:nvPr/>
        </p:nvGrpSpPr>
        <p:grpSpPr>
          <a:xfrm rot="0">
            <a:off x="12287250" y="4476750"/>
            <a:ext cx="2857500" cy="952500"/>
            <a:chOff x="0" y="0"/>
            <a:chExt cx="3810000" cy="1270000"/>
          </a:xfrm>
        </p:grpSpPr>
        <p:sp>
          <p:nvSpPr>
            <p:cNvPr name="Freeform 29" id="29"/>
            <p:cNvSpPr/>
            <p:nvPr/>
          </p:nvSpPr>
          <p:spPr>
            <a:xfrm flipH="false" flipV="false" rot="0">
              <a:off x="0" y="0"/>
              <a:ext cx="3810000" cy="1270000"/>
            </a:xfrm>
            <a:custGeom>
              <a:avLst/>
              <a:gdLst/>
              <a:ahLst/>
              <a:cxnLst/>
              <a:rect r="r" b="b" t="t" l="l"/>
              <a:pathLst>
                <a:path h="1270000" w="3810000">
                  <a:moveTo>
                    <a:pt x="0" y="0"/>
                  </a:moveTo>
                  <a:lnTo>
                    <a:pt x="3810000" y="0"/>
                  </a:lnTo>
                  <a:lnTo>
                    <a:pt x="3810000" y="1270000"/>
                  </a:lnTo>
                  <a:lnTo>
                    <a:pt x="0" y="1270000"/>
                  </a:lnTo>
                  <a:close/>
                </a:path>
              </a:pathLst>
            </a:custGeom>
            <a:solidFill>
              <a:srgbClr val="24252F"/>
            </a:solidFill>
          </p:spPr>
        </p:sp>
        <p:sp>
          <p:nvSpPr>
            <p:cNvPr name="TextBox 30" id="30"/>
            <p:cNvSpPr txBox="true"/>
            <p:nvPr/>
          </p:nvSpPr>
          <p:spPr>
            <a:xfrm>
              <a:off x="0" y="-38100"/>
              <a:ext cx="3810000" cy="13081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2287250" y="4648200"/>
            <a:ext cx="2857500" cy="323215"/>
          </a:xfrm>
          <a:prstGeom prst="rect">
            <a:avLst/>
          </a:prstGeom>
        </p:spPr>
        <p:txBody>
          <a:bodyPr anchor="t" rtlCol="false" tIns="0" lIns="0" bIns="0" rIns="0">
            <a:spAutoFit/>
          </a:bodyPr>
          <a:lstStyle/>
          <a:p>
            <a:pPr algn="ctr">
              <a:lnSpc>
                <a:spcPts val="2659"/>
              </a:lnSpc>
            </a:pPr>
            <a:r>
              <a:rPr lang="en-US" sz="1899" b="true">
                <a:solidFill>
                  <a:srgbClr val="FFFFFF"/>
                </a:solidFill>
                <a:latin typeface="Open Sauce Bold"/>
                <a:ea typeface="Open Sauce Bold"/>
                <a:cs typeface="Open Sauce Bold"/>
                <a:sym typeface="Open Sauce Bold"/>
              </a:rPr>
              <a:t>DATANODE 3</a:t>
            </a:r>
          </a:p>
        </p:txBody>
      </p:sp>
      <p:sp>
        <p:nvSpPr>
          <p:cNvPr name="TextBox 32" id="32"/>
          <p:cNvSpPr txBox="true"/>
          <p:nvPr/>
        </p:nvSpPr>
        <p:spPr>
          <a:xfrm rot="0">
            <a:off x="12287250" y="4991100"/>
            <a:ext cx="2857500" cy="257175"/>
          </a:xfrm>
          <a:prstGeom prst="rect">
            <a:avLst/>
          </a:prstGeom>
        </p:spPr>
        <p:txBody>
          <a:bodyPr anchor="t" rtlCol="false" tIns="0" lIns="0" bIns="0" rIns="0">
            <a:spAutoFit/>
          </a:bodyPr>
          <a:lstStyle/>
          <a:p>
            <a:pPr algn="ctr">
              <a:lnSpc>
                <a:spcPts val="2100"/>
              </a:lnSpc>
            </a:pPr>
            <a:r>
              <a:rPr lang="en-US" sz="1500" b="true">
                <a:solidFill>
                  <a:srgbClr val="E8C4B5"/>
                </a:solidFill>
                <a:latin typeface="Open Sauce Medium"/>
                <a:ea typeface="Open Sauce Medium"/>
                <a:cs typeface="Open Sauce Medium"/>
                <a:sym typeface="Open Sauce Medium"/>
              </a:rPr>
              <a:t>physical data blocks</a:t>
            </a:r>
          </a:p>
        </p:txBody>
      </p:sp>
      <p:sp>
        <p:nvSpPr>
          <p:cNvPr name="AutoShape 33" id="33"/>
          <p:cNvSpPr/>
          <p:nvPr/>
        </p:nvSpPr>
        <p:spPr>
          <a:xfrm>
            <a:off x="9144000" y="4095750"/>
            <a:ext cx="4572000" cy="381000"/>
          </a:xfrm>
          <a:prstGeom prst="line">
            <a:avLst/>
          </a:prstGeom>
          <a:ln cap="flat" w="19050">
            <a:solidFill>
              <a:srgbClr val="C9785A"/>
            </a:solidFill>
            <a:prstDash val="solid"/>
            <a:headEnd type="none" len="sm" w="sm"/>
            <a:tailEnd type="arrow" len="sm" w="med"/>
          </a:ln>
        </p:spPr>
      </p:sp>
      <p:sp>
        <p:nvSpPr>
          <p:cNvPr name="AutoShape 34" id="34"/>
          <p:cNvSpPr/>
          <p:nvPr/>
        </p:nvSpPr>
        <p:spPr>
          <a:xfrm>
            <a:off x="857250" y="5905500"/>
            <a:ext cx="16573500" cy="0"/>
          </a:xfrm>
          <a:prstGeom prst="line">
            <a:avLst/>
          </a:prstGeom>
          <a:ln cap="flat" w="19050">
            <a:solidFill>
              <a:srgbClr val="D8B58F"/>
            </a:solidFill>
            <a:prstDash val="solid"/>
            <a:headEnd type="none" len="sm" w="sm"/>
            <a:tailEnd type="none" len="sm" w="sm"/>
          </a:ln>
        </p:spPr>
      </p:sp>
      <p:sp>
        <p:nvSpPr>
          <p:cNvPr name="TextBox 35" id="35"/>
          <p:cNvSpPr txBox="true"/>
          <p:nvPr/>
        </p:nvSpPr>
        <p:spPr>
          <a:xfrm rot="0">
            <a:off x="857250" y="6115050"/>
            <a:ext cx="2857500" cy="240665"/>
          </a:xfrm>
          <a:prstGeom prst="rect">
            <a:avLst/>
          </a:prstGeom>
        </p:spPr>
        <p:txBody>
          <a:bodyPr anchor="t" rtlCol="false" tIns="0" lIns="0" bIns="0" rIns="0">
            <a:spAutoFit/>
          </a:bodyPr>
          <a:lstStyle/>
          <a:p>
            <a:pPr algn="l">
              <a:lnSpc>
                <a:spcPts val="1960"/>
              </a:lnSpc>
            </a:pPr>
            <a:r>
              <a:rPr lang="en-US" sz="1400" b="true">
                <a:solidFill>
                  <a:srgbClr val="6E6863"/>
                </a:solidFill>
                <a:latin typeface="Open Sauce Bold"/>
                <a:ea typeface="Open Sauce Bold"/>
                <a:cs typeface="Open Sauce Bold"/>
                <a:sym typeface="Open Sauce Bold"/>
              </a:rPr>
              <a:t>PRESENTER NOTES</a:t>
            </a:r>
          </a:p>
        </p:txBody>
      </p:sp>
      <p:sp>
        <p:nvSpPr>
          <p:cNvPr name="TextBox 36" id="36"/>
          <p:cNvSpPr txBox="true"/>
          <p:nvPr/>
        </p:nvSpPr>
        <p:spPr>
          <a:xfrm rot="0">
            <a:off x="857250" y="6438900"/>
            <a:ext cx="7239000" cy="763270"/>
          </a:xfrm>
          <a:prstGeom prst="rect">
            <a:avLst/>
          </a:prstGeom>
        </p:spPr>
        <p:txBody>
          <a:bodyPr anchor="t" rtlCol="false" tIns="0" lIns="0" bIns="0" rIns="0">
            <a:spAutoFit/>
          </a:bodyPr>
          <a:lstStyle/>
          <a:p>
            <a:pPr algn="l">
              <a:lnSpc>
                <a:spcPts val="3079"/>
              </a:lnSpc>
            </a:pPr>
            <a:r>
              <a:rPr lang="en-US" sz="2199" b="true">
                <a:solidFill>
                  <a:srgbClr val="24252F"/>
                </a:solidFill>
                <a:latin typeface="Open Sauce Medium"/>
                <a:ea typeface="Open Sauce Medium"/>
                <a:cs typeface="Open Sauce Medium"/>
                <a:sym typeface="Open Sauce Medium"/>
              </a:rPr>
              <a:t>• Large files are divided into blocks.</a:t>
            </a:r>
          </a:p>
          <a:p>
            <a:pPr algn="l">
              <a:lnSpc>
                <a:spcPts val="3079"/>
              </a:lnSpc>
            </a:pPr>
            <a:r>
              <a:rPr lang="en-US" sz="2199" b="true">
                <a:solidFill>
                  <a:srgbClr val="24252F"/>
                </a:solidFill>
                <a:latin typeface="Open Sauce Medium"/>
                <a:ea typeface="Open Sauce Medium"/>
                <a:cs typeface="Open Sauce Medium"/>
                <a:sym typeface="Open Sauce Medium"/>
              </a:rPr>
              <a:t>• Blocks are distributed across multiple DataNodes.</a:t>
            </a:r>
          </a:p>
        </p:txBody>
      </p:sp>
      <p:sp>
        <p:nvSpPr>
          <p:cNvPr name="TextBox 37" id="37"/>
          <p:cNvSpPr txBox="true"/>
          <p:nvPr/>
        </p:nvSpPr>
        <p:spPr>
          <a:xfrm rot="0">
            <a:off x="9620250" y="6438900"/>
            <a:ext cx="7239000" cy="763270"/>
          </a:xfrm>
          <a:prstGeom prst="rect">
            <a:avLst/>
          </a:prstGeom>
        </p:spPr>
        <p:txBody>
          <a:bodyPr anchor="t" rtlCol="false" tIns="0" lIns="0" bIns="0" rIns="0">
            <a:spAutoFit/>
          </a:bodyPr>
          <a:lstStyle/>
          <a:p>
            <a:pPr algn="l">
              <a:lnSpc>
                <a:spcPts val="3079"/>
              </a:lnSpc>
            </a:pPr>
            <a:r>
              <a:rPr lang="en-US" sz="2199" b="true">
                <a:solidFill>
                  <a:srgbClr val="24252F"/>
                </a:solidFill>
                <a:latin typeface="Open Sauce Medium"/>
                <a:ea typeface="Open Sauce Medium"/>
                <a:cs typeface="Open Sauce Medium"/>
                <a:sym typeface="Open Sauce Medium"/>
              </a:rPr>
              <a:t>• Replication creates additional block copies.</a:t>
            </a:r>
          </a:p>
          <a:p>
            <a:pPr algn="l">
              <a:lnSpc>
                <a:spcPts val="3079"/>
              </a:lnSpc>
            </a:pPr>
            <a:r>
              <a:rPr lang="en-US" sz="2199" b="true">
                <a:solidFill>
                  <a:srgbClr val="24252F"/>
                </a:solidFill>
                <a:latin typeface="Open Sauce Medium"/>
                <a:ea typeface="Open Sauce Medium"/>
                <a:cs typeface="Open Sauce Medium"/>
                <a:sym typeface="Open Sauce Medium"/>
              </a:rPr>
              <a:t>• Replicas provide fault tolerance.</a:t>
            </a:r>
          </a:p>
        </p:txBody>
      </p:sp>
      <p:sp>
        <p:nvSpPr>
          <p:cNvPr name="TextBox 38" id="38"/>
          <p:cNvSpPr txBox="true"/>
          <p:nvPr/>
        </p:nvSpPr>
        <p:spPr>
          <a:xfrm rot="0">
            <a:off x="857250" y="7515225"/>
            <a:ext cx="6667500" cy="280670"/>
          </a:xfrm>
          <a:prstGeom prst="rect">
            <a:avLst/>
          </a:prstGeom>
        </p:spPr>
        <p:txBody>
          <a:bodyPr anchor="t" rtlCol="false" tIns="0" lIns="0" bIns="0" rIns="0">
            <a:spAutoFit/>
          </a:bodyPr>
          <a:lstStyle/>
          <a:p>
            <a:pPr algn="l">
              <a:lnSpc>
                <a:spcPts val="2380"/>
              </a:lnSpc>
            </a:pPr>
            <a:r>
              <a:rPr lang="en-US" sz="1700" b="true">
                <a:solidFill>
                  <a:srgbClr val="C9785A"/>
                </a:solidFill>
                <a:latin typeface="Open Sauce Bold"/>
                <a:ea typeface="Open Sauce Bold"/>
                <a:cs typeface="Open Sauce Bold"/>
                <a:sym typeface="Open Sauce Bold"/>
              </a:rPr>
              <a:t>Ask: Where is the file actually stored?</a:t>
            </a:r>
          </a:p>
        </p:txBody>
      </p:sp>
      <p:grpSp>
        <p:nvGrpSpPr>
          <p:cNvPr name="Group 39" id="39"/>
          <p:cNvGrpSpPr/>
          <p:nvPr/>
        </p:nvGrpSpPr>
        <p:grpSpPr>
          <a:xfrm rot="0">
            <a:off x="857250" y="7858125"/>
            <a:ext cx="16573500" cy="781050"/>
            <a:chOff x="0" y="0"/>
            <a:chExt cx="22098000" cy="1041400"/>
          </a:xfrm>
        </p:grpSpPr>
        <p:sp>
          <p:nvSpPr>
            <p:cNvPr name="Freeform 40" id="40"/>
            <p:cNvSpPr/>
            <p:nvPr/>
          </p:nvSpPr>
          <p:spPr>
            <a:xfrm flipH="false" flipV="false" rot="0">
              <a:off x="0" y="0"/>
              <a:ext cx="22098000" cy="1041400"/>
            </a:xfrm>
            <a:custGeom>
              <a:avLst/>
              <a:gdLst/>
              <a:ahLst/>
              <a:cxnLst/>
              <a:rect r="r" b="b" t="t" l="l"/>
              <a:pathLst>
                <a:path h="1041400" w="22098000">
                  <a:moveTo>
                    <a:pt x="0" y="0"/>
                  </a:moveTo>
                  <a:lnTo>
                    <a:pt x="22098000" y="0"/>
                  </a:lnTo>
                  <a:lnTo>
                    <a:pt x="22098000" y="1041400"/>
                  </a:lnTo>
                  <a:lnTo>
                    <a:pt x="0" y="1041400"/>
                  </a:lnTo>
                  <a:close/>
                </a:path>
              </a:pathLst>
            </a:custGeom>
            <a:solidFill>
              <a:srgbClr val="24252F"/>
            </a:solidFill>
          </p:spPr>
        </p:sp>
        <p:sp>
          <p:nvSpPr>
            <p:cNvPr name="TextBox 41" id="41"/>
            <p:cNvSpPr txBox="true"/>
            <p:nvPr/>
          </p:nvSpPr>
          <p:spPr>
            <a:xfrm>
              <a:off x="0" y="-38100"/>
              <a:ext cx="22098000" cy="1079500"/>
            </a:xfrm>
            <a:prstGeom prst="rect">
              <a:avLst/>
            </a:prstGeom>
          </p:spPr>
          <p:txBody>
            <a:bodyPr anchor="ctr" rtlCol="false" tIns="50800" lIns="50800" bIns="50800" rIns="50800"/>
            <a:lstStyle/>
            <a:p>
              <a:pPr algn="l">
                <a:lnSpc>
                  <a:spcPts val="1679"/>
                </a:lnSpc>
              </a:pPr>
            </a:p>
          </p:txBody>
        </p:sp>
      </p:grpSp>
      <p:sp>
        <p:nvSpPr>
          <p:cNvPr name="TextBox 42" id="42"/>
          <p:cNvSpPr txBox="true"/>
          <p:nvPr/>
        </p:nvSpPr>
        <p:spPr>
          <a:xfrm rot="0">
            <a:off x="1162050" y="8039100"/>
            <a:ext cx="15963900" cy="372745"/>
          </a:xfrm>
          <a:prstGeom prst="rect">
            <a:avLst/>
          </a:prstGeom>
        </p:spPr>
        <p:txBody>
          <a:bodyPr anchor="t" rtlCol="false" tIns="0" lIns="0" bIns="0" rIns="0">
            <a:spAutoFit/>
          </a:bodyPr>
          <a:lstStyle/>
          <a:p>
            <a:pPr algn="ctr">
              <a:lnSpc>
                <a:spcPts val="3079"/>
              </a:lnSpc>
            </a:pPr>
            <a:r>
              <a:rPr lang="en-US" sz="2199" b="true">
                <a:solidFill>
                  <a:srgbClr val="FFFFFF"/>
                </a:solidFill>
                <a:latin typeface="Open Sauce Bold"/>
                <a:ea typeface="Open Sauce Bold"/>
                <a:cs typeface="Open Sauce Bold"/>
                <a:sym typeface="Open Sauce Bold"/>
              </a:rPr>
              <a:t>The NameNode knows where the data is.  The DataNodes hold the data.</a:t>
            </a:r>
          </a:p>
        </p:txBody>
      </p:sp>
      <p:sp>
        <p:nvSpPr>
          <p:cNvPr name="AutoShape 43" id="43"/>
          <p:cNvSpPr/>
          <p:nvPr/>
        </p:nvSpPr>
        <p:spPr>
          <a:xfrm>
            <a:off x="857250" y="9496425"/>
            <a:ext cx="16573500" cy="0"/>
          </a:xfrm>
          <a:prstGeom prst="line">
            <a:avLst/>
          </a:prstGeom>
          <a:ln cap="flat" w="19050">
            <a:solidFill>
              <a:srgbClr val="D8B58F"/>
            </a:solidFill>
            <a:prstDash val="solid"/>
            <a:headEnd type="none" len="sm" w="sm"/>
            <a:tailEnd type="none" len="sm" w="sm"/>
          </a:ln>
        </p:spPr>
      </p:sp>
      <p:sp>
        <p:nvSpPr>
          <p:cNvPr name="TextBox 44" id="44"/>
          <p:cNvSpPr txBox="true"/>
          <p:nvPr/>
        </p:nvSpPr>
        <p:spPr>
          <a:xfrm rot="0">
            <a:off x="857250" y="9667875"/>
            <a:ext cx="2381250" cy="224155"/>
          </a:xfrm>
          <a:prstGeom prst="rect">
            <a:avLst/>
          </a:prstGeom>
        </p:spPr>
        <p:txBody>
          <a:bodyPr anchor="t" rtlCol="false" tIns="0" lIns="0" bIns="0" rIns="0">
            <a:spAutoFit/>
          </a:bodyPr>
          <a:lstStyle/>
          <a:p>
            <a:pPr algn="l">
              <a:lnSpc>
                <a:spcPts val="1819"/>
              </a:lnSpc>
            </a:pPr>
            <a:r>
              <a:rPr lang="en-US" sz="1299">
                <a:solidFill>
                  <a:srgbClr val="6E6863"/>
                </a:solidFill>
                <a:latin typeface="Open Sauce"/>
                <a:ea typeface="Open Sauce"/>
                <a:cs typeface="Open Sauce"/>
                <a:sym typeface="Open Sauce"/>
              </a:rPr>
              <a:t>ISE Activity 2</a:t>
            </a:r>
          </a:p>
        </p:txBody>
      </p:sp>
      <p:sp>
        <p:nvSpPr>
          <p:cNvPr name="TextBox 45" id="45"/>
          <p:cNvSpPr txBox="true"/>
          <p:nvPr/>
        </p:nvSpPr>
        <p:spPr>
          <a:xfrm rot="0">
            <a:off x="17049750" y="9667875"/>
            <a:ext cx="381000" cy="224155"/>
          </a:xfrm>
          <a:prstGeom prst="rect">
            <a:avLst/>
          </a:prstGeom>
        </p:spPr>
        <p:txBody>
          <a:bodyPr anchor="t" rtlCol="false" tIns="0" lIns="0" bIns="0" rIns="0">
            <a:spAutoFit/>
          </a:bodyPr>
          <a:lstStyle/>
          <a:p>
            <a:pPr algn="r">
              <a:lnSpc>
                <a:spcPts val="1819"/>
              </a:lnSpc>
            </a:pPr>
            <a:r>
              <a:rPr lang="en-US" sz="1299">
                <a:solidFill>
                  <a:srgbClr val="6E6863"/>
                </a:solidFill>
                <a:latin typeface="Open Sauce"/>
                <a:ea typeface="Open Sauce"/>
                <a:cs typeface="Open Sauce"/>
                <a:sym typeface="Open Sauce"/>
              </a:rPr>
              <a:t>3</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5F3F0"/>
        </a:solidFill>
      </p:bgPr>
    </p:bg>
    <p:spTree>
      <p:nvGrpSpPr>
        <p:cNvPr id="1" name=""/>
        <p:cNvGrpSpPr/>
        <p:nvPr/>
      </p:nvGrpSpPr>
      <p:grpSpPr>
        <a:xfrm>
          <a:off x="0" y="0"/>
          <a:ext cx="0" cy="0"/>
          <a:chOff x="0" y="0"/>
          <a:chExt cx="0" cy="0"/>
        </a:xfrm>
      </p:grpSpPr>
      <p:sp>
        <p:nvSpPr>
          <p:cNvPr name="TextBox 2" id="2"/>
          <p:cNvSpPr txBox="true"/>
          <p:nvPr/>
        </p:nvSpPr>
        <p:spPr>
          <a:xfrm rot="0">
            <a:off x="857250" y="428625"/>
            <a:ext cx="15716250" cy="788035"/>
          </a:xfrm>
          <a:prstGeom prst="rect">
            <a:avLst/>
          </a:prstGeom>
        </p:spPr>
        <p:txBody>
          <a:bodyPr anchor="t" rtlCol="false" tIns="0" lIns="0" bIns="0" rIns="0">
            <a:spAutoFit/>
          </a:bodyPr>
          <a:lstStyle/>
          <a:p>
            <a:pPr algn="l">
              <a:lnSpc>
                <a:spcPts val="6439"/>
              </a:lnSpc>
            </a:pPr>
            <a:r>
              <a:rPr lang="en-US" sz="4599" b="true">
                <a:solidFill>
                  <a:srgbClr val="24252F"/>
                </a:solidFill>
                <a:latin typeface="Open Sauce Bold"/>
                <a:ea typeface="Open Sauce Bold"/>
                <a:cs typeface="Open Sauce Bold"/>
                <a:sym typeface="Open Sauce Bold"/>
              </a:rPr>
              <a:t>Case Study — What Actually Happens to a File?</a:t>
            </a:r>
          </a:p>
        </p:txBody>
      </p:sp>
      <p:sp>
        <p:nvSpPr>
          <p:cNvPr name="TextBox 3" id="3"/>
          <p:cNvSpPr txBox="true"/>
          <p:nvPr/>
        </p:nvSpPr>
        <p:spPr>
          <a:xfrm rot="0">
            <a:off x="857250" y="1228725"/>
            <a:ext cx="3333750" cy="280670"/>
          </a:xfrm>
          <a:prstGeom prst="rect">
            <a:avLst/>
          </a:prstGeom>
        </p:spPr>
        <p:txBody>
          <a:bodyPr anchor="t" rtlCol="false" tIns="0" lIns="0" bIns="0" rIns="0">
            <a:spAutoFit/>
          </a:bodyPr>
          <a:lstStyle/>
          <a:p>
            <a:pPr algn="l">
              <a:lnSpc>
                <a:spcPts val="2380"/>
              </a:lnSpc>
            </a:pPr>
            <a:r>
              <a:rPr lang="en-US" sz="1700" b="true">
                <a:solidFill>
                  <a:srgbClr val="C9785A"/>
                </a:solidFill>
                <a:latin typeface="Open Sauce Bold"/>
                <a:ea typeface="Open Sauce Bold"/>
                <a:cs typeface="Open Sauce Bold"/>
                <a:sym typeface="Open Sauce Bold"/>
              </a:rPr>
              <a:t>FILE LIFECYCLE</a:t>
            </a:r>
          </a:p>
        </p:txBody>
      </p:sp>
      <p:sp>
        <p:nvSpPr>
          <p:cNvPr name="AutoShape 4" id="4"/>
          <p:cNvSpPr/>
          <p:nvPr/>
        </p:nvSpPr>
        <p:spPr>
          <a:xfrm>
            <a:off x="857250" y="1524000"/>
            <a:ext cx="16573500" cy="0"/>
          </a:xfrm>
          <a:prstGeom prst="line">
            <a:avLst/>
          </a:prstGeom>
          <a:ln cap="flat" w="19050">
            <a:solidFill>
              <a:srgbClr val="D8B58F"/>
            </a:solidFill>
            <a:prstDash val="solid"/>
            <a:headEnd type="none" len="sm" w="sm"/>
            <a:tailEnd type="none" len="sm" w="sm"/>
          </a:ln>
        </p:spPr>
      </p:sp>
      <p:sp>
        <p:nvSpPr>
          <p:cNvPr name="TextBox 5" id="5"/>
          <p:cNvSpPr txBox="true"/>
          <p:nvPr/>
        </p:nvSpPr>
        <p:spPr>
          <a:xfrm rot="0">
            <a:off x="857250" y="1724025"/>
            <a:ext cx="2667000" cy="257175"/>
          </a:xfrm>
          <a:prstGeom prst="rect">
            <a:avLst/>
          </a:prstGeom>
        </p:spPr>
        <p:txBody>
          <a:bodyPr anchor="t" rtlCol="false" tIns="0" lIns="0" bIns="0" rIns="0">
            <a:spAutoFit/>
          </a:bodyPr>
          <a:lstStyle/>
          <a:p>
            <a:pPr algn="l">
              <a:lnSpc>
                <a:spcPts val="2100"/>
              </a:lnSpc>
            </a:pPr>
            <a:r>
              <a:rPr lang="en-US" sz="1500" b="true">
                <a:solidFill>
                  <a:srgbClr val="6E6863"/>
                </a:solidFill>
                <a:latin typeface="Open Sauce Bold"/>
                <a:ea typeface="Open Sauce Bold"/>
                <a:cs typeface="Open Sauce Bold"/>
                <a:sym typeface="Open Sauce Bold"/>
              </a:rPr>
              <a:t>EXAMPLE FILE</a:t>
            </a:r>
          </a:p>
        </p:txBody>
      </p:sp>
      <p:sp>
        <p:nvSpPr>
          <p:cNvPr name="TextBox 6" id="6"/>
          <p:cNvSpPr txBox="true"/>
          <p:nvPr/>
        </p:nvSpPr>
        <p:spPr>
          <a:xfrm rot="0">
            <a:off x="857250" y="1933575"/>
            <a:ext cx="6667500" cy="422275"/>
          </a:xfrm>
          <a:prstGeom prst="rect">
            <a:avLst/>
          </a:prstGeom>
        </p:spPr>
        <p:txBody>
          <a:bodyPr anchor="t" rtlCol="false" tIns="0" lIns="0" bIns="0" rIns="0">
            <a:spAutoFit/>
          </a:bodyPr>
          <a:lstStyle/>
          <a:p>
            <a:pPr algn="l">
              <a:lnSpc>
                <a:spcPts val="3499"/>
              </a:lnSpc>
            </a:pPr>
            <a:r>
              <a:rPr lang="en-US" sz="2499" b="true">
                <a:solidFill>
                  <a:srgbClr val="24252F"/>
                </a:solidFill>
                <a:latin typeface="Open Sauce Bold"/>
                <a:ea typeface="Open Sauce Bold"/>
                <a:cs typeface="Open Sauce Bold"/>
                <a:sym typeface="Open Sauce Bold"/>
              </a:rPr>
              <a:t>orders_2026.csv — 500 MB</a:t>
            </a:r>
          </a:p>
        </p:txBody>
      </p:sp>
      <p:grpSp>
        <p:nvGrpSpPr>
          <p:cNvPr name="Group 7" id="7"/>
          <p:cNvGrpSpPr/>
          <p:nvPr/>
        </p:nvGrpSpPr>
        <p:grpSpPr>
          <a:xfrm rot="0">
            <a:off x="857250" y="2667000"/>
            <a:ext cx="3333750" cy="1066800"/>
            <a:chOff x="0" y="0"/>
            <a:chExt cx="4445000" cy="1422400"/>
          </a:xfrm>
        </p:grpSpPr>
        <p:sp>
          <p:nvSpPr>
            <p:cNvPr name="Freeform 8" id="8"/>
            <p:cNvSpPr/>
            <p:nvPr/>
          </p:nvSpPr>
          <p:spPr>
            <a:xfrm flipH="false" flipV="false" rot="0">
              <a:off x="0" y="0"/>
              <a:ext cx="4445000" cy="1422400"/>
            </a:xfrm>
            <a:custGeom>
              <a:avLst/>
              <a:gdLst/>
              <a:ahLst/>
              <a:cxnLst/>
              <a:rect r="r" b="b" t="t" l="l"/>
              <a:pathLst>
                <a:path h="1422400" w="4445000">
                  <a:moveTo>
                    <a:pt x="228600" y="0"/>
                  </a:moveTo>
                  <a:lnTo>
                    <a:pt x="4216400" y="0"/>
                  </a:lnTo>
                  <a:cubicBezTo>
                    <a:pt x="4342652" y="0"/>
                    <a:pt x="4445000" y="102348"/>
                    <a:pt x="4445000" y="228600"/>
                  </a:cubicBezTo>
                  <a:lnTo>
                    <a:pt x="4445000" y="1193800"/>
                  </a:lnTo>
                  <a:cubicBezTo>
                    <a:pt x="4445000" y="1320052"/>
                    <a:pt x="4342652" y="1422400"/>
                    <a:pt x="4216400" y="1422400"/>
                  </a:cubicBezTo>
                  <a:lnTo>
                    <a:pt x="228600" y="1422400"/>
                  </a:lnTo>
                  <a:cubicBezTo>
                    <a:pt x="102348" y="1422400"/>
                    <a:pt x="0" y="1320052"/>
                    <a:pt x="0" y="1193800"/>
                  </a:cubicBezTo>
                  <a:lnTo>
                    <a:pt x="0" y="228600"/>
                  </a:lnTo>
                  <a:cubicBezTo>
                    <a:pt x="0" y="102348"/>
                    <a:pt x="102348" y="0"/>
                    <a:pt x="228600" y="0"/>
                  </a:cubicBezTo>
                  <a:close/>
                </a:path>
              </a:pathLst>
            </a:custGeom>
            <a:solidFill>
              <a:srgbClr val="24252F"/>
            </a:solidFill>
          </p:spPr>
        </p:sp>
        <p:sp>
          <p:nvSpPr>
            <p:cNvPr name="TextBox 9" id="9"/>
            <p:cNvSpPr txBox="true"/>
            <p:nvPr/>
          </p:nvSpPr>
          <p:spPr>
            <a:xfrm>
              <a:off x="0" y="-38100"/>
              <a:ext cx="4445000" cy="14605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047750" y="2800350"/>
            <a:ext cx="476250" cy="306705"/>
          </a:xfrm>
          <a:prstGeom prst="rect">
            <a:avLst/>
          </a:prstGeom>
        </p:spPr>
        <p:txBody>
          <a:bodyPr anchor="t" rtlCol="false" tIns="0" lIns="0" bIns="0" rIns="0">
            <a:spAutoFit/>
          </a:bodyPr>
          <a:lstStyle/>
          <a:p>
            <a:pPr algn="l">
              <a:lnSpc>
                <a:spcPts val="2520"/>
              </a:lnSpc>
            </a:pPr>
            <a:r>
              <a:rPr lang="en-US" sz="1800" b="true">
                <a:solidFill>
                  <a:srgbClr val="F3C8B5"/>
                </a:solidFill>
                <a:latin typeface="Open Sauce Bold"/>
                <a:ea typeface="Open Sauce Bold"/>
                <a:cs typeface="Open Sauce Bold"/>
                <a:sym typeface="Open Sauce Bold"/>
              </a:rPr>
              <a:t>01</a:t>
            </a:r>
          </a:p>
        </p:txBody>
      </p:sp>
      <p:sp>
        <p:nvSpPr>
          <p:cNvPr name="TextBox 11" id="11"/>
          <p:cNvSpPr txBox="true"/>
          <p:nvPr/>
        </p:nvSpPr>
        <p:spPr>
          <a:xfrm rot="0">
            <a:off x="1381125" y="2914650"/>
            <a:ext cx="2619375" cy="42227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uce Bold"/>
                <a:ea typeface="Open Sauce Bold"/>
                <a:cs typeface="Open Sauce Bold"/>
                <a:sym typeface="Open Sauce Bold"/>
              </a:rPr>
              <a:t>500 MB</a:t>
            </a:r>
          </a:p>
        </p:txBody>
      </p:sp>
      <p:sp>
        <p:nvSpPr>
          <p:cNvPr name="TextBox 12" id="12"/>
          <p:cNvSpPr txBox="true"/>
          <p:nvPr/>
        </p:nvSpPr>
        <p:spPr>
          <a:xfrm rot="0">
            <a:off x="1190625" y="3257550"/>
            <a:ext cx="2667000" cy="372745"/>
          </a:xfrm>
          <a:prstGeom prst="rect">
            <a:avLst/>
          </a:prstGeom>
        </p:spPr>
        <p:txBody>
          <a:bodyPr anchor="t" rtlCol="false" tIns="0" lIns="0" bIns="0" rIns="0">
            <a:spAutoFit/>
          </a:bodyPr>
          <a:lstStyle/>
          <a:p>
            <a:pPr algn="ctr">
              <a:lnSpc>
                <a:spcPts val="3079"/>
              </a:lnSpc>
            </a:pPr>
            <a:r>
              <a:rPr lang="en-US" sz="2199" b="true">
                <a:solidFill>
                  <a:srgbClr val="FFFFFF"/>
                </a:solidFill>
                <a:latin typeface="Open Sauce Bold"/>
                <a:ea typeface="Open Sauce Bold"/>
                <a:cs typeface="Open Sauce Bold"/>
                <a:sym typeface="Open Sauce Bold"/>
              </a:rPr>
              <a:t>FILE</a:t>
            </a:r>
          </a:p>
        </p:txBody>
      </p:sp>
      <p:sp>
        <p:nvSpPr>
          <p:cNvPr name="AutoShape 13" id="13"/>
          <p:cNvSpPr/>
          <p:nvPr/>
        </p:nvSpPr>
        <p:spPr>
          <a:xfrm>
            <a:off x="4343400" y="3200400"/>
            <a:ext cx="476250" cy="0"/>
          </a:xfrm>
          <a:prstGeom prst="line">
            <a:avLst/>
          </a:prstGeom>
          <a:ln cap="flat" w="28575">
            <a:solidFill>
              <a:srgbClr val="C9785A"/>
            </a:solidFill>
            <a:prstDash val="solid"/>
            <a:headEnd type="none" len="sm" w="sm"/>
            <a:tailEnd type="arrow" len="sm" w="med"/>
          </a:ln>
        </p:spPr>
      </p:sp>
      <p:grpSp>
        <p:nvGrpSpPr>
          <p:cNvPr name="Group 14" id="14"/>
          <p:cNvGrpSpPr/>
          <p:nvPr/>
        </p:nvGrpSpPr>
        <p:grpSpPr>
          <a:xfrm rot="0">
            <a:off x="4972050" y="2667000"/>
            <a:ext cx="3333750" cy="1066800"/>
            <a:chOff x="0" y="0"/>
            <a:chExt cx="4445000" cy="1422400"/>
          </a:xfrm>
        </p:grpSpPr>
        <p:sp>
          <p:nvSpPr>
            <p:cNvPr name="Freeform 15" id="15"/>
            <p:cNvSpPr/>
            <p:nvPr/>
          </p:nvSpPr>
          <p:spPr>
            <a:xfrm flipH="false" flipV="false" rot="0">
              <a:off x="0" y="0"/>
              <a:ext cx="4445000" cy="1422400"/>
            </a:xfrm>
            <a:custGeom>
              <a:avLst/>
              <a:gdLst/>
              <a:ahLst/>
              <a:cxnLst/>
              <a:rect r="r" b="b" t="t" l="l"/>
              <a:pathLst>
                <a:path h="1422400" w="4445000">
                  <a:moveTo>
                    <a:pt x="228600" y="0"/>
                  </a:moveTo>
                  <a:lnTo>
                    <a:pt x="4216400" y="0"/>
                  </a:lnTo>
                  <a:cubicBezTo>
                    <a:pt x="4342652" y="0"/>
                    <a:pt x="4445000" y="102348"/>
                    <a:pt x="4445000" y="228600"/>
                  </a:cubicBezTo>
                  <a:lnTo>
                    <a:pt x="4445000" y="1193800"/>
                  </a:lnTo>
                  <a:cubicBezTo>
                    <a:pt x="4445000" y="1320052"/>
                    <a:pt x="4342652" y="1422400"/>
                    <a:pt x="4216400" y="1422400"/>
                  </a:cubicBezTo>
                  <a:lnTo>
                    <a:pt x="228600" y="1422400"/>
                  </a:lnTo>
                  <a:cubicBezTo>
                    <a:pt x="102348" y="1422400"/>
                    <a:pt x="0" y="1320052"/>
                    <a:pt x="0" y="1193800"/>
                  </a:cubicBezTo>
                  <a:lnTo>
                    <a:pt x="0" y="228600"/>
                  </a:lnTo>
                  <a:cubicBezTo>
                    <a:pt x="0" y="102348"/>
                    <a:pt x="102348" y="0"/>
                    <a:pt x="228600" y="0"/>
                  </a:cubicBezTo>
                  <a:close/>
                </a:path>
              </a:pathLst>
            </a:custGeom>
            <a:solidFill>
              <a:srgbClr val="24252F"/>
            </a:solidFill>
          </p:spPr>
        </p:sp>
        <p:sp>
          <p:nvSpPr>
            <p:cNvPr name="TextBox 16" id="16"/>
            <p:cNvSpPr txBox="true"/>
            <p:nvPr/>
          </p:nvSpPr>
          <p:spPr>
            <a:xfrm>
              <a:off x="0" y="-38100"/>
              <a:ext cx="4445000" cy="14605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5162550" y="2800350"/>
            <a:ext cx="476250" cy="306705"/>
          </a:xfrm>
          <a:prstGeom prst="rect">
            <a:avLst/>
          </a:prstGeom>
        </p:spPr>
        <p:txBody>
          <a:bodyPr anchor="t" rtlCol="false" tIns="0" lIns="0" bIns="0" rIns="0">
            <a:spAutoFit/>
          </a:bodyPr>
          <a:lstStyle/>
          <a:p>
            <a:pPr algn="l">
              <a:lnSpc>
                <a:spcPts val="2520"/>
              </a:lnSpc>
            </a:pPr>
            <a:r>
              <a:rPr lang="en-US" sz="1800" b="true">
                <a:solidFill>
                  <a:srgbClr val="F3C8B5"/>
                </a:solidFill>
                <a:latin typeface="Open Sauce Bold"/>
                <a:ea typeface="Open Sauce Bold"/>
                <a:cs typeface="Open Sauce Bold"/>
                <a:sym typeface="Open Sauce Bold"/>
              </a:rPr>
              <a:t>02</a:t>
            </a:r>
          </a:p>
        </p:txBody>
      </p:sp>
      <p:sp>
        <p:nvSpPr>
          <p:cNvPr name="TextBox 18" id="18"/>
          <p:cNvSpPr txBox="true"/>
          <p:nvPr/>
        </p:nvSpPr>
        <p:spPr>
          <a:xfrm rot="0">
            <a:off x="5495925" y="2914650"/>
            <a:ext cx="2619375" cy="42227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uce Bold"/>
                <a:ea typeface="Open Sauce Bold"/>
                <a:cs typeface="Open Sauce Bold"/>
                <a:sym typeface="Open Sauce Bold"/>
              </a:rPr>
              <a:t>DIVIDED INTO</a:t>
            </a:r>
          </a:p>
        </p:txBody>
      </p:sp>
      <p:sp>
        <p:nvSpPr>
          <p:cNvPr name="TextBox 19" id="19"/>
          <p:cNvSpPr txBox="true"/>
          <p:nvPr/>
        </p:nvSpPr>
        <p:spPr>
          <a:xfrm rot="0">
            <a:off x="5305425" y="3257550"/>
            <a:ext cx="2667000" cy="372745"/>
          </a:xfrm>
          <a:prstGeom prst="rect">
            <a:avLst/>
          </a:prstGeom>
        </p:spPr>
        <p:txBody>
          <a:bodyPr anchor="t" rtlCol="false" tIns="0" lIns="0" bIns="0" rIns="0">
            <a:spAutoFit/>
          </a:bodyPr>
          <a:lstStyle/>
          <a:p>
            <a:pPr algn="ctr">
              <a:lnSpc>
                <a:spcPts val="3079"/>
              </a:lnSpc>
            </a:pPr>
            <a:r>
              <a:rPr lang="en-US" sz="2199" b="true">
                <a:solidFill>
                  <a:srgbClr val="FFFFFF"/>
                </a:solidFill>
                <a:latin typeface="Open Sauce Bold"/>
                <a:ea typeface="Open Sauce Bold"/>
                <a:cs typeface="Open Sauce Bold"/>
                <a:sym typeface="Open Sauce Bold"/>
              </a:rPr>
              <a:t>BLOCKS</a:t>
            </a:r>
          </a:p>
        </p:txBody>
      </p:sp>
      <p:sp>
        <p:nvSpPr>
          <p:cNvPr name="AutoShape 20" id="20"/>
          <p:cNvSpPr/>
          <p:nvPr/>
        </p:nvSpPr>
        <p:spPr>
          <a:xfrm>
            <a:off x="8458200" y="3200400"/>
            <a:ext cx="476250" cy="0"/>
          </a:xfrm>
          <a:prstGeom prst="line">
            <a:avLst/>
          </a:prstGeom>
          <a:ln cap="flat" w="28575">
            <a:solidFill>
              <a:srgbClr val="C9785A"/>
            </a:solidFill>
            <a:prstDash val="solid"/>
            <a:headEnd type="none" len="sm" w="sm"/>
            <a:tailEnd type="arrow" len="sm" w="med"/>
          </a:ln>
        </p:spPr>
      </p:sp>
      <p:grpSp>
        <p:nvGrpSpPr>
          <p:cNvPr name="Group 21" id="21"/>
          <p:cNvGrpSpPr/>
          <p:nvPr/>
        </p:nvGrpSpPr>
        <p:grpSpPr>
          <a:xfrm rot="0">
            <a:off x="9086850" y="2667000"/>
            <a:ext cx="3333750" cy="1066800"/>
            <a:chOff x="0" y="0"/>
            <a:chExt cx="4445000" cy="1422400"/>
          </a:xfrm>
        </p:grpSpPr>
        <p:sp>
          <p:nvSpPr>
            <p:cNvPr name="Freeform 22" id="22"/>
            <p:cNvSpPr/>
            <p:nvPr/>
          </p:nvSpPr>
          <p:spPr>
            <a:xfrm flipH="false" flipV="false" rot="0">
              <a:off x="0" y="0"/>
              <a:ext cx="4445000" cy="1422400"/>
            </a:xfrm>
            <a:custGeom>
              <a:avLst/>
              <a:gdLst/>
              <a:ahLst/>
              <a:cxnLst/>
              <a:rect r="r" b="b" t="t" l="l"/>
              <a:pathLst>
                <a:path h="1422400" w="4445000">
                  <a:moveTo>
                    <a:pt x="228600" y="0"/>
                  </a:moveTo>
                  <a:lnTo>
                    <a:pt x="4216400" y="0"/>
                  </a:lnTo>
                  <a:cubicBezTo>
                    <a:pt x="4342652" y="0"/>
                    <a:pt x="4445000" y="102348"/>
                    <a:pt x="4445000" y="228600"/>
                  </a:cubicBezTo>
                  <a:lnTo>
                    <a:pt x="4445000" y="1193800"/>
                  </a:lnTo>
                  <a:cubicBezTo>
                    <a:pt x="4445000" y="1320052"/>
                    <a:pt x="4342652" y="1422400"/>
                    <a:pt x="4216400" y="1422400"/>
                  </a:cubicBezTo>
                  <a:lnTo>
                    <a:pt x="228600" y="1422400"/>
                  </a:lnTo>
                  <a:cubicBezTo>
                    <a:pt x="102348" y="1422400"/>
                    <a:pt x="0" y="1320052"/>
                    <a:pt x="0" y="1193800"/>
                  </a:cubicBezTo>
                  <a:lnTo>
                    <a:pt x="0" y="228600"/>
                  </a:lnTo>
                  <a:cubicBezTo>
                    <a:pt x="0" y="102348"/>
                    <a:pt x="102348" y="0"/>
                    <a:pt x="228600" y="0"/>
                  </a:cubicBezTo>
                  <a:close/>
                </a:path>
              </a:pathLst>
            </a:custGeom>
            <a:solidFill>
              <a:srgbClr val="24252F"/>
            </a:solidFill>
          </p:spPr>
        </p:sp>
        <p:sp>
          <p:nvSpPr>
            <p:cNvPr name="TextBox 23" id="23"/>
            <p:cNvSpPr txBox="true"/>
            <p:nvPr/>
          </p:nvSpPr>
          <p:spPr>
            <a:xfrm>
              <a:off x="0" y="-38100"/>
              <a:ext cx="4445000" cy="14605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9277350" y="2800350"/>
            <a:ext cx="476250" cy="306705"/>
          </a:xfrm>
          <a:prstGeom prst="rect">
            <a:avLst/>
          </a:prstGeom>
        </p:spPr>
        <p:txBody>
          <a:bodyPr anchor="t" rtlCol="false" tIns="0" lIns="0" bIns="0" rIns="0">
            <a:spAutoFit/>
          </a:bodyPr>
          <a:lstStyle/>
          <a:p>
            <a:pPr algn="l">
              <a:lnSpc>
                <a:spcPts val="2520"/>
              </a:lnSpc>
            </a:pPr>
            <a:r>
              <a:rPr lang="en-US" sz="1800" b="true">
                <a:solidFill>
                  <a:srgbClr val="F3C8B5"/>
                </a:solidFill>
                <a:latin typeface="Open Sauce Bold"/>
                <a:ea typeface="Open Sauce Bold"/>
                <a:cs typeface="Open Sauce Bold"/>
                <a:sym typeface="Open Sauce Bold"/>
              </a:rPr>
              <a:t>03</a:t>
            </a:r>
          </a:p>
        </p:txBody>
      </p:sp>
      <p:sp>
        <p:nvSpPr>
          <p:cNvPr name="TextBox 25" id="25"/>
          <p:cNvSpPr txBox="true"/>
          <p:nvPr/>
        </p:nvSpPr>
        <p:spPr>
          <a:xfrm rot="0">
            <a:off x="9610725" y="2914650"/>
            <a:ext cx="2619375" cy="42227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uce Bold"/>
                <a:ea typeface="Open Sauce Bold"/>
                <a:cs typeface="Open Sauce Bold"/>
                <a:sym typeface="Open Sauce Bold"/>
              </a:rPr>
              <a:t>ACROSS</a:t>
            </a:r>
          </a:p>
        </p:txBody>
      </p:sp>
      <p:sp>
        <p:nvSpPr>
          <p:cNvPr name="TextBox 26" id="26"/>
          <p:cNvSpPr txBox="true"/>
          <p:nvPr/>
        </p:nvSpPr>
        <p:spPr>
          <a:xfrm rot="0">
            <a:off x="9420225" y="3257550"/>
            <a:ext cx="2667000" cy="372745"/>
          </a:xfrm>
          <a:prstGeom prst="rect">
            <a:avLst/>
          </a:prstGeom>
        </p:spPr>
        <p:txBody>
          <a:bodyPr anchor="t" rtlCol="false" tIns="0" lIns="0" bIns="0" rIns="0">
            <a:spAutoFit/>
          </a:bodyPr>
          <a:lstStyle/>
          <a:p>
            <a:pPr algn="ctr">
              <a:lnSpc>
                <a:spcPts val="3079"/>
              </a:lnSpc>
            </a:pPr>
            <a:r>
              <a:rPr lang="en-US" sz="2199" b="true">
                <a:solidFill>
                  <a:srgbClr val="FFFFFF"/>
                </a:solidFill>
                <a:latin typeface="Open Sauce Bold"/>
                <a:ea typeface="Open Sauce Bold"/>
                <a:cs typeface="Open Sauce Bold"/>
                <a:sym typeface="Open Sauce Bold"/>
              </a:rPr>
              <a:t>DATANODES</a:t>
            </a:r>
          </a:p>
        </p:txBody>
      </p:sp>
      <p:sp>
        <p:nvSpPr>
          <p:cNvPr name="AutoShape 27" id="27"/>
          <p:cNvSpPr/>
          <p:nvPr/>
        </p:nvSpPr>
        <p:spPr>
          <a:xfrm>
            <a:off x="12573000" y="3200400"/>
            <a:ext cx="476250" cy="0"/>
          </a:xfrm>
          <a:prstGeom prst="line">
            <a:avLst/>
          </a:prstGeom>
          <a:ln cap="flat" w="28575">
            <a:solidFill>
              <a:srgbClr val="C9785A"/>
            </a:solidFill>
            <a:prstDash val="solid"/>
            <a:headEnd type="none" len="sm" w="sm"/>
            <a:tailEnd type="arrow" len="sm" w="med"/>
          </a:ln>
        </p:spPr>
      </p:sp>
      <p:grpSp>
        <p:nvGrpSpPr>
          <p:cNvPr name="Group 28" id="28"/>
          <p:cNvGrpSpPr/>
          <p:nvPr/>
        </p:nvGrpSpPr>
        <p:grpSpPr>
          <a:xfrm rot="0">
            <a:off x="13201650" y="2667000"/>
            <a:ext cx="3333750" cy="1066800"/>
            <a:chOff x="0" y="0"/>
            <a:chExt cx="4445000" cy="1422400"/>
          </a:xfrm>
        </p:grpSpPr>
        <p:sp>
          <p:nvSpPr>
            <p:cNvPr name="Freeform 29" id="29"/>
            <p:cNvSpPr/>
            <p:nvPr/>
          </p:nvSpPr>
          <p:spPr>
            <a:xfrm flipH="false" flipV="false" rot="0">
              <a:off x="0" y="0"/>
              <a:ext cx="4445000" cy="1422400"/>
            </a:xfrm>
            <a:custGeom>
              <a:avLst/>
              <a:gdLst/>
              <a:ahLst/>
              <a:cxnLst/>
              <a:rect r="r" b="b" t="t" l="l"/>
              <a:pathLst>
                <a:path h="1422400" w="4445000">
                  <a:moveTo>
                    <a:pt x="228600" y="0"/>
                  </a:moveTo>
                  <a:lnTo>
                    <a:pt x="4216400" y="0"/>
                  </a:lnTo>
                  <a:cubicBezTo>
                    <a:pt x="4342652" y="0"/>
                    <a:pt x="4445000" y="102348"/>
                    <a:pt x="4445000" y="228600"/>
                  </a:cubicBezTo>
                  <a:lnTo>
                    <a:pt x="4445000" y="1193800"/>
                  </a:lnTo>
                  <a:cubicBezTo>
                    <a:pt x="4445000" y="1320052"/>
                    <a:pt x="4342652" y="1422400"/>
                    <a:pt x="4216400" y="1422400"/>
                  </a:cubicBezTo>
                  <a:lnTo>
                    <a:pt x="228600" y="1422400"/>
                  </a:lnTo>
                  <a:cubicBezTo>
                    <a:pt x="102348" y="1422400"/>
                    <a:pt x="0" y="1320052"/>
                    <a:pt x="0" y="1193800"/>
                  </a:cubicBezTo>
                  <a:lnTo>
                    <a:pt x="0" y="228600"/>
                  </a:lnTo>
                  <a:cubicBezTo>
                    <a:pt x="0" y="102348"/>
                    <a:pt x="102348" y="0"/>
                    <a:pt x="228600" y="0"/>
                  </a:cubicBezTo>
                  <a:close/>
                </a:path>
              </a:pathLst>
            </a:custGeom>
            <a:solidFill>
              <a:srgbClr val="D98A6A"/>
            </a:solidFill>
          </p:spPr>
        </p:sp>
        <p:sp>
          <p:nvSpPr>
            <p:cNvPr name="TextBox 30" id="30"/>
            <p:cNvSpPr txBox="true"/>
            <p:nvPr/>
          </p:nvSpPr>
          <p:spPr>
            <a:xfrm>
              <a:off x="0" y="-38100"/>
              <a:ext cx="4445000" cy="14605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3392150" y="2800350"/>
            <a:ext cx="476250" cy="306705"/>
          </a:xfrm>
          <a:prstGeom prst="rect">
            <a:avLst/>
          </a:prstGeom>
        </p:spPr>
        <p:txBody>
          <a:bodyPr anchor="t" rtlCol="false" tIns="0" lIns="0" bIns="0" rIns="0">
            <a:spAutoFit/>
          </a:bodyPr>
          <a:lstStyle/>
          <a:p>
            <a:pPr algn="l">
              <a:lnSpc>
                <a:spcPts val="2520"/>
              </a:lnSpc>
            </a:pPr>
            <a:r>
              <a:rPr lang="en-US" sz="1800" b="true">
                <a:solidFill>
                  <a:srgbClr val="FFFFFF"/>
                </a:solidFill>
                <a:latin typeface="Open Sauce Bold"/>
                <a:ea typeface="Open Sauce Bold"/>
                <a:cs typeface="Open Sauce Bold"/>
                <a:sym typeface="Open Sauce Bold"/>
              </a:rPr>
              <a:t>04</a:t>
            </a:r>
          </a:p>
        </p:txBody>
      </p:sp>
      <p:sp>
        <p:nvSpPr>
          <p:cNvPr name="TextBox 32" id="32"/>
          <p:cNvSpPr txBox="true"/>
          <p:nvPr/>
        </p:nvSpPr>
        <p:spPr>
          <a:xfrm rot="0">
            <a:off x="13725525" y="2914650"/>
            <a:ext cx="2619375" cy="42227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uce Bold"/>
                <a:ea typeface="Open Sauce Bold"/>
                <a:cs typeface="Open Sauce Bold"/>
                <a:sym typeface="Open Sauce Bold"/>
              </a:rPr>
              <a:t>COPIES</a:t>
            </a:r>
          </a:p>
        </p:txBody>
      </p:sp>
      <p:sp>
        <p:nvSpPr>
          <p:cNvPr name="TextBox 33" id="33"/>
          <p:cNvSpPr txBox="true"/>
          <p:nvPr/>
        </p:nvSpPr>
        <p:spPr>
          <a:xfrm rot="0">
            <a:off x="13535025" y="3257550"/>
            <a:ext cx="2667000" cy="372745"/>
          </a:xfrm>
          <a:prstGeom prst="rect">
            <a:avLst/>
          </a:prstGeom>
        </p:spPr>
        <p:txBody>
          <a:bodyPr anchor="t" rtlCol="false" tIns="0" lIns="0" bIns="0" rIns="0">
            <a:spAutoFit/>
          </a:bodyPr>
          <a:lstStyle/>
          <a:p>
            <a:pPr algn="ctr">
              <a:lnSpc>
                <a:spcPts val="3079"/>
              </a:lnSpc>
            </a:pPr>
            <a:r>
              <a:rPr lang="en-US" sz="2199" b="true">
                <a:solidFill>
                  <a:srgbClr val="FFFFFF"/>
                </a:solidFill>
                <a:latin typeface="Open Sauce Bold"/>
                <a:ea typeface="Open Sauce Bold"/>
                <a:cs typeface="Open Sauce Bold"/>
                <a:sym typeface="Open Sauce Bold"/>
              </a:rPr>
              <a:t>REPLICAS</a:t>
            </a:r>
          </a:p>
        </p:txBody>
      </p:sp>
      <p:sp>
        <p:nvSpPr>
          <p:cNvPr name="TextBox 34" id="34"/>
          <p:cNvSpPr txBox="true"/>
          <p:nvPr/>
        </p:nvSpPr>
        <p:spPr>
          <a:xfrm rot="0">
            <a:off x="857250" y="4143375"/>
            <a:ext cx="4762500" cy="280670"/>
          </a:xfrm>
          <a:prstGeom prst="rect">
            <a:avLst/>
          </a:prstGeom>
        </p:spPr>
        <p:txBody>
          <a:bodyPr anchor="t" rtlCol="false" tIns="0" lIns="0" bIns="0" rIns="0">
            <a:spAutoFit/>
          </a:bodyPr>
          <a:lstStyle/>
          <a:p>
            <a:pPr algn="l">
              <a:lnSpc>
                <a:spcPts val="2380"/>
              </a:lnSpc>
            </a:pPr>
            <a:r>
              <a:rPr lang="en-US" sz="1700" b="true">
                <a:solidFill>
                  <a:srgbClr val="C9785A"/>
                </a:solidFill>
                <a:latin typeface="Open Sauce Bold"/>
                <a:ea typeface="Open Sauce Bold"/>
                <a:cs typeface="Open Sauce Bold"/>
                <a:sym typeface="Open Sauce Bold"/>
              </a:rPr>
              <a:t>THEN WHAT HAPPENS?</a:t>
            </a:r>
          </a:p>
        </p:txBody>
      </p:sp>
      <p:grpSp>
        <p:nvGrpSpPr>
          <p:cNvPr name="Group 35" id="35"/>
          <p:cNvGrpSpPr/>
          <p:nvPr/>
        </p:nvGrpSpPr>
        <p:grpSpPr>
          <a:xfrm rot="0">
            <a:off x="857250" y="4524375"/>
            <a:ext cx="7810500" cy="1952625"/>
            <a:chOff x="0" y="0"/>
            <a:chExt cx="10414000" cy="2603500"/>
          </a:xfrm>
        </p:grpSpPr>
        <p:sp>
          <p:nvSpPr>
            <p:cNvPr name="Freeform 36" id="36"/>
            <p:cNvSpPr/>
            <p:nvPr/>
          </p:nvSpPr>
          <p:spPr>
            <a:xfrm flipH="false" flipV="false" rot="0">
              <a:off x="0" y="0"/>
              <a:ext cx="10414000" cy="2603500"/>
            </a:xfrm>
            <a:custGeom>
              <a:avLst/>
              <a:gdLst/>
              <a:ahLst/>
              <a:cxnLst/>
              <a:rect r="r" b="b" t="t" l="l"/>
              <a:pathLst>
                <a:path h="2603500" w="10414000">
                  <a:moveTo>
                    <a:pt x="228600" y="0"/>
                  </a:moveTo>
                  <a:lnTo>
                    <a:pt x="10185400" y="0"/>
                  </a:lnTo>
                  <a:cubicBezTo>
                    <a:pt x="10311652" y="0"/>
                    <a:pt x="10414000" y="102348"/>
                    <a:pt x="10414000" y="228600"/>
                  </a:cubicBezTo>
                  <a:lnTo>
                    <a:pt x="10414000" y="2374900"/>
                  </a:lnTo>
                  <a:cubicBezTo>
                    <a:pt x="10414000" y="2501152"/>
                    <a:pt x="10311652" y="2603500"/>
                    <a:pt x="10185400" y="2603500"/>
                  </a:cubicBezTo>
                  <a:lnTo>
                    <a:pt x="228600" y="2603500"/>
                  </a:lnTo>
                  <a:cubicBezTo>
                    <a:pt x="102348" y="2603500"/>
                    <a:pt x="0" y="2501152"/>
                    <a:pt x="0" y="2374900"/>
                  </a:cubicBezTo>
                  <a:lnTo>
                    <a:pt x="0" y="228600"/>
                  </a:lnTo>
                  <a:cubicBezTo>
                    <a:pt x="0" y="102348"/>
                    <a:pt x="102348" y="0"/>
                    <a:pt x="228600" y="0"/>
                  </a:cubicBezTo>
                  <a:close/>
                </a:path>
              </a:pathLst>
            </a:custGeom>
            <a:solidFill>
              <a:srgbClr val="E8E2DC"/>
            </a:solidFill>
            <a:ln w="19050" cap="sq">
              <a:solidFill>
                <a:srgbClr val="D8B58F"/>
              </a:solidFill>
              <a:prstDash val="solid"/>
              <a:miter/>
            </a:ln>
          </p:spPr>
        </p:sp>
        <p:sp>
          <p:nvSpPr>
            <p:cNvPr name="TextBox 37" id="37"/>
            <p:cNvSpPr txBox="true"/>
            <p:nvPr/>
          </p:nvSpPr>
          <p:spPr>
            <a:xfrm>
              <a:off x="0" y="-38100"/>
              <a:ext cx="10414000" cy="26416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857250" y="4686300"/>
            <a:ext cx="7810500" cy="422275"/>
          </a:xfrm>
          <a:prstGeom prst="rect">
            <a:avLst/>
          </a:prstGeom>
        </p:spPr>
        <p:txBody>
          <a:bodyPr anchor="t" rtlCol="false" tIns="0" lIns="0" bIns="0" rIns="0">
            <a:spAutoFit/>
          </a:bodyPr>
          <a:lstStyle/>
          <a:p>
            <a:pPr algn="ctr">
              <a:lnSpc>
                <a:spcPts val="3499"/>
              </a:lnSpc>
            </a:pPr>
            <a:r>
              <a:rPr lang="en-US" sz="2499" b="true">
                <a:solidFill>
                  <a:srgbClr val="C9785A"/>
                </a:solidFill>
                <a:latin typeface="Open Sauce Bold"/>
                <a:ea typeface="Open Sauce Bold"/>
                <a:cs typeface="Open Sauce Bold"/>
                <a:sym typeface="Open Sauce Bold"/>
              </a:rPr>
              <a:t>WRITE</a:t>
            </a:r>
          </a:p>
        </p:txBody>
      </p:sp>
      <p:sp>
        <p:nvSpPr>
          <p:cNvPr name="TextBox 39" id="39"/>
          <p:cNvSpPr txBox="true"/>
          <p:nvPr/>
        </p:nvSpPr>
        <p:spPr>
          <a:xfrm rot="0">
            <a:off x="1381125" y="5095875"/>
            <a:ext cx="6762750" cy="349250"/>
          </a:xfrm>
          <a:prstGeom prst="rect">
            <a:avLst/>
          </a:prstGeom>
        </p:spPr>
        <p:txBody>
          <a:bodyPr anchor="t" rtlCol="false" tIns="0" lIns="0" bIns="0" rIns="0">
            <a:spAutoFit/>
          </a:bodyPr>
          <a:lstStyle/>
          <a:p>
            <a:pPr algn="ctr">
              <a:lnSpc>
                <a:spcPts val="2800"/>
              </a:lnSpc>
            </a:pPr>
            <a:r>
              <a:rPr lang="en-US" sz="2000" b="true">
                <a:solidFill>
                  <a:srgbClr val="24252F"/>
                </a:solidFill>
                <a:latin typeface="Open Sauce Semi-Bold"/>
                <a:ea typeface="Open Sauce Semi-Bold"/>
                <a:cs typeface="Open Sauce Semi-Bold"/>
                <a:sym typeface="Open Sauce Semi-Bold"/>
              </a:rPr>
              <a:t>Client → NameNode</a:t>
            </a:r>
          </a:p>
        </p:txBody>
      </p:sp>
      <p:sp>
        <p:nvSpPr>
          <p:cNvPr name="TextBox 40" id="40"/>
          <p:cNvSpPr txBox="true"/>
          <p:nvPr/>
        </p:nvSpPr>
        <p:spPr>
          <a:xfrm rot="0">
            <a:off x="1381125" y="5391150"/>
            <a:ext cx="6762750" cy="349250"/>
          </a:xfrm>
          <a:prstGeom prst="rect">
            <a:avLst/>
          </a:prstGeom>
        </p:spPr>
        <p:txBody>
          <a:bodyPr anchor="t" rtlCol="false" tIns="0" lIns="0" bIns="0" rIns="0">
            <a:spAutoFit/>
          </a:bodyPr>
          <a:lstStyle/>
          <a:p>
            <a:pPr algn="ctr">
              <a:lnSpc>
                <a:spcPts val="2800"/>
              </a:lnSpc>
            </a:pPr>
            <a:r>
              <a:rPr lang="en-US" sz="2000" b="true">
                <a:solidFill>
                  <a:srgbClr val="24252F"/>
                </a:solidFill>
                <a:latin typeface="Open Sauce Semi-Bold"/>
                <a:ea typeface="Open Sauce Semi-Bold"/>
                <a:cs typeface="Open Sauce Semi-Bold"/>
                <a:sym typeface="Open Sauce Semi-Bold"/>
              </a:rPr>
              <a:t>NameNode → block locations</a:t>
            </a:r>
          </a:p>
        </p:txBody>
      </p:sp>
      <p:sp>
        <p:nvSpPr>
          <p:cNvPr name="TextBox 41" id="41"/>
          <p:cNvSpPr txBox="true"/>
          <p:nvPr/>
        </p:nvSpPr>
        <p:spPr>
          <a:xfrm rot="0">
            <a:off x="1381125" y="5686425"/>
            <a:ext cx="6762750" cy="349250"/>
          </a:xfrm>
          <a:prstGeom prst="rect">
            <a:avLst/>
          </a:prstGeom>
        </p:spPr>
        <p:txBody>
          <a:bodyPr anchor="t" rtlCol="false" tIns="0" lIns="0" bIns="0" rIns="0">
            <a:spAutoFit/>
          </a:bodyPr>
          <a:lstStyle/>
          <a:p>
            <a:pPr algn="ctr">
              <a:lnSpc>
                <a:spcPts val="2800"/>
              </a:lnSpc>
            </a:pPr>
            <a:r>
              <a:rPr lang="en-US" sz="2000" b="true">
                <a:solidFill>
                  <a:srgbClr val="24252F"/>
                </a:solidFill>
                <a:latin typeface="Open Sauce Semi-Bold"/>
                <a:ea typeface="Open Sauce Semi-Bold"/>
                <a:cs typeface="Open Sauce Semi-Bold"/>
                <a:sym typeface="Open Sauce Semi-Bold"/>
              </a:rPr>
              <a:t>DataNodes → replicas</a:t>
            </a:r>
          </a:p>
        </p:txBody>
      </p:sp>
      <p:sp>
        <p:nvSpPr>
          <p:cNvPr name="TextBox 42" id="42"/>
          <p:cNvSpPr txBox="true"/>
          <p:nvPr/>
        </p:nvSpPr>
        <p:spPr>
          <a:xfrm rot="0">
            <a:off x="1381125" y="5981700"/>
            <a:ext cx="6762750" cy="349250"/>
          </a:xfrm>
          <a:prstGeom prst="rect">
            <a:avLst/>
          </a:prstGeom>
        </p:spPr>
        <p:txBody>
          <a:bodyPr anchor="t" rtlCol="false" tIns="0" lIns="0" bIns="0" rIns="0">
            <a:spAutoFit/>
          </a:bodyPr>
          <a:lstStyle/>
          <a:p>
            <a:pPr algn="ctr">
              <a:lnSpc>
                <a:spcPts val="2800"/>
              </a:lnSpc>
            </a:pPr>
            <a:r>
              <a:rPr lang="en-US" sz="2000" b="true">
                <a:solidFill>
                  <a:srgbClr val="24252F"/>
                </a:solidFill>
                <a:latin typeface="Open Sauce Semi-Bold"/>
                <a:ea typeface="Open Sauce Semi-Bold"/>
                <a:cs typeface="Open Sauce Semi-Bold"/>
                <a:sym typeface="Open Sauce Semi-Bold"/>
              </a:rPr>
              <a:t>Write acknowledgement</a:t>
            </a:r>
          </a:p>
        </p:txBody>
      </p:sp>
      <p:grpSp>
        <p:nvGrpSpPr>
          <p:cNvPr name="Group 43" id="43"/>
          <p:cNvGrpSpPr/>
          <p:nvPr/>
        </p:nvGrpSpPr>
        <p:grpSpPr>
          <a:xfrm rot="0">
            <a:off x="9620250" y="4524375"/>
            <a:ext cx="7810500" cy="1952625"/>
            <a:chOff x="0" y="0"/>
            <a:chExt cx="10414000" cy="2603500"/>
          </a:xfrm>
        </p:grpSpPr>
        <p:sp>
          <p:nvSpPr>
            <p:cNvPr name="Freeform 44" id="44"/>
            <p:cNvSpPr/>
            <p:nvPr/>
          </p:nvSpPr>
          <p:spPr>
            <a:xfrm flipH="false" flipV="false" rot="0">
              <a:off x="0" y="0"/>
              <a:ext cx="10414000" cy="2603500"/>
            </a:xfrm>
            <a:custGeom>
              <a:avLst/>
              <a:gdLst/>
              <a:ahLst/>
              <a:cxnLst/>
              <a:rect r="r" b="b" t="t" l="l"/>
              <a:pathLst>
                <a:path h="2603500" w="10414000">
                  <a:moveTo>
                    <a:pt x="228600" y="0"/>
                  </a:moveTo>
                  <a:lnTo>
                    <a:pt x="10185400" y="0"/>
                  </a:lnTo>
                  <a:cubicBezTo>
                    <a:pt x="10311652" y="0"/>
                    <a:pt x="10414000" y="102348"/>
                    <a:pt x="10414000" y="228600"/>
                  </a:cubicBezTo>
                  <a:lnTo>
                    <a:pt x="10414000" y="2374900"/>
                  </a:lnTo>
                  <a:cubicBezTo>
                    <a:pt x="10414000" y="2501152"/>
                    <a:pt x="10311652" y="2603500"/>
                    <a:pt x="10185400" y="2603500"/>
                  </a:cubicBezTo>
                  <a:lnTo>
                    <a:pt x="228600" y="2603500"/>
                  </a:lnTo>
                  <a:cubicBezTo>
                    <a:pt x="102348" y="2603500"/>
                    <a:pt x="0" y="2501152"/>
                    <a:pt x="0" y="2374900"/>
                  </a:cubicBezTo>
                  <a:lnTo>
                    <a:pt x="0" y="228600"/>
                  </a:lnTo>
                  <a:cubicBezTo>
                    <a:pt x="0" y="102348"/>
                    <a:pt x="102348" y="0"/>
                    <a:pt x="228600" y="0"/>
                  </a:cubicBezTo>
                  <a:close/>
                </a:path>
              </a:pathLst>
            </a:custGeom>
            <a:solidFill>
              <a:srgbClr val="E8E2DC"/>
            </a:solidFill>
            <a:ln w="19050" cap="sq">
              <a:solidFill>
                <a:srgbClr val="D8B58F"/>
              </a:solidFill>
              <a:prstDash val="solid"/>
              <a:miter/>
            </a:ln>
          </p:spPr>
        </p:sp>
        <p:sp>
          <p:nvSpPr>
            <p:cNvPr name="TextBox 45" id="45"/>
            <p:cNvSpPr txBox="true"/>
            <p:nvPr/>
          </p:nvSpPr>
          <p:spPr>
            <a:xfrm>
              <a:off x="0" y="-38100"/>
              <a:ext cx="10414000" cy="2641600"/>
            </a:xfrm>
            <a:prstGeom prst="rect">
              <a:avLst/>
            </a:prstGeom>
          </p:spPr>
          <p:txBody>
            <a:bodyPr anchor="ctr" rtlCol="false" tIns="50800" lIns="50800" bIns="50800" rIns="50800"/>
            <a:lstStyle/>
            <a:p>
              <a:pPr algn="l">
                <a:lnSpc>
                  <a:spcPts val="1679"/>
                </a:lnSpc>
              </a:pPr>
            </a:p>
          </p:txBody>
        </p:sp>
      </p:grpSp>
      <p:sp>
        <p:nvSpPr>
          <p:cNvPr name="TextBox 46" id="46"/>
          <p:cNvSpPr txBox="true"/>
          <p:nvPr/>
        </p:nvSpPr>
        <p:spPr>
          <a:xfrm rot="0">
            <a:off x="9620250" y="4686300"/>
            <a:ext cx="7810500" cy="422275"/>
          </a:xfrm>
          <a:prstGeom prst="rect">
            <a:avLst/>
          </a:prstGeom>
        </p:spPr>
        <p:txBody>
          <a:bodyPr anchor="t" rtlCol="false" tIns="0" lIns="0" bIns="0" rIns="0">
            <a:spAutoFit/>
          </a:bodyPr>
          <a:lstStyle/>
          <a:p>
            <a:pPr algn="ctr">
              <a:lnSpc>
                <a:spcPts val="3499"/>
              </a:lnSpc>
            </a:pPr>
            <a:r>
              <a:rPr lang="en-US" sz="2499" b="true">
                <a:solidFill>
                  <a:srgbClr val="D98A6A"/>
                </a:solidFill>
                <a:latin typeface="Open Sauce Bold"/>
                <a:ea typeface="Open Sauce Bold"/>
                <a:cs typeface="Open Sauce Bold"/>
                <a:sym typeface="Open Sauce Bold"/>
              </a:rPr>
              <a:t>READ</a:t>
            </a:r>
          </a:p>
        </p:txBody>
      </p:sp>
      <p:sp>
        <p:nvSpPr>
          <p:cNvPr name="TextBox 47" id="47"/>
          <p:cNvSpPr txBox="true"/>
          <p:nvPr/>
        </p:nvSpPr>
        <p:spPr>
          <a:xfrm rot="0">
            <a:off x="10144125" y="5095875"/>
            <a:ext cx="6762750" cy="349250"/>
          </a:xfrm>
          <a:prstGeom prst="rect">
            <a:avLst/>
          </a:prstGeom>
        </p:spPr>
        <p:txBody>
          <a:bodyPr anchor="t" rtlCol="false" tIns="0" lIns="0" bIns="0" rIns="0">
            <a:spAutoFit/>
          </a:bodyPr>
          <a:lstStyle/>
          <a:p>
            <a:pPr algn="ctr">
              <a:lnSpc>
                <a:spcPts val="2800"/>
              </a:lnSpc>
            </a:pPr>
            <a:r>
              <a:rPr lang="en-US" sz="2000" b="true">
                <a:solidFill>
                  <a:srgbClr val="24252F"/>
                </a:solidFill>
                <a:latin typeface="Open Sauce Semi-Bold"/>
                <a:ea typeface="Open Sauce Semi-Bold"/>
                <a:cs typeface="Open Sauce Semi-Bold"/>
                <a:sym typeface="Open Sauce Semi-Bold"/>
              </a:rPr>
              <a:t>Client → NameNode</a:t>
            </a:r>
          </a:p>
        </p:txBody>
      </p:sp>
      <p:sp>
        <p:nvSpPr>
          <p:cNvPr name="TextBox 48" id="48"/>
          <p:cNvSpPr txBox="true"/>
          <p:nvPr/>
        </p:nvSpPr>
        <p:spPr>
          <a:xfrm rot="0">
            <a:off x="10144125" y="5391150"/>
            <a:ext cx="6762750" cy="349250"/>
          </a:xfrm>
          <a:prstGeom prst="rect">
            <a:avLst/>
          </a:prstGeom>
        </p:spPr>
        <p:txBody>
          <a:bodyPr anchor="t" rtlCol="false" tIns="0" lIns="0" bIns="0" rIns="0">
            <a:spAutoFit/>
          </a:bodyPr>
          <a:lstStyle/>
          <a:p>
            <a:pPr algn="ctr">
              <a:lnSpc>
                <a:spcPts val="2800"/>
              </a:lnSpc>
            </a:pPr>
            <a:r>
              <a:rPr lang="en-US" sz="2000" b="true">
                <a:solidFill>
                  <a:srgbClr val="24252F"/>
                </a:solidFill>
                <a:latin typeface="Open Sauce Semi-Bold"/>
                <a:ea typeface="Open Sauce Semi-Bold"/>
                <a:cs typeface="Open Sauce Semi-Bold"/>
                <a:sym typeface="Open Sauce Semi-Bold"/>
              </a:rPr>
              <a:t>NameNode → block locations</a:t>
            </a:r>
          </a:p>
        </p:txBody>
      </p:sp>
      <p:sp>
        <p:nvSpPr>
          <p:cNvPr name="TextBox 49" id="49"/>
          <p:cNvSpPr txBox="true"/>
          <p:nvPr/>
        </p:nvSpPr>
        <p:spPr>
          <a:xfrm rot="0">
            <a:off x="10144125" y="5686425"/>
            <a:ext cx="6762750" cy="349250"/>
          </a:xfrm>
          <a:prstGeom prst="rect">
            <a:avLst/>
          </a:prstGeom>
        </p:spPr>
        <p:txBody>
          <a:bodyPr anchor="t" rtlCol="false" tIns="0" lIns="0" bIns="0" rIns="0">
            <a:spAutoFit/>
          </a:bodyPr>
          <a:lstStyle/>
          <a:p>
            <a:pPr algn="ctr">
              <a:lnSpc>
                <a:spcPts val="2800"/>
              </a:lnSpc>
            </a:pPr>
            <a:r>
              <a:rPr lang="en-US" sz="2000" b="true">
                <a:solidFill>
                  <a:srgbClr val="24252F"/>
                </a:solidFill>
                <a:latin typeface="Open Sauce Semi-Bold"/>
                <a:ea typeface="Open Sauce Semi-Bold"/>
                <a:cs typeface="Open Sauce Semi-Bold"/>
                <a:sym typeface="Open Sauce Semi-Bold"/>
              </a:rPr>
              <a:t>DataNodes → blocks</a:t>
            </a:r>
          </a:p>
        </p:txBody>
      </p:sp>
      <p:sp>
        <p:nvSpPr>
          <p:cNvPr name="TextBox 50" id="50"/>
          <p:cNvSpPr txBox="true"/>
          <p:nvPr/>
        </p:nvSpPr>
        <p:spPr>
          <a:xfrm rot="0">
            <a:off x="10144125" y="5981700"/>
            <a:ext cx="6762750" cy="349250"/>
          </a:xfrm>
          <a:prstGeom prst="rect">
            <a:avLst/>
          </a:prstGeom>
        </p:spPr>
        <p:txBody>
          <a:bodyPr anchor="t" rtlCol="false" tIns="0" lIns="0" bIns="0" rIns="0">
            <a:spAutoFit/>
          </a:bodyPr>
          <a:lstStyle/>
          <a:p>
            <a:pPr algn="ctr">
              <a:lnSpc>
                <a:spcPts val="2800"/>
              </a:lnSpc>
            </a:pPr>
            <a:r>
              <a:rPr lang="en-US" sz="2000" b="true">
                <a:solidFill>
                  <a:srgbClr val="24252F"/>
                </a:solidFill>
                <a:latin typeface="Open Sauce Semi-Bold"/>
                <a:ea typeface="Open Sauce Semi-Bold"/>
                <a:cs typeface="Open Sauce Semi-Bold"/>
                <a:sym typeface="Open Sauce Semi-Bold"/>
              </a:rPr>
              <a:t>Original file reconstructed</a:t>
            </a:r>
          </a:p>
        </p:txBody>
      </p:sp>
      <p:sp>
        <p:nvSpPr>
          <p:cNvPr name="AutoShape 51" id="51"/>
          <p:cNvSpPr/>
          <p:nvPr/>
        </p:nvSpPr>
        <p:spPr>
          <a:xfrm>
            <a:off x="857250" y="6858000"/>
            <a:ext cx="16573500" cy="0"/>
          </a:xfrm>
          <a:prstGeom prst="line">
            <a:avLst/>
          </a:prstGeom>
          <a:ln cap="flat" w="19050">
            <a:solidFill>
              <a:srgbClr val="D8B58F"/>
            </a:solidFill>
            <a:prstDash val="solid"/>
            <a:headEnd type="none" len="sm" w="sm"/>
            <a:tailEnd type="none" len="sm" w="sm"/>
          </a:ln>
        </p:spPr>
      </p:sp>
      <p:sp>
        <p:nvSpPr>
          <p:cNvPr name="TextBox 52" id="52"/>
          <p:cNvSpPr txBox="true"/>
          <p:nvPr/>
        </p:nvSpPr>
        <p:spPr>
          <a:xfrm rot="0">
            <a:off x="857250" y="7048500"/>
            <a:ext cx="16573500" cy="379730"/>
          </a:xfrm>
          <a:prstGeom prst="rect">
            <a:avLst/>
          </a:prstGeom>
        </p:spPr>
        <p:txBody>
          <a:bodyPr anchor="t" rtlCol="false" tIns="0" lIns="0" bIns="0" rIns="0">
            <a:spAutoFit/>
          </a:bodyPr>
          <a:lstStyle/>
          <a:p>
            <a:pPr algn="ctr">
              <a:lnSpc>
                <a:spcPts val="3220"/>
              </a:lnSpc>
            </a:pPr>
            <a:r>
              <a:rPr lang="en-US" sz="2300" b="true">
                <a:solidFill>
                  <a:srgbClr val="24252F"/>
                </a:solidFill>
                <a:latin typeface="Open Sauce Semi-Bold"/>
                <a:ea typeface="Open Sauce Semi-Bold"/>
                <a:cs typeface="Open Sauce Semi-Bold"/>
                <a:sym typeface="Open Sauce Semi-Bold"/>
              </a:rPr>
              <a:t>The NameNode provides metadata and block locations. DataNodes serve the actual file blocks.</a:t>
            </a:r>
          </a:p>
        </p:txBody>
      </p:sp>
      <p:sp>
        <p:nvSpPr>
          <p:cNvPr name="TextBox 53" id="53"/>
          <p:cNvSpPr txBox="true"/>
          <p:nvPr/>
        </p:nvSpPr>
        <p:spPr>
          <a:xfrm rot="0">
            <a:off x="857250" y="7572375"/>
            <a:ext cx="16573500" cy="257175"/>
          </a:xfrm>
          <a:prstGeom prst="rect">
            <a:avLst/>
          </a:prstGeom>
        </p:spPr>
        <p:txBody>
          <a:bodyPr anchor="t" rtlCol="false" tIns="0" lIns="0" bIns="0" rIns="0">
            <a:spAutoFit/>
          </a:bodyPr>
          <a:lstStyle/>
          <a:p>
            <a:pPr algn="ctr">
              <a:lnSpc>
                <a:spcPts val="2100"/>
              </a:lnSpc>
            </a:pPr>
            <a:r>
              <a:rPr lang="en-US" sz="1500" b="true">
                <a:solidFill>
                  <a:srgbClr val="C9785A"/>
                </a:solidFill>
                <a:latin typeface="Open Sauce Bold"/>
                <a:ea typeface="Open Sauce Bold"/>
                <a:cs typeface="Open Sauce Bold"/>
                <a:sym typeface="Open Sauce Bold"/>
              </a:rPr>
              <a:t>ASK THE AUDIENCE BEFORE REVEALING THE ANSWER</a:t>
            </a:r>
          </a:p>
        </p:txBody>
      </p:sp>
      <p:grpSp>
        <p:nvGrpSpPr>
          <p:cNvPr name="Group 54" id="54"/>
          <p:cNvGrpSpPr/>
          <p:nvPr/>
        </p:nvGrpSpPr>
        <p:grpSpPr>
          <a:xfrm rot="0">
            <a:off x="857250" y="7905750"/>
            <a:ext cx="16573500" cy="1428750"/>
            <a:chOff x="0" y="0"/>
            <a:chExt cx="22098000" cy="1905000"/>
          </a:xfrm>
        </p:grpSpPr>
        <p:sp>
          <p:nvSpPr>
            <p:cNvPr name="Freeform 55" id="55"/>
            <p:cNvSpPr/>
            <p:nvPr/>
          </p:nvSpPr>
          <p:spPr>
            <a:xfrm flipH="false" flipV="false" rot="0">
              <a:off x="0" y="0"/>
              <a:ext cx="22098000" cy="1905000"/>
            </a:xfrm>
            <a:custGeom>
              <a:avLst/>
              <a:gdLst/>
              <a:ahLst/>
              <a:cxnLst/>
              <a:rect r="r" b="b" t="t" l="l"/>
              <a:pathLst>
                <a:path h="1905000" w="22098000">
                  <a:moveTo>
                    <a:pt x="254000" y="0"/>
                  </a:moveTo>
                  <a:lnTo>
                    <a:pt x="21844000" y="0"/>
                  </a:lnTo>
                  <a:cubicBezTo>
                    <a:pt x="21984280" y="0"/>
                    <a:pt x="22098000" y="113720"/>
                    <a:pt x="22098000" y="254000"/>
                  </a:cubicBezTo>
                  <a:lnTo>
                    <a:pt x="22098000" y="1651000"/>
                  </a:lnTo>
                  <a:cubicBezTo>
                    <a:pt x="22098000" y="1791280"/>
                    <a:pt x="21984280" y="1905000"/>
                    <a:pt x="21844000" y="1905000"/>
                  </a:cubicBezTo>
                  <a:lnTo>
                    <a:pt x="254000" y="1905000"/>
                  </a:lnTo>
                  <a:cubicBezTo>
                    <a:pt x="113720" y="1905000"/>
                    <a:pt x="0" y="1791280"/>
                    <a:pt x="0" y="1651000"/>
                  </a:cubicBezTo>
                  <a:lnTo>
                    <a:pt x="0" y="254000"/>
                  </a:lnTo>
                  <a:cubicBezTo>
                    <a:pt x="0" y="113720"/>
                    <a:pt x="113720" y="0"/>
                    <a:pt x="254000" y="0"/>
                  </a:cubicBezTo>
                  <a:close/>
                </a:path>
              </a:pathLst>
            </a:custGeom>
            <a:solidFill>
              <a:srgbClr val="24252F"/>
            </a:solidFill>
          </p:spPr>
        </p:sp>
        <p:sp>
          <p:nvSpPr>
            <p:cNvPr name="TextBox 56" id="56"/>
            <p:cNvSpPr txBox="true"/>
            <p:nvPr/>
          </p:nvSpPr>
          <p:spPr>
            <a:xfrm>
              <a:off x="0" y="-38100"/>
              <a:ext cx="22098000" cy="1943100"/>
            </a:xfrm>
            <a:prstGeom prst="rect">
              <a:avLst/>
            </a:prstGeom>
          </p:spPr>
          <p:txBody>
            <a:bodyPr anchor="ctr" rtlCol="false" tIns="50800" lIns="50800" bIns="50800" rIns="50800"/>
            <a:lstStyle/>
            <a:p>
              <a:pPr algn="l">
                <a:lnSpc>
                  <a:spcPts val="1679"/>
                </a:lnSpc>
              </a:pPr>
            </a:p>
          </p:txBody>
        </p:sp>
      </p:grpSp>
      <p:sp>
        <p:nvSpPr>
          <p:cNvPr name="TextBox 57" id="57"/>
          <p:cNvSpPr txBox="true"/>
          <p:nvPr/>
        </p:nvSpPr>
        <p:spPr>
          <a:xfrm rot="0">
            <a:off x="1333500" y="8029575"/>
            <a:ext cx="15621000" cy="490855"/>
          </a:xfrm>
          <a:prstGeom prst="rect">
            <a:avLst/>
          </a:prstGeom>
        </p:spPr>
        <p:txBody>
          <a:bodyPr anchor="t" rtlCol="false" tIns="0" lIns="0" bIns="0" rIns="0">
            <a:spAutoFit/>
          </a:bodyPr>
          <a:lstStyle/>
          <a:p>
            <a:pPr algn="ctr">
              <a:lnSpc>
                <a:spcPts val="3919"/>
              </a:lnSpc>
            </a:pPr>
            <a:r>
              <a:rPr lang="en-US" sz="2799" b="true">
                <a:solidFill>
                  <a:srgbClr val="FFFFFF"/>
                </a:solidFill>
                <a:latin typeface="Open Sauce Bold"/>
                <a:ea typeface="Open Sauce Bold"/>
                <a:cs typeface="Open Sauce Bold"/>
                <a:sym typeface="Open Sauce Bold"/>
              </a:rPr>
              <a:t>Does the NameNode send the actual 500 MB file?</a:t>
            </a:r>
          </a:p>
        </p:txBody>
      </p:sp>
      <p:sp>
        <p:nvSpPr>
          <p:cNvPr name="TextBox 58" id="58"/>
          <p:cNvSpPr txBox="true"/>
          <p:nvPr/>
        </p:nvSpPr>
        <p:spPr>
          <a:xfrm rot="0">
            <a:off x="1333500" y="8582025"/>
            <a:ext cx="15621000" cy="323215"/>
          </a:xfrm>
          <a:prstGeom prst="rect">
            <a:avLst/>
          </a:prstGeom>
        </p:spPr>
        <p:txBody>
          <a:bodyPr anchor="t" rtlCol="false" tIns="0" lIns="0" bIns="0" rIns="0">
            <a:spAutoFit/>
          </a:bodyPr>
          <a:lstStyle/>
          <a:p>
            <a:pPr algn="ctr">
              <a:lnSpc>
                <a:spcPts val="2659"/>
              </a:lnSpc>
            </a:pPr>
            <a:r>
              <a:rPr lang="en-US" sz="1899" b="true">
                <a:solidFill>
                  <a:srgbClr val="F3C8B5"/>
                </a:solidFill>
                <a:latin typeface="Open Sauce Medium"/>
                <a:ea typeface="Open Sauce Medium"/>
                <a:cs typeface="Open Sauce Medium"/>
                <a:sym typeface="Open Sauce Medium"/>
              </a:rPr>
              <a:t>No — it sends metadata and block locations. DataNodes provide the actual data.</a:t>
            </a:r>
          </a:p>
        </p:txBody>
      </p:sp>
      <p:sp>
        <p:nvSpPr>
          <p:cNvPr name="AutoShape 59" id="59"/>
          <p:cNvSpPr/>
          <p:nvPr/>
        </p:nvSpPr>
        <p:spPr>
          <a:xfrm>
            <a:off x="857250" y="9620250"/>
            <a:ext cx="16573500" cy="0"/>
          </a:xfrm>
          <a:prstGeom prst="line">
            <a:avLst/>
          </a:prstGeom>
          <a:ln cap="flat" w="19050">
            <a:solidFill>
              <a:srgbClr val="D8B58F"/>
            </a:solidFill>
            <a:prstDash val="solid"/>
            <a:headEnd type="none" len="sm" w="sm"/>
            <a:tailEnd type="none" len="sm" w="sm"/>
          </a:ln>
        </p:spPr>
      </p:sp>
      <p:sp>
        <p:nvSpPr>
          <p:cNvPr name="TextBox 60" id="60"/>
          <p:cNvSpPr txBox="true"/>
          <p:nvPr/>
        </p:nvSpPr>
        <p:spPr>
          <a:xfrm rot="0">
            <a:off x="857250" y="9763125"/>
            <a:ext cx="2381250" cy="240665"/>
          </a:xfrm>
          <a:prstGeom prst="rect">
            <a:avLst/>
          </a:prstGeom>
        </p:spPr>
        <p:txBody>
          <a:bodyPr anchor="t" rtlCol="false" tIns="0" lIns="0" bIns="0" rIns="0">
            <a:spAutoFit/>
          </a:bodyPr>
          <a:lstStyle/>
          <a:p>
            <a:pPr algn="l">
              <a:lnSpc>
                <a:spcPts val="1960"/>
              </a:lnSpc>
            </a:pPr>
            <a:r>
              <a:rPr lang="en-US" sz="1400" b="true">
                <a:solidFill>
                  <a:srgbClr val="6E6863"/>
                </a:solidFill>
                <a:latin typeface="Open Sauce Medium"/>
                <a:ea typeface="Open Sauce Medium"/>
                <a:cs typeface="Open Sauce Medium"/>
                <a:sym typeface="Open Sauce Medium"/>
              </a:rPr>
              <a:t>ISE Activity 2</a:t>
            </a:r>
          </a:p>
        </p:txBody>
      </p:sp>
      <p:sp>
        <p:nvSpPr>
          <p:cNvPr name="TextBox 61" id="61"/>
          <p:cNvSpPr txBox="true"/>
          <p:nvPr/>
        </p:nvSpPr>
        <p:spPr>
          <a:xfrm rot="0">
            <a:off x="17049750" y="9763125"/>
            <a:ext cx="381000" cy="240665"/>
          </a:xfrm>
          <a:prstGeom prst="rect">
            <a:avLst/>
          </a:prstGeom>
        </p:spPr>
        <p:txBody>
          <a:bodyPr anchor="t" rtlCol="false" tIns="0" lIns="0" bIns="0" rIns="0">
            <a:spAutoFit/>
          </a:bodyPr>
          <a:lstStyle/>
          <a:p>
            <a:pPr algn="r">
              <a:lnSpc>
                <a:spcPts val="1960"/>
              </a:lnSpc>
            </a:pPr>
            <a:r>
              <a:rPr lang="en-US" sz="1400" b="true">
                <a:solidFill>
                  <a:srgbClr val="6E6863"/>
                </a:solidFill>
                <a:latin typeface="Open Sauce Medium"/>
                <a:ea typeface="Open Sauce Medium"/>
                <a:cs typeface="Open Sauce Medium"/>
                <a:sym typeface="Open Sauce Medium"/>
              </a:rPr>
              <a:t>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3F0"/>
        </a:solidFill>
      </p:bgPr>
    </p:bg>
    <p:spTree>
      <p:nvGrpSpPr>
        <p:cNvPr id="1" name=""/>
        <p:cNvGrpSpPr/>
        <p:nvPr/>
      </p:nvGrpSpPr>
      <p:grpSpPr>
        <a:xfrm>
          <a:off x="0" y="0"/>
          <a:ext cx="0" cy="0"/>
          <a:chOff x="0" y="0"/>
          <a:chExt cx="0" cy="0"/>
        </a:xfrm>
      </p:grpSpPr>
      <p:sp>
        <p:nvSpPr>
          <p:cNvPr name="TextBox 2" id="2"/>
          <p:cNvSpPr txBox="true"/>
          <p:nvPr/>
        </p:nvSpPr>
        <p:spPr>
          <a:xfrm rot="0">
            <a:off x="857250" y="381000"/>
            <a:ext cx="16192500" cy="887095"/>
          </a:xfrm>
          <a:prstGeom prst="rect">
            <a:avLst/>
          </a:prstGeom>
        </p:spPr>
        <p:txBody>
          <a:bodyPr anchor="t" rtlCol="false" tIns="0" lIns="0" bIns="0" rIns="0">
            <a:spAutoFit/>
          </a:bodyPr>
          <a:lstStyle/>
          <a:p>
            <a:pPr algn="l">
              <a:lnSpc>
                <a:spcPts val="7279"/>
              </a:lnSpc>
            </a:pPr>
            <a:r>
              <a:rPr lang="en-US" sz="5199" b="true">
                <a:solidFill>
                  <a:srgbClr val="24252F"/>
                </a:solidFill>
                <a:latin typeface="Open Sauce Bold"/>
                <a:ea typeface="Open Sauce Bold"/>
                <a:cs typeface="Open Sauce Bold"/>
                <a:sym typeface="Open Sauce Bold"/>
              </a:rPr>
              <a:t>Case Study — DataNode Failure and Recovery</a:t>
            </a:r>
          </a:p>
        </p:txBody>
      </p:sp>
      <p:sp>
        <p:nvSpPr>
          <p:cNvPr name="TextBox 3" id="3"/>
          <p:cNvSpPr txBox="true"/>
          <p:nvPr/>
        </p:nvSpPr>
        <p:spPr>
          <a:xfrm rot="0">
            <a:off x="857250" y="1152525"/>
            <a:ext cx="6191250" cy="306705"/>
          </a:xfrm>
          <a:prstGeom prst="rect">
            <a:avLst/>
          </a:prstGeom>
        </p:spPr>
        <p:txBody>
          <a:bodyPr anchor="t" rtlCol="false" tIns="0" lIns="0" bIns="0" rIns="0">
            <a:spAutoFit/>
          </a:bodyPr>
          <a:lstStyle/>
          <a:p>
            <a:pPr algn="l">
              <a:lnSpc>
                <a:spcPts val="2520"/>
              </a:lnSpc>
            </a:pPr>
            <a:r>
              <a:rPr lang="en-US" sz="1800" b="true">
                <a:solidFill>
                  <a:srgbClr val="C9785A"/>
                </a:solidFill>
                <a:latin typeface="Open Sauce Bold"/>
                <a:ea typeface="Open Sauce Bold"/>
                <a:cs typeface="Open Sauce Bold"/>
                <a:sym typeface="Open Sauce Bold"/>
              </a:rPr>
              <a:t>CONTINUING THE FILE SCENARIO</a:t>
            </a:r>
          </a:p>
        </p:txBody>
      </p:sp>
      <p:sp>
        <p:nvSpPr>
          <p:cNvPr name="AutoShape 4" id="4"/>
          <p:cNvSpPr/>
          <p:nvPr/>
        </p:nvSpPr>
        <p:spPr>
          <a:xfrm>
            <a:off x="857250" y="1495425"/>
            <a:ext cx="16573500" cy="0"/>
          </a:xfrm>
          <a:prstGeom prst="line">
            <a:avLst/>
          </a:prstGeom>
          <a:ln cap="flat" w="19050">
            <a:solidFill>
              <a:srgbClr val="D8B58F"/>
            </a:solidFill>
            <a:prstDash val="solid"/>
            <a:headEnd type="none" len="sm" w="sm"/>
            <a:tailEnd type="none" len="sm" w="sm"/>
          </a:ln>
        </p:spPr>
      </p:sp>
      <p:sp>
        <p:nvSpPr>
          <p:cNvPr name="TextBox 5" id="5"/>
          <p:cNvSpPr txBox="true"/>
          <p:nvPr/>
        </p:nvSpPr>
        <p:spPr>
          <a:xfrm rot="0">
            <a:off x="857250" y="1914525"/>
            <a:ext cx="7905750" cy="306705"/>
          </a:xfrm>
          <a:prstGeom prst="rect">
            <a:avLst/>
          </a:prstGeom>
        </p:spPr>
        <p:txBody>
          <a:bodyPr anchor="t" rtlCol="false" tIns="0" lIns="0" bIns="0" rIns="0">
            <a:spAutoFit/>
          </a:bodyPr>
          <a:lstStyle/>
          <a:p>
            <a:pPr algn="l">
              <a:lnSpc>
                <a:spcPts val="2520"/>
              </a:lnSpc>
            </a:pPr>
            <a:r>
              <a:rPr lang="en-US" sz="1800" b="true">
                <a:solidFill>
                  <a:srgbClr val="24252F"/>
                </a:solidFill>
                <a:latin typeface="Open Sauce Bold"/>
                <a:ea typeface="Open Sauce Bold"/>
                <a:cs typeface="Open Sauce Bold"/>
                <a:sym typeface="Open Sauce Bold"/>
              </a:rPr>
              <a:t>BEFORE</a:t>
            </a:r>
          </a:p>
        </p:txBody>
      </p:sp>
      <p:sp>
        <p:nvSpPr>
          <p:cNvPr name="TextBox 6" id="6"/>
          <p:cNvSpPr txBox="true"/>
          <p:nvPr/>
        </p:nvSpPr>
        <p:spPr>
          <a:xfrm rot="0">
            <a:off x="9525000" y="1914525"/>
            <a:ext cx="7905750" cy="306705"/>
          </a:xfrm>
          <a:prstGeom prst="rect">
            <a:avLst/>
          </a:prstGeom>
        </p:spPr>
        <p:txBody>
          <a:bodyPr anchor="t" rtlCol="false" tIns="0" lIns="0" bIns="0" rIns="0">
            <a:spAutoFit/>
          </a:bodyPr>
          <a:lstStyle/>
          <a:p>
            <a:pPr algn="l">
              <a:lnSpc>
                <a:spcPts val="2520"/>
              </a:lnSpc>
            </a:pPr>
            <a:r>
              <a:rPr lang="en-US" sz="1800" b="true">
                <a:solidFill>
                  <a:srgbClr val="C9785A"/>
                </a:solidFill>
                <a:latin typeface="Open Sauce Bold"/>
                <a:ea typeface="Open Sauce Bold"/>
                <a:cs typeface="Open Sauce Bold"/>
                <a:sym typeface="Open Sauce Bold"/>
              </a:rPr>
              <a:t>AFTER</a:t>
            </a:r>
          </a:p>
        </p:txBody>
      </p:sp>
      <p:grpSp>
        <p:nvGrpSpPr>
          <p:cNvPr name="Group 7" id="7"/>
          <p:cNvGrpSpPr/>
          <p:nvPr/>
        </p:nvGrpSpPr>
        <p:grpSpPr>
          <a:xfrm rot="0">
            <a:off x="857250" y="2238375"/>
            <a:ext cx="7905750" cy="2714625"/>
            <a:chOff x="0" y="0"/>
            <a:chExt cx="10541000" cy="3619500"/>
          </a:xfrm>
        </p:grpSpPr>
        <p:sp>
          <p:nvSpPr>
            <p:cNvPr name="Freeform 8" id="8"/>
            <p:cNvSpPr/>
            <p:nvPr/>
          </p:nvSpPr>
          <p:spPr>
            <a:xfrm flipH="false" flipV="false" rot="0">
              <a:off x="0" y="0"/>
              <a:ext cx="10541000" cy="3619500"/>
            </a:xfrm>
            <a:custGeom>
              <a:avLst/>
              <a:gdLst/>
              <a:ahLst/>
              <a:cxnLst/>
              <a:rect r="r" b="b" t="t" l="l"/>
              <a:pathLst>
                <a:path h="3619500" w="10541000">
                  <a:moveTo>
                    <a:pt x="254000" y="0"/>
                  </a:moveTo>
                  <a:lnTo>
                    <a:pt x="10287000" y="0"/>
                  </a:lnTo>
                  <a:cubicBezTo>
                    <a:pt x="10427281" y="0"/>
                    <a:pt x="10541000" y="113720"/>
                    <a:pt x="10541000" y="254000"/>
                  </a:cubicBezTo>
                  <a:lnTo>
                    <a:pt x="10541000" y="3365500"/>
                  </a:lnTo>
                  <a:cubicBezTo>
                    <a:pt x="10541000" y="3505780"/>
                    <a:pt x="10427281" y="3619500"/>
                    <a:pt x="10287000" y="3619500"/>
                  </a:cubicBezTo>
                  <a:lnTo>
                    <a:pt x="254000" y="3619500"/>
                  </a:lnTo>
                  <a:cubicBezTo>
                    <a:pt x="113720" y="3619500"/>
                    <a:pt x="0" y="3505780"/>
                    <a:pt x="0" y="3365500"/>
                  </a:cubicBezTo>
                  <a:lnTo>
                    <a:pt x="0" y="254000"/>
                  </a:lnTo>
                  <a:cubicBezTo>
                    <a:pt x="0" y="113720"/>
                    <a:pt x="113720" y="0"/>
                    <a:pt x="254000" y="0"/>
                  </a:cubicBezTo>
                  <a:close/>
                </a:path>
              </a:pathLst>
            </a:custGeom>
            <a:solidFill>
              <a:srgbClr val="E8E2DC"/>
            </a:solidFill>
            <a:ln w="19050" cap="sq">
              <a:solidFill>
                <a:srgbClr val="D8B58F"/>
              </a:solidFill>
              <a:prstDash val="solid"/>
              <a:miter/>
            </a:ln>
          </p:spPr>
        </p:sp>
        <p:sp>
          <p:nvSpPr>
            <p:cNvPr name="TextBox 9" id="9"/>
            <p:cNvSpPr txBox="true"/>
            <p:nvPr/>
          </p:nvSpPr>
          <p:spPr>
            <a:xfrm>
              <a:off x="0" y="-38100"/>
              <a:ext cx="10541000" cy="36576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9525000" y="2238375"/>
            <a:ext cx="7905750" cy="2714625"/>
            <a:chOff x="0" y="0"/>
            <a:chExt cx="10541000" cy="3619500"/>
          </a:xfrm>
        </p:grpSpPr>
        <p:sp>
          <p:nvSpPr>
            <p:cNvPr name="Freeform 11" id="11"/>
            <p:cNvSpPr/>
            <p:nvPr/>
          </p:nvSpPr>
          <p:spPr>
            <a:xfrm flipH="false" flipV="false" rot="0">
              <a:off x="0" y="0"/>
              <a:ext cx="10541000" cy="3619500"/>
            </a:xfrm>
            <a:custGeom>
              <a:avLst/>
              <a:gdLst/>
              <a:ahLst/>
              <a:cxnLst/>
              <a:rect r="r" b="b" t="t" l="l"/>
              <a:pathLst>
                <a:path h="3619500" w="10541000">
                  <a:moveTo>
                    <a:pt x="254000" y="0"/>
                  </a:moveTo>
                  <a:lnTo>
                    <a:pt x="10287000" y="0"/>
                  </a:lnTo>
                  <a:cubicBezTo>
                    <a:pt x="10427281" y="0"/>
                    <a:pt x="10541000" y="113720"/>
                    <a:pt x="10541000" y="254000"/>
                  </a:cubicBezTo>
                  <a:lnTo>
                    <a:pt x="10541000" y="3365500"/>
                  </a:lnTo>
                  <a:cubicBezTo>
                    <a:pt x="10541000" y="3505780"/>
                    <a:pt x="10427281" y="3619500"/>
                    <a:pt x="10287000" y="3619500"/>
                  </a:cubicBezTo>
                  <a:lnTo>
                    <a:pt x="254000" y="3619500"/>
                  </a:lnTo>
                  <a:cubicBezTo>
                    <a:pt x="113720" y="3619500"/>
                    <a:pt x="0" y="3505780"/>
                    <a:pt x="0" y="3365500"/>
                  </a:cubicBezTo>
                  <a:lnTo>
                    <a:pt x="0" y="254000"/>
                  </a:lnTo>
                  <a:cubicBezTo>
                    <a:pt x="0" y="113720"/>
                    <a:pt x="113720" y="0"/>
                    <a:pt x="254000" y="0"/>
                  </a:cubicBezTo>
                  <a:close/>
                </a:path>
              </a:pathLst>
            </a:custGeom>
            <a:solidFill>
              <a:srgbClr val="F1D8CC"/>
            </a:solidFill>
            <a:ln w="19050" cap="sq">
              <a:solidFill>
                <a:srgbClr val="C9785A"/>
              </a:solidFill>
              <a:prstDash val="solid"/>
              <a:miter/>
            </a:ln>
          </p:spPr>
        </p:sp>
        <p:sp>
          <p:nvSpPr>
            <p:cNvPr name="TextBox 12" id="12"/>
            <p:cNvSpPr txBox="true"/>
            <p:nvPr/>
          </p:nvSpPr>
          <p:spPr>
            <a:xfrm>
              <a:off x="0" y="-38100"/>
              <a:ext cx="10541000" cy="36576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143000" y="2438400"/>
            <a:ext cx="7334250" cy="523875"/>
          </a:xfrm>
          <a:prstGeom prst="rect">
            <a:avLst/>
          </a:prstGeom>
        </p:spPr>
        <p:txBody>
          <a:bodyPr anchor="t" rtlCol="false" tIns="0" lIns="0" bIns="0" rIns="0">
            <a:spAutoFit/>
          </a:bodyPr>
          <a:lstStyle/>
          <a:p>
            <a:pPr algn="l">
              <a:lnSpc>
                <a:spcPts val="4200"/>
              </a:lnSpc>
            </a:pPr>
            <a:r>
              <a:rPr lang="en-US" sz="3000" b="true">
                <a:solidFill>
                  <a:srgbClr val="24252F"/>
                </a:solidFill>
                <a:latin typeface="Open Sauce Bold"/>
                <a:ea typeface="Open Sauce Bold"/>
                <a:cs typeface="Open Sauce Bold"/>
                <a:sym typeface="Open Sauce Bold"/>
              </a:rPr>
              <a:t>NORMAL STATE</a:t>
            </a:r>
          </a:p>
        </p:txBody>
      </p:sp>
      <p:grpSp>
        <p:nvGrpSpPr>
          <p:cNvPr name="Group 14" id="14"/>
          <p:cNvGrpSpPr/>
          <p:nvPr/>
        </p:nvGrpSpPr>
        <p:grpSpPr>
          <a:xfrm rot="0">
            <a:off x="1143000" y="2981325"/>
            <a:ext cx="4476750" cy="371475"/>
            <a:chOff x="0" y="0"/>
            <a:chExt cx="5969000" cy="495300"/>
          </a:xfrm>
        </p:grpSpPr>
        <p:sp>
          <p:nvSpPr>
            <p:cNvPr name="Freeform 15" id="15"/>
            <p:cNvSpPr/>
            <p:nvPr/>
          </p:nvSpPr>
          <p:spPr>
            <a:xfrm flipH="false" flipV="false" rot="0">
              <a:off x="0" y="0"/>
              <a:ext cx="5969000" cy="495300"/>
            </a:xfrm>
            <a:custGeom>
              <a:avLst/>
              <a:gdLst/>
              <a:ahLst/>
              <a:cxnLst/>
              <a:rect r="r" b="b" t="t" l="l"/>
              <a:pathLst>
                <a:path h="495300" w="5969000">
                  <a:moveTo>
                    <a:pt x="127000" y="0"/>
                  </a:moveTo>
                  <a:lnTo>
                    <a:pt x="5842000" y="0"/>
                  </a:lnTo>
                  <a:cubicBezTo>
                    <a:pt x="5912140" y="0"/>
                    <a:pt x="5969000" y="56860"/>
                    <a:pt x="5969000" y="127000"/>
                  </a:cubicBezTo>
                  <a:lnTo>
                    <a:pt x="5969000" y="368300"/>
                  </a:lnTo>
                  <a:cubicBezTo>
                    <a:pt x="5969000" y="438440"/>
                    <a:pt x="5912140" y="495300"/>
                    <a:pt x="5842000" y="495300"/>
                  </a:cubicBezTo>
                  <a:lnTo>
                    <a:pt x="127000" y="495300"/>
                  </a:lnTo>
                  <a:cubicBezTo>
                    <a:pt x="56860" y="495300"/>
                    <a:pt x="0" y="438440"/>
                    <a:pt x="0" y="368300"/>
                  </a:cubicBezTo>
                  <a:lnTo>
                    <a:pt x="0" y="127000"/>
                  </a:lnTo>
                  <a:cubicBezTo>
                    <a:pt x="0" y="56860"/>
                    <a:pt x="56860" y="0"/>
                    <a:pt x="127000" y="0"/>
                  </a:cubicBezTo>
                  <a:close/>
                </a:path>
              </a:pathLst>
            </a:custGeom>
            <a:solidFill>
              <a:srgbClr val="24252F"/>
            </a:solidFill>
          </p:spPr>
        </p:sp>
        <p:sp>
          <p:nvSpPr>
            <p:cNvPr name="TextBox 16" id="16"/>
            <p:cNvSpPr txBox="true"/>
            <p:nvPr/>
          </p:nvSpPr>
          <p:spPr>
            <a:xfrm>
              <a:off x="0" y="-38100"/>
              <a:ext cx="5969000" cy="5334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1285875" y="3009900"/>
            <a:ext cx="4191000" cy="349250"/>
          </a:xfrm>
          <a:prstGeom prst="rect">
            <a:avLst/>
          </a:prstGeom>
        </p:spPr>
        <p:txBody>
          <a:bodyPr anchor="t" rtlCol="false" tIns="0" lIns="0" bIns="0" rIns="0">
            <a:spAutoFit/>
          </a:bodyPr>
          <a:lstStyle/>
          <a:p>
            <a:pPr algn="ctr">
              <a:lnSpc>
                <a:spcPts val="2800"/>
              </a:lnSpc>
            </a:pPr>
            <a:r>
              <a:rPr lang="en-US" sz="2000" b="true">
                <a:solidFill>
                  <a:srgbClr val="FFFFFF"/>
                </a:solidFill>
                <a:latin typeface="Open Sauce Bold"/>
                <a:ea typeface="Open Sauce Bold"/>
                <a:cs typeface="Open Sauce Bold"/>
                <a:sym typeface="Open Sauce Bold"/>
              </a:rPr>
              <a:t>Block A → DataNode 1</a:t>
            </a:r>
          </a:p>
        </p:txBody>
      </p:sp>
      <p:grpSp>
        <p:nvGrpSpPr>
          <p:cNvPr name="Group 18" id="18"/>
          <p:cNvGrpSpPr/>
          <p:nvPr/>
        </p:nvGrpSpPr>
        <p:grpSpPr>
          <a:xfrm rot="0">
            <a:off x="1143000" y="3448050"/>
            <a:ext cx="4476750" cy="371475"/>
            <a:chOff x="0" y="0"/>
            <a:chExt cx="5969000" cy="495300"/>
          </a:xfrm>
        </p:grpSpPr>
        <p:sp>
          <p:nvSpPr>
            <p:cNvPr name="Freeform 19" id="19"/>
            <p:cNvSpPr/>
            <p:nvPr/>
          </p:nvSpPr>
          <p:spPr>
            <a:xfrm flipH="false" flipV="false" rot="0">
              <a:off x="0" y="0"/>
              <a:ext cx="5969000" cy="495300"/>
            </a:xfrm>
            <a:custGeom>
              <a:avLst/>
              <a:gdLst/>
              <a:ahLst/>
              <a:cxnLst/>
              <a:rect r="r" b="b" t="t" l="l"/>
              <a:pathLst>
                <a:path h="495300" w="5969000">
                  <a:moveTo>
                    <a:pt x="127000" y="0"/>
                  </a:moveTo>
                  <a:lnTo>
                    <a:pt x="5842000" y="0"/>
                  </a:lnTo>
                  <a:cubicBezTo>
                    <a:pt x="5912140" y="0"/>
                    <a:pt x="5969000" y="56860"/>
                    <a:pt x="5969000" y="127000"/>
                  </a:cubicBezTo>
                  <a:lnTo>
                    <a:pt x="5969000" y="368300"/>
                  </a:lnTo>
                  <a:cubicBezTo>
                    <a:pt x="5969000" y="438440"/>
                    <a:pt x="5912140" y="495300"/>
                    <a:pt x="5842000" y="495300"/>
                  </a:cubicBezTo>
                  <a:lnTo>
                    <a:pt x="127000" y="495300"/>
                  </a:lnTo>
                  <a:cubicBezTo>
                    <a:pt x="56860" y="495300"/>
                    <a:pt x="0" y="438440"/>
                    <a:pt x="0" y="368300"/>
                  </a:cubicBezTo>
                  <a:lnTo>
                    <a:pt x="0" y="127000"/>
                  </a:lnTo>
                  <a:cubicBezTo>
                    <a:pt x="0" y="56860"/>
                    <a:pt x="56860" y="0"/>
                    <a:pt x="127000" y="0"/>
                  </a:cubicBezTo>
                  <a:close/>
                </a:path>
              </a:pathLst>
            </a:custGeom>
            <a:solidFill>
              <a:srgbClr val="24252F"/>
            </a:solidFill>
          </p:spPr>
        </p:sp>
        <p:sp>
          <p:nvSpPr>
            <p:cNvPr name="TextBox 20" id="20"/>
            <p:cNvSpPr txBox="true"/>
            <p:nvPr/>
          </p:nvSpPr>
          <p:spPr>
            <a:xfrm>
              <a:off x="0" y="-38100"/>
              <a:ext cx="5969000" cy="5334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1285875" y="3476625"/>
            <a:ext cx="4191000" cy="349250"/>
          </a:xfrm>
          <a:prstGeom prst="rect">
            <a:avLst/>
          </a:prstGeom>
        </p:spPr>
        <p:txBody>
          <a:bodyPr anchor="t" rtlCol="false" tIns="0" lIns="0" bIns="0" rIns="0">
            <a:spAutoFit/>
          </a:bodyPr>
          <a:lstStyle/>
          <a:p>
            <a:pPr algn="ctr">
              <a:lnSpc>
                <a:spcPts val="2800"/>
              </a:lnSpc>
            </a:pPr>
            <a:r>
              <a:rPr lang="en-US" sz="2000" b="true">
                <a:solidFill>
                  <a:srgbClr val="FFFFFF"/>
                </a:solidFill>
                <a:latin typeface="Open Sauce Bold"/>
                <a:ea typeface="Open Sauce Bold"/>
                <a:cs typeface="Open Sauce Bold"/>
                <a:sym typeface="Open Sauce Bold"/>
              </a:rPr>
              <a:t>Block B → DataNode 2</a:t>
            </a:r>
          </a:p>
        </p:txBody>
      </p:sp>
      <p:grpSp>
        <p:nvGrpSpPr>
          <p:cNvPr name="Group 22" id="22"/>
          <p:cNvGrpSpPr/>
          <p:nvPr/>
        </p:nvGrpSpPr>
        <p:grpSpPr>
          <a:xfrm rot="0">
            <a:off x="1143000" y="3914775"/>
            <a:ext cx="4476750" cy="371475"/>
            <a:chOff x="0" y="0"/>
            <a:chExt cx="5969000" cy="495300"/>
          </a:xfrm>
        </p:grpSpPr>
        <p:sp>
          <p:nvSpPr>
            <p:cNvPr name="Freeform 23" id="23"/>
            <p:cNvSpPr/>
            <p:nvPr/>
          </p:nvSpPr>
          <p:spPr>
            <a:xfrm flipH="false" flipV="false" rot="0">
              <a:off x="0" y="0"/>
              <a:ext cx="5969000" cy="495300"/>
            </a:xfrm>
            <a:custGeom>
              <a:avLst/>
              <a:gdLst/>
              <a:ahLst/>
              <a:cxnLst/>
              <a:rect r="r" b="b" t="t" l="l"/>
              <a:pathLst>
                <a:path h="495300" w="5969000">
                  <a:moveTo>
                    <a:pt x="127000" y="0"/>
                  </a:moveTo>
                  <a:lnTo>
                    <a:pt x="5842000" y="0"/>
                  </a:lnTo>
                  <a:cubicBezTo>
                    <a:pt x="5912140" y="0"/>
                    <a:pt x="5969000" y="56860"/>
                    <a:pt x="5969000" y="127000"/>
                  </a:cubicBezTo>
                  <a:lnTo>
                    <a:pt x="5969000" y="368300"/>
                  </a:lnTo>
                  <a:cubicBezTo>
                    <a:pt x="5969000" y="438440"/>
                    <a:pt x="5912140" y="495300"/>
                    <a:pt x="5842000" y="495300"/>
                  </a:cubicBezTo>
                  <a:lnTo>
                    <a:pt x="127000" y="495300"/>
                  </a:lnTo>
                  <a:cubicBezTo>
                    <a:pt x="56860" y="495300"/>
                    <a:pt x="0" y="438440"/>
                    <a:pt x="0" y="368300"/>
                  </a:cubicBezTo>
                  <a:lnTo>
                    <a:pt x="0" y="127000"/>
                  </a:lnTo>
                  <a:cubicBezTo>
                    <a:pt x="0" y="56860"/>
                    <a:pt x="56860" y="0"/>
                    <a:pt x="127000" y="0"/>
                  </a:cubicBezTo>
                  <a:close/>
                </a:path>
              </a:pathLst>
            </a:custGeom>
            <a:solidFill>
              <a:srgbClr val="24252F"/>
            </a:solidFill>
          </p:spPr>
        </p:sp>
        <p:sp>
          <p:nvSpPr>
            <p:cNvPr name="TextBox 24" id="24"/>
            <p:cNvSpPr txBox="true"/>
            <p:nvPr/>
          </p:nvSpPr>
          <p:spPr>
            <a:xfrm>
              <a:off x="0" y="-38100"/>
              <a:ext cx="5969000" cy="5334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1285875" y="3943350"/>
            <a:ext cx="4191000" cy="349250"/>
          </a:xfrm>
          <a:prstGeom prst="rect">
            <a:avLst/>
          </a:prstGeom>
        </p:spPr>
        <p:txBody>
          <a:bodyPr anchor="t" rtlCol="false" tIns="0" lIns="0" bIns="0" rIns="0">
            <a:spAutoFit/>
          </a:bodyPr>
          <a:lstStyle/>
          <a:p>
            <a:pPr algn="ctr">
              <a:lnSpc>
                <a:spcPts val="2800"/>
              </a:lnSpc>
            </a:pPr>
            <a:r>
              <a:rPr lang="en-US" sz="2000" b="true">
                <a:solidFill>
                  <a:srgbClr val="FFFFFF"/>
                </a:solidFill>
                <a:latin typeface="Open Sauce Bold"/>
                <a:ea typeface="Open Sauce Bold"/>
                <a:cs typeface="Open Sauce Bold"/>
                <a:sym typeface="Open Sauce Bold"/>
              </a:rPr>
              <a:t>Block C → DataNode 3</a:t>
            </a:r>
          </a:p>
        </p:txBody>
      </p:sp>
      <p:sp>
        <p:nvSpPr>
          <p:cNvPr name="TextBox 26" id="26"/>
          <p:cNvSpPr txBox="true"/>
          <p:nvPr/>
        </p:nvSpPr>
        <p:spPr>
          <a:xfrm rot="0">
            <a:off x="1143000" y="4371975"/>
            <a:ext cx="7334250" cy="306705"/>
          </a:xfrm>
          <a:prstGeom prst="rect">
            <a:avLst/>
          </a:prstGeom>
        </p:spPr>
        <p:txBody>
          <a:bodyPr anchor="t" rtlCol="false" tIns="0" lIns="0" bIns="0" rIns="0">
            <a:spAutoFit/>
          </a:bodyPr>
          <a:lstStyle/>
          <a:p>
            <a:pPr algn="l">
              <a:lnSpc>
                <a:spcPts val="2520"/>
              </a:lnSpc>
            </a:pPr>
            <a:r>
              <a:rPr lang="en-US" sz="1800" b="true">
                <a:solidFill>
                  <a:srgbClr val="6E6863"/>
                </a:solidFill>
                <a:latin typeface="Open Sauce Medium"/>
                <a:ea typeface="Open Sauce Medium"/>
                <a:cs typeface="Open Sauce Medium"/>
                <a:sym typeface="Open Sauce Medium"/>
              </a:rPr>
              <a:t>Each block also has a replica on another DataNode.</a:t>
            </a:r>
          </a:p>
        </p:txBody>
      </p:sp>
      <p:sp>
        <p:nvSpPr>
          <p:cNvPr name="TextBox 27" id="27"/>
          <p:cNvSpPr txBox="true"/>
          <p:nvPr/>
        </p:nvSpPr>
        <p:spPr>
          <a:xfrm rot="0">
            <a:off x="9810750" y="2438400"/>
            <a:ext cx="7334250" cy="523875"/>
          </a:xfrm>
          <a:prstGeom prst="rect">
            <a:avLst/>
          </a:prstGeom>
        </p:spPr>
        <p:txBody>
          <a:bodyPr anchor="t" rtlCol="false" tIns="0" lIns="0" bIns="0" rIns="0">
            <a:spAutoFit/>
          </a:bodyPr>
          <a:lstStyle/>
          <a:p>
            <a:pPr algn="l">
              <a:lnSpc>
                <a:spcPts val="4200"/>
              </a:lnSpc>
            </a:pPr>
            <a:r>
              <a:rPr lang="en-US" sz="3000" b="true">
                <a:solidFill>
                  <a:srgbClr val="24252F"/>
                </a:solidFill>
                <a:latin typeface="Open Sauce Bold"/>
                <a:ea typeface="Open Sauce Bold"/>
                <a:cs typeface="Open Sauce Bold"/>
                <a:sym typeface="Open Sauce Bold"/>
              </a:rPr>
              <a:t>AFTER DATANODE 2 FAILS</a:t>
            </a:r>
          </a:p>
        </p:txBody>
      </p:sp>
      <p:grpSp>
        <p:nvGrpSpPr>
          <p:cNvPr name="Group 28" id="28"/>
          <p:cNvGrpSpPr/>
          <p:nvPr/>
        </p:nvGrpSpPr>
        <p:grpSpPr>
          <a:xfrm rot="0">
            <a:off x="9810750" y="2981325"/>
            <a:ext cx="7334250" cy="438150"/>
            <a:chOff x="0" y="0"/>
            <a:chExt cx="9779000" cy="584200"/>
          </a:xfrm>
        </p:grpSpPr>
        <p:sp>
          <p:nvSpPr>
            <p:cNvPr name="Freeform 29" id="29"/>
            <p:cNvSpPr/>
            <p:nvPr/>
          </p:nvSpPr>
          <p:spPr>
            <a:xfrm flipH="false" flipV="false" rot="0">
              <a:off x="0" y="0"/>
              <a:ext cx="9779000" cy="584200"/>
            </a:xfrm>
            <a:custGeom>
              <a:avLst/>
              <a:gdLst/>
              <a:ahLst/>
              <a:cxnLst/>
              <a:rect r="r" b="b" t="t" l="l"/>
              <a:pathLst>
                <a:path h="584200" w="9779000">
                  <a:moveTo>
                    <a:pt x="127000" y="0"/>
                  </a:moveTo>
                  <a:lnTo>
                    <a:pt x="9652000" y="0"/>
                  </a:lnTo>
                  <a:cubicBezTo>
                    <a:pt x="9722140" y="0"/>
                    <a:pt x="9779000" y="56860"/>
                    <a:pt x="9779000" y="127000"/>
                  </a:cubicBezTo>
                  <a:lnTo>
                    <a:pt x="9779000" y="457200"/>
                  </a:lnTo>
                  <a:cubicBezTo>
                    <a:pt x="9779000" y="527340"/>
                    <a:pt x="9722140" y="584200"/>
                    <a:pt x="9652000" y="584200"/>
                  </a:cubicBezTo>
                  <a:lnTo>
                    <a:pt x="127000" y="584200"/>
                  </a:lnTo>
                  <a:cubicBezTo>
                    <a:pt x="56860" y="584200"/>
                    <a:pt x="0" y="527340"/>
                    <a:pt x="0" y="457200"/>
                  </a:cubicBezTo>
                  <a:lnTo>
                    <a:pt x="0" y="127000"/>
                  </a:lnTo>
                  <a:cubicBezTo>
                    <a:pt x="0" y="56860"/>
                    <a:pt x="56860" y="0"/>
                    <a:pt x="127000" y="0"/>
                  </a:cubicBezTo>
                  <a:close/>
                </a:path>
              </a:pathLst>
            </a:custGeom>
            <a:solidFill>
              <a:srgbClr val="C9785A"/>
            </a:solidFill>
          </p:spPr>
        </p:sp>
        <p:sp>
          <p:nvSpPr>
            <p:cNvPr name="TextBox 30" id="30"/>
            <p:cNvSpPr txBox="true"/>
            <p:nvPr/>
          </p:nvSpPr>
          <p:spPr>
            <a:xfrm>
              <a:off x="0" y="-38100"/>
              <a:ext cx="9779000" cy="6223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0001250" y="3038475"/>
            <a:ext cx="6953250" cy="365760"/>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uce Bold"/>
                <a:ea typeface="Open Sauce Bold"/>
                <a:cs typeface="Open Sauce Bold"/>
                <a:sym typeface="Open Sauce Bold"/>
              </a:rPr>
              <a:t>DataNode 2 → FAILED</a:t>
            </a:r>
          </a:p>
        </p:txBody>
      </p:sp>
      <p:sp>
        <p:nvSpPr>
          <p:cNvPr name="TextBox 32" id="32"/>
          <p:cNvSpPr txBox="true"/>
          <p:nvPr/>
        </p:nvSpPr>
        <p:spPr>
          <a:xfrm rot="0">
            <a:off x="9810750" y="3629025"/>
            <a:ext cx="1809750" cy="379730"/>
          </a:xfrm>
          <a:prstGeom prst="rect">
            <a:avLst/>
          </a:prstGeom>
        </p:spPr>
        <p:txBody>
          <a:bodyPr anchor="t" rtlCol="false" tIns="0" lIns="0" bIns="0" rIns="0">
            <a:spAutoFit/>
          </a:bodyPr>
          <a:lstStyle/>
          <a:p>
            <a:pPr algn="l">
              <a:lnSpc>
                <a:spcPts val="3220"/>
              </a:lnSpc>
            </a:pPr>
            <a:r>
              <a:rPr lang="en-US" sz="2300" b="true">
                <a:solidFill>
                  <a:srgbClr val="24252F"/>
                </a:solidFill>
                <a:latin typeface="Open Sauce Bold"/>
                <a:ea typeface="Open Sauce Bold"/>
                <a:cs typeface="Open Sauce Bold"/>
                <a:sym typeface="Open Sauce Bold"/>
              </a:rPr>
              <a:t>Block B</a:t>
            </a:r>
          </a:p>
        </p:txBody>
      </p:sp>
      <p:sp>
        <p:nvSpPr>
          <p:cNvPr name="AutoShape 33" id="33"/>
          <p:cNvSpPr/>
          <p:nvPr/>
        </p:nvSpPr>
        <p:spPr>
          <a:xfrm>
            <a:off x="11477625" y="3819525"/>
            <a:ext cx="1000125" cy="0"/>
          </a:xfrm>
          <a:prstGeom prst="line">
            <a:avLst/>
          </a:prstGeom>
          <a:ln cap="flat" w="28575">
            <a:solidFill>
              <a:srgbClr val="C9785A"/>
            </a:solidFill>
            <a:prstDash val="solid"/>
            <a:headEnd type="none" len="sm" w="sm"/>
            <a:tailEnd type="arrow" len="sm" w="med"/>
          </a:ln>
        </p:spPr>
      </p:sp>
      <p:grpSp>
        <p:nvGrpSpPr>
          <p:cNvPr name="Group 34" id="34"/>
          <p:cNvGrpSpPr/>
          <p:nvPr/>
        </p:nvGrpSpPr>
        <p:grpSpPr>
          <a:xfrm rot="0">
            <a:off x="12668250" y="3590925"/>
            <a:ext cx="3619500" cy="495300"/>
            <a:chOff x="0" y="0"/>
            <a:chExt cx="4826000" cy="660400"/>
          </a:xfrm>
        </p:grpSpPr>
        <p:sp>
          <p:nvSpPr>
            <p:cNvPr name="Freeform 35" id="35"/>
            <p:cNvSpPr/>
            <p:nvPr/>
          </p:nvSpPr>
          <p:spPr>
            <a:xfrm flipH="false" flipV="false" rot="0">
              <a:off x="0" y="0"/>
              <a:ext cx="4826000" cy="660400"/>
            </a:xfrm>
            <a:custGeom>
              <a:avLst/>
              <a:gdLst/>
              <a:ahLst/>
              <a:cxnLst/>
              <a:rect r="r" b="b" t="t" l="l"/>
              <a:pathLst>
                <a:path h="660400" w="4826000">
                  <a:moveTo>
                    <a:pt x="152400" y="0"/>
                  </a:moveTo>
                  <a:lnTo>
                    <a:pt x="4673600" y="0"/>
                  </a:lnTo>
                  <a:cubicBezTo>
                    <a:pt x="4757768" y="0"/>
                    <a:pt x="4826000" y="68232"/>
                    <a:pt x="4826000" y="152400"/>
                  </a:cubicBezTo>
                  <a:lnTo>
                    <a:pt x="4826000" y="508000"/>
                  </a:lnTo>
                  <a:cubicBezTo>
                    <a:pt x="4826000" y="592168"/>
                    <a:pt x="4757768" y="660400"/>
                    <a:pt x="4673600" y="660400"/>
                  </a:cubicBezTo>
                  <a:lnTo>
                    <a:pt x="152400" y="660400"/>
                  </a:lnTo>
                  <a:cubicBezTo>
                    <a:pt x="68232" y="660400"/>
                    <a:pt x="0" y="592168"/>
                    <a:pt x="0" y="508000"/>
                  </a:cubicBezTo>
                  <a:lnTo>
                    <a:pt x="0" y="152400"/>
                  </a:lnTo>
                  <a:cubicBezTo>
                    <a:pt x="0" y="68232"/>
                    <a:pt x="68232" y="0"/>
                    <a:pt x="152400" y="0"/>
                  </a:cubicBezTo>
                  <a:close/>
                </a:path>
              </a:pathLst>
            </a:custGeom>
            <a:solidFill>
              <a:srgbClr val="24252F"/>
            </a:solidFill>
          </p:spPr>
        </p:sp>
        <p:sp>
          <p:nvSpPr>
            <p:cNvPr name="TextBox 36" id="36"/>
            <p:cNvSpPr txBox="true"/>
            <p:nvPr/>
          </p:nvSpPr>
          <p:spPr>
            <a:xfrm>
              <a:off x="0" y="-38100"/>
              <a:ext cx="4826000" cy="6985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12811125" y="3714750"/>
            <a:ext cx="3333750" cy="289249"/>
          </a:xfrm>
          <a:prstGeom prst="rect">
            <a:avLst/>
          </a:prstGeom>
        </p:spPr>
        <p:txBody>
          <a:bodyPr anchor="t" rtlCol="false" tIns="0" lIns="0" bIns="0" rIns="0">
            <a:spAutoFit/>
          </a:bodyPr>
          <a:lstStyle/>
          <a:p>
            <a:pPr algn="ctr">
              <a:lnSpc>
                <a:spcPts val="2432"/>
              </a:lnSpc>
            </a:pPr>
            <a:r>
              <a:rPr lang="en-US" sz="1737" b="true">
                <a:solidFill>
                  <a:srgbClr val="FFFFFF"/>
                </a:solidFill>
                <a:latin typeface="Open Sauce Bold"/>
                <a:ea typeface="Open Sauce Bold"/>
                <a:cs typeface="Open Sauce Bold"/>
                <a:sym typeface="Open Sauce Bold"/>
              </a:rPr>
              <a:t>Replica on another DataNode</a:t>
            </a:r>
          </a:p>
        </p:txBody>
      </p:sp>
      <p:sp>
        <p:nvSpPr>
          <p:cNvPr name="AutoShape 38" id="38"/>
          <p:cNvSpPr/>
          <p:nvPr/>
        </p:nvSpPr>
        <p:spPr>
          <a:xfrm>
            <a:off x="16383000" y="3819525"/>
            <a:ext cx="523875" cy="0"/>
          </a:xfrm>
          <a:prstGeom prst="line">
            <a:avLst/>
          </a:prstGeom>
          <a:ln cap="flat" w="28575">
            <a:solidFill>
              <a:srgbClr val="C9785A"/>
            </a:solidFill>
            <a:prstDash val="solid"/>
            <a:headEnd type="none" len="sm" w="sm"/>
            <a:tailEnd type="arrow" len="sm" w="med"/>
          </a:ln>
        </p:spPr>
      </p:sp>
      <p:sp>
        <p:nvSpPr>
          <p:cNvPr name="TextBox 39" id="39"/>
          <p:cNvSpPr txBox="true"/>
          <p:nvPr/>
        </p:nvSpPr>
        <p:spPr>
          <a:xfrm rot="0">
            <a:off x="9810750" y="4200525"/>
            <a:ext cx="7334250" cy="306705"/>
          </a:xfrm>
          <a:prstGeom prst="rect">
            <a:avLst/>
          </a:prstGeom>
        </p:spPr>
        <p:txBody>
          <a:bodyPr anchor="t" rtlCol="false" tIns="0" lIns="0" bIns="0" rIns="0">
            <a:spAutoFit/>
          </a:bodyPr>
          <a:lstStyle/>
          <a:p>
            <a:pPr algn="l">
              <a:lnSpc>
                <a:spcPts val="2520"/>
              </a:lnSpc>
            </a:pPr>
            <a:r>
              <a:rPr lang="en-US" sz="1800" b="true">
                <a:solidFill>
                  <a:srgbClr val="6E6863"/>
                </a:solidFill>
                <a:latin typeface="Open Sauce Semi-Bold"/>
                <a:ea typeface="Open Sauce Semi-Bold"/>
                <a:cs typeface="Open Sauce Semi-Bold"/>
                <a:sym typeface="Open Sauce Semi-Bold"/>
              </a:rPr>
              <a:t>The original block is still readable.</a:t>
            </a:r>
          </a:p>
        </p:txBody>
      </p:sp>
      <p:sp>
        <p:nvSpPr>
          <p:cNvPr name="TextBox 40" id="40"/>
          <p:cNvSpPr txBox="true"/>
          <p:nvPr/>
        </p:nvSpPr>
        <p:spPr>
          <a:xfrm rot="0">
            <a:off x="857250" y="5057775"/>
            <a:ext cx="3810000" cy="306705"/>
          </a:xfrm>
          <a:prstGeom prst="rect">
            <a:avLst/>
          </a:prstGeom>
        </p:spPr>
        <p:txBody>
          <a:bodyPr anchor="t" rtlCol="false" tIns="0" lIns="0" bIns="0" rIns="0">
            <a:spAutoFit/>
          </a:bodyPr>
          <a:lstStyle/>
          <a:p>
            <a:pPr algn="l">
              <a:lnSpc>
                <a:spcPts val="2520"/>
              </a:lnSpc>
            </a:pPr>
            <a:r>
              <a:rPr lang="en-US" sz="1800" b="true">
                <a:solidFill>
                  <a:srgbClr val="C9785A"/>
                </a:solidFill>
                <a:latin typeface="Open Sauce Bold"/>
                <a:ea typeface="Open Sauce Bold"/>
                <a:cs typeface="Open Sauce Bold"/>
                <a:sym typeface="Open Sauce Bold"/>
              </a:rPr>
              <a:t>RECOVERY PATH</a:t>
            </a:r>
          </a:p>
        </p:txBody>
      </p:sp>
      <p:grpSp>
        <p:nvGrpSpPr>
          <p:cNvPr name="Group 41" id="41"/>
          <p:cNvGrpSpPr/>
          <p:nvPr/>
        </p:nvGrpSpPr>
        <p:grpSpPr>
          <a:xfrm rot="0">
            <a:off x="857250" y="5476875"/>
            <a:ext cx="628650" cy="628650"/>
            <a:chOff x="0" y="0"/>
            <a:chExt cx="838200" cy="838200"/>
          </a:xfrm>
        </p:grpSpPr>
        <p:sp>
          <p:nvSpPr>
            <p:cNvPr name="Freeform 42" id="42"/>
            <p:cNvSpPr/>
            <p:nvPr/>
          </p:nvSpPr>
          <p:spPr>
            <a:xfrm flipH="false" flipV="false" rot="0">
              <a:off x="0" y="0"/>
              <a:ext cx="838200" cy="838200"/>
            </a:xfrm>
            <a:custGeom>
              <a:avLst/>
              <a:gdLst/>
              <a:ahLst/>
              <a:cxnLst/>
              <a:rect r="r" b="b" t="t" l="l"/>
              <a:pathLst>
                <a:path h="838200" w="838200">
                  <a:moveTo>
                    <a:pt x="419100" y="0"/>
                  </a:moveTo>
                  <a:cubicBezTo>
                    <a:pt x="650563" y="0"/>
                    <a:pt x="838200" y="187637"/>
                    <a:pt x="838200" y="419100"/>
                  </a:cubicBezTo>
                  <a:cubicBezTo>
                    <a:pt x="838200" y="650563"/>
                    <a:pt x="650563" y="838200"/>
                    <a:pt x="419100" y="838200"/>
                  </a:cubicBezTo>
                  <a:cubicBezTo>
                    <a:pt x="187637" y="838200"/>
                    <a:pt x="0" y="650563"/>
                    <a:pt x="0" y="419100"/>
                  </a:cubicBezTo>
                  <a:cubicBezTo>
                    <a:pt x="0" y="187637"/>
                    <a:pt x="187637" y="0"/>
                    <a:pt x="419100" y="0"/>
                  </a:cubicBezTo>
                  <a:close/>
                </a:path>
              </a:pathLst>
            </a:custGeom>
            <a:solidFill>
              <a:srgbClr val="C9785A"/>
            </a:solidFill>
          </p:spPr>
        </p:sp>
        <p:sp>
          <p:nvSpPr>
            <p:cNvPr name="TextBox 43" id="43"/>
            <p:cNvSpPr txBox="true"/>
            <p:nvPr/>
          </p:nvSpPr>
          <p:spPr>
            <a:xfrm>
              <a:off x="0" y="-38100"/>
              <a:ext cx="838200" cy="876300"/>
            </a:xfrm>
            <a:prstGeom prst="rect">
              <a:avLst/>
            </a:prstGeom>
          </p:spPr>
          <p:txBody>
            <a:bodyPr anchor="ctr" rtlCol="false" tIns="50800" lIns="50800" bIns="50800" rIns="50800"/>
            <a:lstStyle/>
            <a:p>
              <a:pPr algn="l">
                <a:lnSpc>
                  <a:spcPts val="1679"/>
                </a:lnSpc>
              </a:pPr>
            </a:p>
          </p:txBody>
        </p:sp>
      </p:grpSp>
      <p:sp>
        <p:nvSpPr>
          <p:cNvPr name="TextBox 44" id="44"/>
          <p:cNvSpPr txBox="true"/>
          <p:nvPr/>
        </p:nvSpPr>
        <p:spPr>
          <a:xfrm rot="0">
            <a:off x="857250" y="5610225"/>
            <a:ext cx="628650" cy="379730"/>
          </a:xfrm>
          <a:prstGeom prst="rect">
            <a:avLst/>
          </a:prstGeom>
        </p:spPr>
        <p:txBody>
          <a:bodyPr anchor="t" rtlCol="false" tIns="0" lIns="0" bIns="0" rIns="0">
            <a:spAutoFit/>
          </a:bodyPr>
          <a:lstStyle/>
          <a:p>
            <a:pPr algn="ctr">
              <a:lnSpc>
                <a:spcPts val="3220"/>
              </a:lnSpc>
            </a:pPr>
            <a:r>
              <a:rPr lang="en-US" sz="2300" b="true">
                <a:solidFill>
                  <a:srgbClr val="FFFFFF"/>
                </a:solidFill>
                <a:latin typeface="Open Sauce Bold"/>
                <a:ea typeface="Open Sauce Bold"/>
                <a:cs typeface="Open Sauce Bold"/>
                <a:sym typeface="Open Sauce Bold"/>
              </a:rPr>
              <a:t>01</a:t>
            </a:r>
          </a:p>
        </p:txBody>
      </p:sp>
      <p:sp>
        <p:nvSpPr>
          <p:cNvPr name="TextBox 45" id="45"/>
          <p:cNvSpPr txBox="true"/>
          <p:nvPr/>
        </p:nvSpPr>
        <p:spPr>
          <a:xfrm rot="0">
            <a:off x="-66675" y="6210300"/>
            <a:ext cx="2476500" cy="575945"/>
          </a:xfrm>
          <a:prstGeom prst="rect">
            <a:avLst/>
          </a:prstGeom>
        </p:spPr>
        <p:txBody>
          <a:bodyPr anchor="t" rtlCol="false" tIns="0" lIns="0" bIns="0" rIns="0">
            <a:spAutoFit/>
          </a:bodyPr>
          <a:lstStyle/>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FAILURE</a:t>
            </a:r>
          </a:p>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DETECTED</a:t>
            </a:r>
          </a:p>
        </p:txBody>
      </p:sp>
      <p:sp>
        <p:nvSpPr>
          <p:cNvPr name="AutoShape 46" id="46"/>
          <p:cNvSpPr/>
          <p:nvPr/>
        </p:nvSpPr>
        <p:spPr>
          <a:xfrm>
            <a:off x="1657350" y="5791200"/>
            <a:ext cx="2857500" cy="0"/>
          </a:xfrm>
          <a:prstGeom prst="line">
            <a:avLst/>
          </a:prstGeom>
          <a:ln cap="flat" w="28575">
            <a:solidFill>
              <a:srgbClr val="C9785A"/>
            </a:solidFill>
            <a:prstDash val="solid"/>
            <a:headEnd type="none" len="sm" w="sm"/>
            <a:tailEnd type="arrow" len="sm" w="med"/>
          </a:ln>
        </p:spPr>
      </p:sp>
      <p:grpSp>
        <p:nvGrpSpPr>
          <p:cNvPr name="Group 47" id="47"/>
          <p:cNvGrpSpPr/>
          <p:nvPr/>
        </p:nvGrpSpPr>
        <p:grpSpPr>
          <a:xfrm rot="0">
            <a:off x="4572000" y="5476875"/>
            <a:ext cx="628650" cy="628650"/>
            <a:chOff x="0" y="0"/>
            <a:chExt cx="838200" cy="838200"/>
          </a:xfrm>
        </p:grpSpPr>
        <p:sp>
          <p:nvSpPr>
            <p:cNvPr name="Freeform 48" id="48"/>
            <p:cNvSpPr/>
            <p:nvPr/>
          </p:nvSpPr>
          <p:spPr>
            <a:xfrm flipH="false" flipV="false" rot="0">
              <a:off x="0" y="0"/>
              <a:ext cx="838200" cy="838200"/>
            </a:xfrm>
            <a:custGeom>
              <a:avLst/>
              <a:gdLst/>
              <a:ahLst/>
              <a:cxnLst/>
              <a:rect r="r" b="b" t="t" l="l"/>
              <a:pathLst>
                <a:path h="838200" w="838200">
                  <a:moveTo>
                    <a:pt x="419100" y="0"/>
                  </a:moveTo>
                  <a:cubicBezTo>
                    <a:pt x="650563" y="0"/>
                    <a:pt x="838200" y="187637"/>
                    <a:pt x="838200" y="419100"/>
                  </a:cubicBezTo>
                  <a:cubicBezTo>
                    <a:pt x="838200" y="650563"/>
                    <a:pt x="650563" y="838200"/>
                    <a:pt x="419100" y="838200"/>
                  </a:cubicBezTo>
                  <a:cubicBezTo>
                    <a:pt x="187637" y="838200"/>
                    <a:pt x="0" y="650563"/>
                    <a:pt x="0" y="419100"/>
                  </a:cubicBezTo>
                  <a:cubicBezTo>
                    <a:pt x="0" y="187637"/>
                    <a:pt x="187637" y="0"/>
                    <a:pt x="419100" y="0"/>
                  </a:cubicBezTo>
                  <a:close/>
                </a:path>
              </a:pathLst>
            </a:custGeom>
            <a:solidFill>
              <a:srgbClr val="24252F"/>
            </a:solidFill>
          </p:spPr>
        </p:sp>
        <p:sp>
          <p:nvSpPr>
            <p:cNvPr name="TextBox 49" id="49"/>
            <p:cNvSpPr txBox="true"/>
            <p:nvPr/>
          </p:nvSpPr>
          <p:spPr>
            <a:xfrm>
              <a:off x="0" y="-38100"/>
              <a:ext cx="838200" cy="8763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4572000" y="5610225"/>
            <a:ext cx="628650" cy="379730"/>
          </a:xfrm>
          <a:prstGeom prst="rect">
            <a:avLst/>
          </a:prstGeom>
        </p:spPr>
        <p:txBody>
          <a:bodyPr anchor="t" rtlCol="false" tIns="0" lIns="0" bIns="0" rIns="0">
            <a:spAutoFit/>
          </a:bodyPr>
          <a:lstStyle/>
          <a:p>
            <a:pPr algn="ctr">
              <a:lnSpc>
                <a:spcPts val="3220"/>
              </a:lnSpc>
            </a:pPr>
            <a:r>
              <a:rPr lang="en-US" sz="2300" b="true">
                <a:solidFill>
                  <a:srgbClr val="FFFFFF"/>
                </a:solidFill>
                <a:latin typeface="Open Sauce Bold"/>
                <a:ea typeface="Open Sauce Bold"/>
                <a:cs typeface="Open Sauce Bold"/>
                <a:sym typeface="Open Sauce Bold"/>
              </a:rPr>
              <a:t>02</a:t>
            </a:r>
          </a:p>
        </p:txBody>
      </p:sp>
      <p:sp>
        <p:nvSpPr>
          <p:cNvPr name="TextBox 51" id="51"/>
          <p:cNvSpPr txBox="true"/>
          <p:nvPr/>
        </p:nvSpPr>
        <p:spPr>
          <a:xfrm rot="0">
            <a:off x="3648075" y="6210300"/>
            <a:ext cx="2476500" cy="575945"/>
          </a:xfrm>
          <a:prstGeom prst="rect">
            <a:avLst/>
          </a:prstGeom>
        </p:spPr>
        <p:txBody>
          <a:bodyPr anchor="t" rtlCol="false" tIns="0" lIns="0" bIns="0" rIns="0">
            <a:spAutoFit/>
          </a:bodyPr>
          <a:lstStyle/>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REQUIRED BLOCK</a:t>
            </a:r>
          </a:p>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IDENTIFIED</a:t>
            </a:r>
          </a:p>
        </p:txBody>
      </p:sp>
      <p:sp>
        <p:nvSpPr>
          <p:cNvPr name="AutoShape 52" id="52"/>
          <p:cNvSpPr/>
          <p:nvPr/>
        </p:nvSpPr>
        <p:spPr>
          <a:xfrm>
            <a:off x="5372100" y="5791200"/>
            <a:ext cx="2857500" cy="0"/>
          </a:xfrm>
          <a:prstGeom prst="line">
            <a:avLst/>
          </a:prstGeom>
          <a:ln cap="flat" w="28575">
            <a:solidFill>
              <a:srgbClr val="C9785A"/>
            </a:solidFill>
            <a:prstDash val="solid"/>
            <a:headEnd type="none" len="sm" w="sm"/>
            <a:tailEnd type="arrow" len="sm" w="med"/>
          </a:ln>
        </p:spPr>
      </p:sp>
      <p:grpSp>
        <p:nvGrpSpPr>
          <p:cNvPr name="Group 53" id="53"/>
          <p:cNvGrpSpPr/>
          <p:nvPr/>
        </p:nvGrpSpPr>
        <p:grpSpPr>
          <a:xfrm rot="0">
            <a:off x="8286750" y="5476875"/>
            <a:ext cx="628650" cy="628650"/>
            <a:chOff x="0" y="0"/>
            <a:chExt cx="838200" cy="838200"/>
          </a:xfrm>
        </p:grpSpPr>
        <p:sp>
          <p:nvSpPr>
            <p:cNvPr name="Freeform 54" id="54"/>
            <p:cNvSpPr/>
            <p:nvPr/>
          </p:nvSpPr>
          <p:spPr>
            <a:xfrm flipH="false" flipV="false" rot="0">
              <a:off x="0" y="0"/>
              <a:ext cx="838200" cy="838200"/>
            </a:xfrm>
            <a:custGeom>
              <a:avLst/>
              <a:gdLst/>
              <a:ahLst/>
              <a:cxnLst/>
              <a:rect r="r" b="b" t="t" l="l"/>
              <a:pathLst>
                <a:path h="838200" w="838200">
                  <a:moveTo>
                    <a:pt x="419100" y="0"/>
                  </a:moveTo>
                  <a:cubicBezTo>
                    <a:pt x="650563" y="0"/>
                    <a:pt x="838200" y="187637"/>
                    <a:pt x="838200" y="419100"/>
                  </a:cubicBezTo>
                  <a:cubicBezTo>
                    <a:pt x="838200" y="650563"/>
                    <a:pt x="650563" y="838200"/>
                    <a:pt x="419100" y="838200"/>
                  </a:cubicBezTo>
                  <a:cubicBezTo>
                    <a:pt x="187637" y="838200"/>
                    <a:pt x="0" y="650563"/>
                    <a:pt x="0" y="419100"/>
                  </a:cubicBezTo>
                  <a:cubicBezTo>
                    <a:pt x="0" y="187637"/>
                    <a:pt x="187637" y="0"/>
                    <a:pt x="419100" y="0"/>
                  </a:cubicBezTo>
                  <a:close/>
                </a:path>
              </a:pathLst>
            </a:custGeom>
            <a:solidFill>
              <a:srgbClr val="C9785A"/>
            </a:solidFill>
          </p:spPr>
        </p:sp>
        <p:sp>
          <p:nvSpPr>
            <p:cNvPr name="TextBox 55" id="55"/>
            <p:cNvSpPr txBox="true"/>
            <p:nvPr/>
          </p:nvSpPr>
          <p:spPr>
            <a:xfrm>
              <a:off x="0" y="-38100"/>
              <a:ext cx="838200" cy="876300"/>
            </a:xfrm>
            <a:prstGeom prst="rect">
              <a:avLst/>
            </a:prstGeom>
          </p:spPr>
          <p:txBody>
            <a:bodyPr anchor="ctr" rtlCol="false" tIns="50800" lIns="50800" bIns="50800" rIns="50800"/>
            <a:lstStyle/>
            <a:p>
              <a:pPr algn="l">
                <a:lnSpc>
                  <a:spcPts val="1679"/>
                </a:lnSpc>
              </a:pPr>
            </a:p>
          </p:txBody>
        </p:sp>
      </p:grpSp>
      <p:sp>
        <p:nvSpPr>
          <p:cNvPr name="TextBox 56" id="56"/>
          <p:cNvSpPr txBox="true"/>
          <p:nvPr/>
        </p:nvSpPr>
        <p:spPr>
          <a:xfrm rot="0">
            <a:off x="8286750" y="5610225"/>
            <a:ext cx="628650" cy="379730"/>
          </a:xfrm>
          <a:prstGeom prst="rect">
            <a:avLst/>
          </a:prstGeom>
        </p:spPr>
        <p:txBody>
          <a:bodyPr anchor="t" rtlCol="false" tIns="0" lIns="0" bIns="0" rIns="0">
            <a:spAutoFit/>
          </a:bodyPr>
          <a:lstStyle/>
          <a:p>
            <a:pPr algn="ctr">
              <a:lnSpc>
                <a:spcPts val="3220"/>
              </a:lnSpc>
            </a:pPr>
            <a:r>
              <a:rPr lang="en-US" sz="2300" b="true">
                <a:solidFill>
                  <a:srgbClr val="FFFFFF"/>
                </a:solidFill>
                <a:latin typeface="Open Sauce Bold"/>
                <a:ea typeface="Open Sauce Bold"/>
                <a:cs typeface="Open Sauce Bold"/>
                <a:sym typeface="Open Sauce Bold"/>
              </a:rPr>
              <a:t>03</a:t>
            </a:r>
          </a:p>
        </p:txBody>
      </p:sp>
      <p:sp>
        <p:nvSpPr>
          <p:cNvPr name="TextBox 57" id="57"/>
          <p:cNvSpPr txBox="true"/>
          <p:nvPr/>
        </p:nvSpPr>
        <p:spPr>
          <a:xfrm rot="0">
            <a:off x="7362825" y="6210300"/>
            <a:ext cx="2476500" cy="575945"/>
          </a:xfrm>
          <a:prstGeom prst="rect">
            <a:avLst/>
          </a:prstGeom>
        </p:spPr>
        <p:txBody>
          <a:bodyPr anchor="t" rtlCol="false" tIns="0" lIns="0" bIns="0" rIns="0">
            <a:spAutoFit/>
          </a:bodyPr>
          <a:lstStyle/>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REPLICA USED FROM</a:t>
            </a:r>
          </a:p>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ANOTHER DATANODE</a:t>
            </a:r>
          </a:p>
        </p:txBody>
      </p:sp>
      <p:sp>
        <p:nvSpPr>
          <p:cNvPr name="AutoShape 58" id="58"/>
          <p:cNvSpPr/>
          <p:nvPr/>
        </p:nvSpPr>
        <p:spPr>
          <a:xfrm>
            <a:off x="9086850" y="5791200"/>
            <a:ext cx="2857500" cy="0"/>
          </a:xfrm>
          <a:prstGeom prst="line">
            <a:avLst/>
          </a:prstGeom>
          <a:ln cap="flat" w="28575">
            <a:solidFill>
              <a:srgbClr val="C9785A"/>
            </a:solidFill>
            <a:prstDash val="solid"/>
            <a:headEnd type="none" len="sm" w="sm"/>
            <a:tailEnd type="arrow" len="sm" w="med"/>
          </a:ln>
        </p:spPr>
      </p:sp>
      <p:grpSp>
        <p:nvGrpSpPr>
          <p:cNvPr name="Group 59" id="59"/>
          <p:cNvGrpSpPr/>
          <p:nvPr/>
        </p:nvGrpSpPr>
        <p:grpSpPr>
          <a:xfrm rot="0">
            <a:off x="12001500" y="5476875"/>
            <a:ext cx="628650" cy="628650"/>
            <a:chOff x="0" y="0"/>
            <a:chExt cx="838200" cy="838200"/>
          </a:xfrm>
        </p:grpSpPr>
        <p:sp>
          <p:nvSpPr>
            <p:cNvPr name="Freeform 60" id="60"/>
            <p:cNvSpPr/>
            <p:nvPr/>
          </p:nvSpPr>
          <p:spPr>
            <a:xfrm flipH="false" flipV="false" rot="0">
              <a:off x="0" y="0"/>
              <a:ext cx="838200" cy="838200"/>
            </a:xfrm>
            <a:custGeom>
              <a:avLst/>
              <a:gdLst/>
              <a:ahLst/>
              <a:cxnLst/>
              <a:rect r="r" b="b" t="t" l="l"/>
              <a:pathLst>
                <a:path h="838200" w="838200">
                  <a:moveTo>
                    <a:pt x="419100" y="0"/>
                  </a:moveTo>
                  <a:cubicBezTo>
                    <a:pt x="650563" y="0"/>
                    <a:pt x="838200" y="187637"/>
                    <a:pt x="838200" y="419100"/>
                  </a:cubicBezTo>
                  <a:cubicBezTo>
                    <a:pt x="838200" y="650563"/>
                    <a:pt x="650563" y="838200"/>
                    <a:pt x="419100" y="838200"/>
                  </a:cubicBezTo>
                  <a:cubicBezTo>
                    <a:pt x="187637" y="838200"/>
                    <a:pt x="0" y="650563"/>
                    <a:pt x="0" y="419100"/>
                  </a:cubicBezTo>
                  <a:cubicBezTo>
                    <a:pt x="0" y="187637"/>
                    <a:pt x="187637" y="0"/>
                    <a:pt x="419100" y="0"/>
                  </a:cubicBezTo>
                  <a:close/>
                </a:path>
              </a:pathLst>
            </a:custGeom>
            <a:solidFill>
              <a:srgbClr val="24252F"/>
            </a:solidFill>
          </p:spPr>
        </p:sp>
        <p:sp>
          <p:nvSpPr>
            <p:cNvPr name="TextBox 61" id="61"/>
            <p:cNvSpPr txBox="true"/>
            <p:nvPr/>
          </p:nvSpPr>
          <p:spPr>
            <a:xfrm>
              <a:off x="0" y="-38100"/>
              <a:ext cx="838200" cy="876300"/>
            </a:xfrm>
            <a:prstGeom prst="rect">
              <a:avLst/>
            </a:prstGeom>
          </p:spPr>
          <p:txBody>
            <a:bodyPr anchor="ctr" rtlCol="false" tIns="50800" lIns="50800" bIns="50800" rIns="50800"/>
            <a:lstStyle/>
            <a:p>
              <a:pPr algn="l">
                <a:lnSpc>
                  <a:spcPts val="1679"/>
                </a:lnSpc>
              </a:pPr>
            </a:p>
          </p:txBody>
        </p:sp>
      </p:grpSp>
      <p:sp>
        <p:nvSpPr>
          <p:cNvPr name="TextBox 62" id="62"/>
          <p:cNvSpPr txBox="true"/>
          <p:nvPr/>
        </p:nvSpPr>
        <p:spPr>
          <a:xfrm rot="0">
            <a:off x="12001500" y="5610225"/>
            <a:ext cx="628650" cy="379730"/>
          </a:xfrm>
          <a:prstGeom prst="rect">
            <a:avLst/>
          </a:prstGeom>
        </p:spPr>
        <p:txBody>
          <a:bodyPr anchor="t" rtlCol="false" tIns="0" lIns="0" bIns="0" rIns="0">
            <a:spAutoFit/>
          </a:bodyPr>
          <a:lstStyle/>
          <a:p>
            <a:pPr algn="ctr">
              <a:lnSpc>
                <a:spcPts val="3220"/>
              </a:lnSpc>
            </a:pPr>
            <a:r>
              <a:rPr lang="en-US" sz="2300" b="true">
                <a:solidFill>
                  <a:srgbClr val="FFFFFF"/>
                </a:solidFill>
                <a:latin typeface="Open Sauce Bold"/>
                <a:ea typeface="Open Sauce Bold"/>
                <a:cs typeface="Open Sauce Bold"/>
                <a:sym typeface="Open Sauce Bold"/>
              </a:rPr>
              <a:t>04</a:t>
            </a:r>
          </a:p>
        </p:txBody>
      </p:sp>
      <p:sp>
        <p:nvSpPr>
          <p:cNvPr name="TextBox 63" id="63"/>
          <p:cNvSpPr txBox="true"/>
          <p:nvPr/>
        </p:nvSpPr>
        <p:spPr>
          <a:xfrm rot="0">
            <a:off x="11077575" y="6210300"/>
            <a:ext cx="2476500" cy="575945"/>
          </a:xfrm>
          <a:prstGeom prst="rect">
            <a:avLst/>
          </a:prstGeom>
        </p:spPr>
        <p:txBody>
          <a:bodyPr anchor="t" rtlCol="false" tIns="0" lIns="0" bIns="0" rIns="0">
            <a:spAutoFit/>
          </a:bodyPr>
          <a:lstStyle/>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FILE REMAINS</a:t>
            </a:r>
          </a:p>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AVAILABLE</a:t>
            </a:r>
          </a:p>
        </p:txBody>
      </p:sp>
      <p:sp>
        <p:nvSpPr>
          <p:cNvPr name="AutoShape 64" id="64"/>
          <p:cNvSpPr/>
          <p:nvPr/>
        </p:nvSpPr>
        <p:spPr>
          <a:xfrm>
            <a:off x="12801600" y="5791200"/>
            <a:ext cx="2857500" cy="0"/>
          </a:xfrm>
          <a:prstGeom prst="line">
            <a:avLst/>
          </a:prstGeom>
          <a:ln cap="flat" w="28575">
            <a:solidFill>
              <a:srgbClr val="C9785A"/>
            </a:solidFill>
            <a:prstDash val="solid"/>
            <a:headEnd type="none" len="sm" w="sm"/>
            <a:tailEnd type="arrow" len="sm" w="med"/>
          </a:ln>
        </p:spPr>
      </p:sp>
      <p:grpSp>
        <p:nvGrpSpPr>
          <p:cNvPr name="Group 65" id="65"/>
          <p:cNvGrpSpPr/>
          <p:nvPr/>
        </p:nvGrpSpPr>
        <p:grpSpPr>
          <a:xfrm rot="0">
            <a:off x="15716250" y="5476875"/>
            <a:ext cx="628650" cy="628650"/>
            <a:chOff x="0" y="0"/>
            <a:chExt cx="838200" cy="838200"/>
          </a:xfrm>
        </p:grpSpPr>
        <p:sp>
          <p:nvSpPr>
            <p:cNvPr name="Freeform 66" id="66"/>
            <p:cNvSpPr/>
            <p:nvPr/>
          </p:nvSpPr>
          <p:spPr>
            <a:xfrm flipH="false" flipV="false" rot="0">
              <a:off x="0" y="0"/>
              <a:ext cx="838200" cy="838200"/>
            </a:xfrm>
            <a:custGeom>
              <a:avLst/>
              <a:gdLst/>
              <a:ahLst/>
              <a:cxnLst/>
              <a:rect r="r" b="b" t="t" l="l"/>
              <a:pathLst>
                <a:path h="838200" w="838200">
                  <a:moveTo>
                    <a:pt x="419100" y="0"/>
                  </a:moveTo>
                  <a:cubicBezTo>
                    <a:pt x="650563" y="0"/>
                    <a:pt x="838200" y="187637"/>
                    <a:pt x="838200" y="419100"/>
                  </a:cubicBezTo>
                  <a:cubicBezTo>
                    <a:pt x="838200" y="650563"/>
                    <a:pt x="650563" y="838200"/>
                    <a:pt x="419100" y="838200"/>
                  </a:cubicBezTo>
                  <a:cubicBezTo>
                    <a:pt x="187637" y="838200"/>
                    <a:pt x="0" y="650563"/>
                    <a:pt x="0" y="419100"/>
                  </a:cubicBezTo>
                  <a:cubicBezTo>
                    <a:pt x="0" y="187637"/>
                    <a:pt x="187637" y="0"/>
                    <a:pt x="419100" y="0"/>
                  </a:cubicBezTo>
                  <a:close/>
                </a:path>
              </a:pathLst>
            </a:custGeom>
            <a:solidFill>
              <a:srgbClr val="C9785A"/>
            </a:solidFill>
          </p:spPr>
        </p:sp>
        <p:sp>
          <p:nvSpPr>
            <p:cNvPr name="TextBox 67" id="67"/>
            <p:cNvSpPr txBox="true"/>
            <p:nvPr/>
          </p:nvSpPr>
          <p:spPr>
            <a:xfrm>
              <a:off x="0" y="-38100"/>
              <a:ext cx="838200" cy="876300"/>
            </a:xfrm>
            <a:prstGeom prst="rect">
              <a:avLst/>
            </a:prstGeom>
          </p:spPr>
          <p:txBody>
            <a:bodyPr anchor="ctr" rtlCol="false" tIns="50800" lIns="50800" bIns="50800" rIns="50800"/>
            <a:lstStyle/>
            <a:p>
              <a:pPr algn="l">
                <a:lnSpc>
                  <a:spcPts val="1679"/>
                </a:lnSpc>
              </a:pPr>
            </a:p>
          </p:txBody>
        </p:sp>
      </p:grpSp>
      <p:sp>
        <p:nvSpPr>
          <p:cNvPr name="TextBox 68" id="68"/>
          <p:cNvSpPr txBox="true"/>
          <p:nvPr/>
        </p:nvSpPr>
        <p:spPr>
          <a:xfrm rot="0">
            <a:off x="15716250" y="5610225"/>
            <a:ext cx="628650" cy="379730"/>
          </a:xfrm>
          <a:prstGeom prst="rect">
            <a:avLst/>
          </a:prstGeom>
        </p:spPr>
        <p:txBody>
          <a:bodyPr anchor="t" rtlCol="false" tIns="0" lIns="0" bIns="0" rIns="0">
            <a:spAutoFit/>
          </a:bodyPr>
          <a:lstStyle/>
          <a:p>
            <a:pPr algn="ctr">
              <a:lnSpc>
                <a:spcPts val="3220"/>
              </a:lnSpc>
            </a:pPr>
            <a:r>
              <a:rPr lang="en-US" sz="2300" b="true">
                <a:solidFill>
                  <a:srgbClr val="FFFFFF"/>
                </a:solidFill>
                <a:latin typeface="Open Sauce Bold"/>
                <a:ea typeface="Open Sauce Bold"/>
                <a:cs typeface="Open Sauce Bold"/>
                <a:sym typeface="Open Sauce Bold"/>
              </a:rPr>
              <a:t>05</a:t>
            </a:r>
          </a:p>
        </p:txBody>
      </p:sp>
      <p:sp>
        <p:nvSpPr>
          <p:cNvPr name="TextBox 69" id="69"/>
          <p:cNvSpPr txBox="true"/>
          <p:nvPr/>
        </p:nvSpPr>
        <p:spPr>
          <a:xfrm rot="0">
            <a:off x="14792325" y="6210300"/>
            <a:ext cx="2476500" cy="575945"/>
          </a:xfrm>
          <a:prstGeom prst="rect">
            <a:avLst/>
          </a:prstGeom>
        </p:spPr>
        <p:txBody>
          <a:bodyPr anchor="t" rtlCol="false" tIns="0" lIns="0" bIns="0" rIns="0">
            <a:spAutoFit/>
          </a:bodyPr>
          <a:lstStyle/>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MISSING REPLICA</a:t>
            </a:r>
          </a:p>
          <a:p>
            <a:pPr algn="ctr" marL="0" indent="0" lvl="0">
              <a:lnSpc>
                <a:spcPts val="2380"/>
              </a:lnSpc>
              <a:spcBef>
                <a:spcPct val="0"/>
              </a:spcBef>
            </a:pPr>
            <a:r>
              <a:rPr lang="en-US" b="true" sz="1700" strike="noStrike" u="none">
                <a:solidFill>
                  <a:srgbClr val="24252F"/>
                </a:solidFill>
                <a:latin typeface="Open Sauce Bold"/>
                <a:ea typeface="Open Sauce Bold"/>
                <a:cs typeface="Open Sauce Bold"/>
                <a:sym typeface="Open Sauce Bold"/>
              </a:rPr>
              <a:t>RECREATED</a:t>
            </a:r>
          </a:p>
        </p:txBody>
      </p:sp>
      <p:sp>
        <p:nvSpPr>
          <p:cNvPr name="TextBox 70" id="70"/>
          <p:cNvSpPr txBox="true"/>
          <p:nvPr/>
        </p:nvSpPr>
        <p:spPr>
          <a:xfrm rot="0">
            <a:off x="857250" y="7391400"/>
            <a:ext cx="3810000" cy="306705"/>
          </a:xfrm>
          <a:prstGeom prst="rect">
            <a:avLst/>
          </a:prstGeom>
        </p:spPr>
        <p:txBody>
          <a:bodyPr anchor="t" rtlCol="false" tIns="0" lIns="0" bIns="0" rIns="0">
            <a:spAutoFit/>
          </a:bodyPr>
          <a:lstStyle/>
          <a:p>
            <a:pPr algn="l">
              <a:lnSpc>
                <a:spcPts val="2520"/>
              </a:lnSpc>
            </a:pPr>
            <a:r>
              <a:rPr lang="en-US" sz="1800" b="true">
                <a:solidFill>
                  <a:srgbClr val="C9785A"/>
                </a:solidFill>
                <a:latin typeface="Open Sauce Bold"/>
                <a:ea typeface="Open Sauce Bold"/>
                <a:cs typeface="Open Sauce Bold"/>
                <a:sym typeface="Open Sauce Bold"/>
              </a:rPr>
              <a:t>ASK THE AUDIENCE</a:t>
            </a:r>
          </a:p>
        </p:txBody>
      </p:sp>
      <p:grpSp>
        <p:nvGrpSpPr>
          <p:cNvPr name="Group 71" id="71"/>
          <p:cNvGrpSpPr/>
          <p:nvPr/>
        </p:nvGrpSpPr>
        <p:grpSpPr>
          <a:xfrm rot="0">
            <a:off x="857250" y="7762875"/>
            <a:ext cx="16573500" cy="666750"/>
            <a:chOff x="0" y="0"/>
            <a:chExt cx="22098000" cy="889000"/>
          </a:xfrm>
        </p:grpSpPr>
        <p:sp>
          <p:nvSpPr>
            <p:cNvPr name="Freeform 72" id="72"/>
            <p:cNvSpPr/>
            <p:nvPr/>
          </p:nvSpPr>
          <p:spPr>
            <a:xfrm flipH="false" flipV="false" rot="0">
              <a:off x="0" y="0"/>
              <a:ext cx="22098000" cy="889000"/>
            </a:xfrm>
            <a:custGeom>
              <a:avLst/>
              <a:gdLst/>
              <a:ahLst/>
              <a:cxnLst/>
              <a:rect r="r" b="b" t="t" l="l"/>
              <a:pathLst>
                <a:path h="889000" w="22098000">
                  <a:moveTo>
                    <a:pt x="203200" y="0"/>
                  </a:moveTo>
                  <a:lnTo>
                    <a:pt x="21894800" y="0"/>
                  </a:lnTo>
                  <a:cubicBezTo>
                    <a:pt x="22007024" y="0"/>
                    <a:pt x="22098000" y="90976"/>
                    <a:pt x="22098000" y="203200"/>
                  </a:cubicBezTo>
                  <a:lnTo>
                    <a:pt x="22098000" y="685800"/>
                  </a:lnTo>
                  <a:cubicBezTo>
                    <a:pt x="22098000" y="798024"/>
                    <a:pt x="22007024" y="889000"/>
                    <a:pt x="21894800" y="889000"/>
                  </a:cubicBezTo>
                  <a:lnTo>
                    <a:pt x="203200" y="889000"/>
                  </a:lnTo>
                  <a:cubicBezTo>
                    <a:pt x="90976" y="889000"/>
                    <a:pt x="0" y="798024"/>
                    <a:pt x="0" y="685800"/>
                  </a:cubicBezTo>
                  <a:lnTo>
                    <a:pt x="0" y="203200"/>
                  </a:lnTo>
                  <a:cubicBezTo>
                    <a:pt x="0" y="90976"/>
                    <a:pt x="90976" y="0"/>
                    <a:pt x="203200" y="0"/>
                  </a:cubicBezTo>
                  <a:close/>
                </a:path>
              </a:pathLst>
            </a:custGeom>
            <a:solidFill>
              <a:srgbClr val="24252F"/>
            </a:solidFill>
          </p:spPr>
        </p:sp>
        <p:sp>
          <p:nvSpPr>
            <p:cNvPr name="TextBox 73" id="73"/>
            <p:cNvSpPr txBox="true"/>
            <p:nvPr/>
          </p:nvSpPr>
          <p:spPr>
            <a:xfrm>
              <a:off x="0" y="-38100"/>
              <a:ext cx="22098000" cy="927100"/>
            </a:xfrm>
            <a:prstGeom prst="rect">
              <a:avLst/>
            </a:prstGeom>
          </p:spPr>
          <p:txBody>
            <a:bodyPr anchor="ctr" rtlCol="false" tIns="50800" lIns="50800" bIns="50800" rIns="50800"/>
            <a:lstStyle/>
            <a:p>
              <a:pPr algn="l">
                <a:lnSpc>
                  <a:spcPts val="1679"/>
                </a:lnSpc>
              </a:pPr>
            </a:p>
          </p:txBody>
        </p:sp>
      </p:grpSp>
      <p:sp>
        <p:nvSpPr>
          <p:cNvPr name="TextBox 74" id="74"/>
          <p:cNvSpPr txBox="true"/>
          <p:nvPr/>
        </p:nvSpPr>
        <p:spPr>
          <a:xfrm rot="0">
            <a:off x="1190625" y="7915275"/>
            <a:ext cx="15906750" cy="455295"/>
          </a:xfrm>
          <a:prstGeom prst="rect">
            <a:avLst/>
          </a:prstGeom>
        </p:spPr>
        <p:txBody>
          <a:bodyPr anchor="t" rtlCol="false" tIns="0" lIns="0" bIns="0" rIns="0">
            <a:spAutoFit/>
          </a:bodyPr>
          <a:lstStyle/>
          <a:p>
            <a:pPr algn="ctr">
              <a:lnSpc>
                <a:spcPts val="3779"/>
              </a:lnSpc>
            </a:pPr>
            <a:r>
              <a:rPr lang="en-US" sz="2700" b="true">
                <a:solidFill>
                  <a:srgbClr val="FFFFFF"/>
                </a:solidFill>
                <a:latin typeface="Open Sauce Bold"/>
                <a:ea typeface="Open Sauce Bold"/>
                <a:cs typeface="Open Sauce Bold"/>
                <a:sym typeface="Open Sauce Bold"/>
              </a:rPr>
              <a:t>DataNode 2 just failed. Did we lose the file?</a:t>
            </a:r>
          </a:p>
        </p:txBody>
      </p:sp>
      <p:grpSp>
        <p:nvGrpSpPr>
          <p:cNvPr name="Group 75" id="75"/>
          <p:cNvGrpSpPr/>
          <p:nvPr/>
        </p:nvGrpSpPr>
        <p:grpSpPr>
          <a:xfrm rot="0">
            <a:off x="857250" y="8667750"/>
            <a:ext cx="16573500" cy="609600"/>
            <a:chOff x="0" y="0"/>
            <a:chExt cx="22098000" cy="812800"/>
          </a:xfrm>
        </p:grpSpPr>
        <p:sp>
          <p:nvSpPr>
            <p:cNvPr name="Freeform 76" id="76"/>
            <p:cNvSpPr/>
            <p:nvPr/>
          </p:nvSpPr>
          <p:spPr>
            <a:xfrm flipH="false" flipV="false" rot="0">
              <a:off x="0" y="0"/>
              <a:ext cx="22098000" cy="812800"/>
            </a:xfrm>
            <a:custGeom>
              <a:avLst/>
              <a:gdLst/>
              <a:ahLst/>
              <a:cxnLst/>
              <a:rect r="r" b="b" t="t" l="l"/>
              <a:pathLst>
                <a:path h="812800" w="22098000">
                  <a:moveTo>
                    <a:pt x="177800" y="0"/>
                  </a:moveTo>
                  <a:lnTo>
                    <a:pt x="21920200" y="0"/>
                  </a:lnTo>
                  <a:cubicBezTo>
                    <a:pt x="22018396" y="0"/>
                    <a:pt x="22098000" y="79604"/>
                    <a:pt x="22098000" y="177800"/>
                  </a:cubicBezTo>
                  <a:lnTo>
                    <a:pt x="22098000" y="635000"/>
                  </a:lnTo>
                  <a:cubicBezTo>
                    <a:pt x="22098000" y="733196"/>
                    <a:pt x="22018396" y="812800"/>
                    <a:pt x="21920200" y="812800"/>
                  </a:cubicBezTo>
                  <a:lnTo>
                    <a:pt x="177800" y="812800"/>
                  </a:lnTo>
                  <a:cubicBezTo>
                    <a:pt x="79604" y="812800"/>
                    <a:pt x="0" y="733196"/>
                    <a:pt x="0" y="635000"/>
                  </a:cubicBezTo>
                  <a:lnTo>
                    <a:pt x="0" y="177800"/>
                  </a:lnTo>
                  <a:cubicBezTo>
                    <a:pt x="0" y="79604"/>
                    <a:pt x="79604" y="0"/>
                    <a:pt x="177800" y="0"/>
                  </a:cubicBezTo>
                  <a:close/>
                </a:path>
              </a:pathLst>
            </a:custGeom>
            <a:solidFill>
              <a:srgbClr val="F1D8CC"/>
            </a:solidFill>
            <a:ln w="19050" cap="sq">
              <a:solidFill>
                <a:srgbClr val="D8B58F"/>
              </a:solidFill>
              <a:prstDash val="solid"/>
              <a:miter/>
            </a:ln>
          </p:spPr>
        </p:sp>
        <p:sp>
          <p:nvSpPr>
            <p:cNvPr name="TextBox 77" id="77"/>
            <p:cNvSpPr txBox="true"/>
            <p:nvPr/>
          </p:nvSpPr>
          <p:spPr>
            <a:xfrm>
              <a:off x="0" y="-38100"/>
              <a:ext cx="22098000" cy="850900"/>
            </a:xfrm>
            <a:prstGeom prst="rect">
              <a:avLst/>
            </a:prstGeom>
          </p:spPr>
          <p:txBody>
            <a:bodyPr anchor="ctr" rtlCol="false" tIns="50800" lIns="50800" bIns="50800" rIns="50800"/>
            <a:lstStyle/>
            <a:p>
              <a:pPr algn="l">
                <a:lnSpc>
                  <a:spcPts val="1679"/>
                </a:lnSpc>
              </a:pPr>
            </a:p>
          </p:txBody>
        </p:sp>
      </p:grpSp>
      <p:sp>
        <p:nvSpPr>
          <p:cNvPr name="TextBox 78" id="78"/>
          <p:cNvSpPr txBox="true"/>
          <p:nvPr/>
        </p:nvSpPr>
        <p:spPr>
          <a:xfrm rot="0">
            <a:off x="1190625" y="8801100"/>
            <a:ext cx="15906750" cy="372745"/>
          </a:xfrm>
          <a:prstGeom prst="rect">
            <a:avLst/>
          </a:prstGeom>
        </p:spPr>
        <p:txBody>
          <a:bodyPr anchor="t" rtlCol="false" tIns="0" lIns="0" bIns="0" rIns="0">
            <a:spAutoFit/>
          </a:bodyPr>
          <a:lstStyle/>
          <a:p>
            <a:pPr algn="ctr">
              <a:lnSpc>
                <a:spcPts val="3079"/>
              </a:lnSpc>
            </a:pPr>
            <a:r>
              <a:rPr lang="en-US" sz="2199" b="true">
                <a:solidFill>
                  <a:srgbClr val="24252F"/>
                </a:solidFill>
                <a:latin typeface="Open Sauce Bold"/>
                <a:ea typeface="Open Sauce Bold"/>
                <a:cs typeface="Open Sauce Bold"/>
                <a:sym typeface="Open Sauce Bold"/>
              </a:rPr>
              <a:t>No. The required block can be read from another replica.</a:t>
            </a:r>
          </a:p>
        </p:txBody>
      </p:sp>
      <p:sp>
        <p:nvSpPr>
          <p:cNvPr name="TextBox 79" id="79"/>
          <p:cNvSpPr txBox="true"/>
          <p:nvPr/>
        </p:nvSpPr>
        <p:spPr>
          <a:xfrm rot="0">
            <a:off x="857250" y="9391650"/>
            <a:ext cx="16573500" cy="372745"/>
          </a:xfrm>
          <a:prstGeom prst="rect">
            <a:avLst/>
          </a:prstGeom>
        </p:spPr>
        <p:txBody>
          <a:bodyPr anchor="t" rtlCol="false" tIns="0" lIns="0" bIns="0" rIns="0">
            <a:spAutoFit/>
          </a:bodyPr>
          <a:lstStyle/>
          <a:p>
            <a:pPr algn="ctr">
              <a:lnSpc>
                <a:spcPts val="3079"/>
              </a:lnSpc>
            </a:pPr>
            <a:r>
              <a:rPr lang="en-US" sz="2199" b="true">
                <a:solidFill>
                  <a:srgbClr val="C9785A"/>
                </a:solidFill>
                <a:latin typeface="Open Sauce Bold"/>
                <a:ea typeface="Open Sauce Bold"/>
                <a:cs typeface="Open Sauce Bold"/>
                <a:sym typeface="Open Sauce Bold"/>
              </a:rPr>
              <a:t>Replication turns an individual machine failure into a recoverable event.</a:t>
            </a:r>
          </a:p>
        </p:txBody>
      </p:sp>
      <p:sp>
        <p:nvSpPr>
          <p:cNvPr name="AutoShape 80" id="80"/>
          <p:cNvSpPr/>
          <p:nvPr/>
        </p:nvSpPr>
        <p:spPr>
          <a:xfrm>
            <a:off x="857250" y="9810750"/>
            <a:ext cx="16573500" cy="0"/>
          </a:xfrm>
          <a:prstGeom prst="line">
            <a:avLst/>
          </a:prstGeom>
          <a:ln cap="flat" w="19050">
            <a:solidFill>
              <a:srgbClr val="D8B58F"/>
            </a:solidFill>
            <a:prstDash val="solid"/>
            <a:headEnd type="none" len="sm" w="sm"/>
            <a:tailEnd type="none" len="sm" w="sm"/>
          </a:ln>
        </p:spPr>
      </p:sp>
      <p:sp>
        <p:nvSpPr>
          <p:cNvPr name="TextBox 81" id="81"/>
          <p:cNvSpPr txBox="true"/>
          <p:nvPr/>
        </p:nvSpPr>
        <p:spPr>
          <a:xfrm rot="0">
            <a:off x="857250" y="9906000"/>
            <a:ext cx="2381250" cy="257175"/>
          </a:xfrm>
          <a:prstGeom prst="rect">
            <a:avLst/>
          </a:prstGeom>
        </p:spPr>
        <p:txBody>
          <a:bodyPr anchor="t" rtlCol="false" tIns="0" lIns="0" bIns="0" rIns="0">
            <a:spAutoFit/>
          </a:bodyPr>
          <a:lstStyle/>
          <a:p>
            <a:pPr algn="l">
              <a:lnSpc>
                <a:spcPts val="2100"/>
              </a:lnSpc>
            </a:pPr>
            <a:r>
              <a:rPr lang="en-US" sz="1500" b="true">
                <a:solidFill>
                  <a:srgbClr val="6E6863"/>
                </a:solidFill>
                <a:latin typeface="Open Sauce Medium"/>
                <a:ea typeface="Open Sauce Medium"/>
                <a:cs typeface="Open Sauce Medium"/>
                <a:sym typeface="Open Sauce Medium"/>
              </a:rPr>
              <a:t>ISE Activity 2</a:t>
            </a:r>
          </a:p>
        </p:txBody>
      </p:sp>
      <p:sp>
        <p:nvSpPr>
          <p:cNvPr name="TextBox 82" id="82"/>
          <p:cNvSpPr txBox="true"/>
          <p:nvPr/>
        </p:nvSpPr>
        <p:spPr>
          <a:xfrm rot="0">
            <a:off x="17049750" y="9906000"/>
            <a:ext cx="381000" cy="257175"/>
          </a:xfrm>
          <a:prstGeom prst="rect">
            <a:avLst/>
          </a:prstGeom>
        </p:spPr>
        <p:txBody>
          <a:bodyPr anchor="t" rtlCol="false" tIns="0" lIns="0" bIns="0" rIns="0">
            <a:spAutoFit/>
          </a:bodyPr>
          <a:lstStyle/>
          <a:p>
            <a:pPr algn="r">
              <a:lnSpc>
                <a:spcPts val="2100"/>
              </a:lnSpc>
            </a:pPr>
            <a:r>
              <a:rPr lang="en-US" sz="1500" b="true">
                <a:solidFill>
                  <a:srgbClr val="6E6863"/>
                </a:solidFill>
                <a:latin typeface="Open Sauce Medium"/>
                <a:ea typeface="Open Sauce Medium"/>
                <a:cs typeface="Open Sauce Medium"/>
                <a:sym typeface="Open Sauce Medium"/>
              </a:rPr>
              <a:t>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3F0"/>
        </a:solidFill>
      </p:bgPr>
    </p:bg>
    <p:spTree>
      <p:nvGrpSpPr>
        <p:cNvPr id="1" name=""/>
        <p:cNvGrpSpPr/>
        <p:nvPr/>
      </p:nvGrpSpPr>
      <p:grpSpPr>
        <a:xfrm>
          <a:off x="0" y="0"/>
          <a:ext cx="0" cy="0"/>
          <a:chOff x="0" y="0"/>
          <a:chExt cx="0" cy="0"/>
        </a:xfrm>
      </p:grpSpPr>
      <p:grpSp>
        <p:nvGrpSpPr>
          <p:cNvPr name="Group 2" id="2"/>
          <p:cNvGrpSpPr/>
          <p:nvPr/>
        </p:nvGrpSpPr>
        <p:grpSpPr>
          <a:xfrm rot="0">
            <a:off x="866775" y="1285875"/>
            <a:ext cx="3495675" cy="619125"/>
            <a:chOff x="0" y="0"/>
            <a:chExt cx="4660900" cy="825500"/>
          </a:xfrm>
        </p:grpSpPr>
        <p:sp>
          <p:nvSpPr>
            <p:cNvPr name="Freeform 3" id="3"/>
            <p:cNvSpPr/>
            <p:nvPr/>
          </p:nvSpPr>
          <p:spPr>
            <a:xfrm flipH="false" flipV="false" rot="0">
              <a:off x="0" y="0"/>
              <a:ext cx="4660900" cy="825500"/>
            </a:xfrm>
            <a:custGeom>
              <a:avLst/>
              <a:gdLst/>
              <a:ahLst/>
              <a:cxnLst/>
              <a:rect r="r" b="b" t="t" l="l"/>
              <a:pathLst>
                <a:path h="825500" w="4660900">
                  <a:moveTo>
                    <a:pt x="0" y="0"/>
                  </a:moveTo>
                  <a:lnTo>
                    <a:pt x="4660900" y="0"/>
                  </a:lnTo>
                  <a:lnTo>
                    <a:pt x="4660900" y="825500"/>
                  </a:lnTo>
                  <a:lnTo>
                    <a:pt x="0" y="825500"/>
                  </a:lnTo>
                  <a:close/>
                </a:path>
              </a:pathLst>
            </a:custGeom>
            <a:solidFill>
              <a:srgbClr val="24252F"/>
            </a:solidFill>
          </p:spPr>
        </p:sp>
        <p:sp>
          <p:nvSpPr>
            <p:cNvPr name="TextBox 4" id="4"/>
            <p:cNvSpPr txBox="true"/>
            <p:nvPr/>
          </p:nvSpPr>
          <p:spPr>
            <a:xfrm>
              <a:off x="0" y="-38100"/>
              <a:ext cx="4660900" cy="8636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4133850" y="1285875"/>
            <a:ext cx="3695700" cy="619125"/>
            <a:chOff x="0" y="0"/>
            <a:chExt cx="4927600" cy="825500"/>
          </a:xfrm>
        </p:grpSpPr>
        <p:sp>
          <p:nvSpPr>
            <p:cNvPr name="Freeform 6" id="6"/>
            <p:cNvSpPr/>
            <p:nvPr/>
          </p:nvSpPr>
          <p:spPr>
            <a:xfrm flipH="false" flipV="false" rot="0">
              <a:off x="0" y="0"/>
              <a:ext cx="4927600" cy="825500"/>
            </a:xfrm>
            <a:custGeom>
              <a:avLst/>
              <a:gdLst/>
              <a:ahLst/>
              <a:cxnLst/>
              <a:rect r="r" b="b" t="t" l="l"/>
              <a:pathLst>
                <a:path h="825500" w="4927600">
                  <a:moveTo>
                    <a:pt x="0" y="0"/>
                  </a:moveTo>
                  <a:lnTo>
                    <a:pt x="4927600" y="0"/>
                  </a:lnTo>
                  <a:lnTo>
                    <a:pt x="4927600" y="825500"/>
                  </a:lnTo>
                  <a:lnTo>
                    <a:pt x="0" y="825500"/>
                  </a:lnTo>
                  <a:close/>
                </a:path>
              </a:pathLst>
            </a:custGeom>
            <a:solidFill>
              <a:srgbClr val="C9785A"/>
            </a:solidFill>
          </p:spPr>
        </p:sp>
        <p:sp>
          <p:nvSpPr>
            <p:cNvPr name="TextBox 7" id="7"/>
            <p:cNvSpPr txBox="true"/>
            <p:nvPr/>
          </p:nvSpPr>
          <p:spPr>
            <a:xfrm>
              <a:off x="0" y="-38100"/>
              <a:ext cx="4927600" cy="8636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7829550" y="1285875"/>
            <a:ext cx="4362450" cy="619125"/>
            <a:chOff x="0" y="0"/>
            <a:chExt cx="5816600" cy="825500"/>
          </a:xfrm>
        </p:grpSpPr>
        <p:sp>
          <p:nvSpPr>
            <p:cNvPr name="Freeform 9" id="9"/>
            <p:cNvSpPr/>
            <p:nvPr/>
          </p:nvSpPr>
          <p:spPr>
            <a:xfrm flipH="false" flipV="false" rot="0">
              <a:off x="0" y="0"/>
              <a:ext cx="5816600" cy="825500"/>
            </a:xfrm>
            <a:custGeom>
              <a:avLst/>
              <a:gdLst/>
              <a:ahLst/>
              <a:cxnLst/>
              <a:rect r="r" b="b" t="t" l="l"/>
              <a:pathLst>
                <a:path h="825500" w="5816600">
                  <a:moveTo>
                    <a:pt x="0" y="0"/>
                  </a:moveTo>
                  <a:lnTo>
                    <a:pt x="5816600" y="0"/>
                  </a:lnTo>
                  <a:lnTo>
                    <a:pt x="5816600" y="825500"/>
                  </a:lnTo>
                  <a:lnTo>
                    <a:pt x="0" y="825500"/>
                  </a:lnTo>
                  <a:close/>
                </a:path>
              </a:pathLst>
            </a:custGeom>
            <a:solidFill>
              <a:srgbClr val="24252F"/>
            </a:solidFill>
          </p:spPr>
        </p:sp>
        <p:sp>
          <p:nvSpPr>
            <p:cNvPr name="TextBox 10" id="10"/>
            <p:cNvSpPr txBox="true"/>
            <p:nvPr/>
          </p:nvSpPr>
          <p:spPr>
            <a:xfrm>
              <a:off x="0" y="-38100"/>
              <a:ext cx="5816600" cy="8636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12192000" y="1285875"/>
            <a:ext cx="5010150" cy="619125"/>
            <a:chOff x="0" y="0"/>
            <a:chExt cx="6680200" cy="825500"/>
          </a:xfrm>
        </p:grpSpPr>
        <p:sp>
          <p:nvSpPr>
            <p:cNvPr name="Freeform 12" id="12"/>
            <p:cNvSpPr/>
            <p:nvPr/>
          </p:nvSpPr>
          <p:spPr>
            <a:xfrm flipH="false" flipV="false" rot="0">
              <a:off x="0" y="0"/>
              <a:ext cx="6680200" cy="825500"/>
            </a:xfrm>
            <a:custGeom>
              <a:avLst/>
              <a:gdLst/>
              <a:ahLst/>
              <a:cxnLst/>
              <a:rect r="r" b="b" t="t" l="l"/>
              <a:pathLst>
                <a:path h="825500" w="6680200">
                  <a:moveTo>
                    <a:pt x="0" y="0"/>
                  </a:moveTo>
                  <a:lnTo>
                    <a:pt x="6680200" y="0"/>
                  </a:lnTo>
                  <a:lnTo>
                    <a:pt x="6680200" y="825500"/>
                  </a:lnTo>
                  <a:lnTo>
                    <a:pt x="0" y="825500"/>
                  </a:lnTo>
                  <a:close/>
                </a:path>
              </a:pathLst>
            </a:custGeom>
            <a:solidFill>
              <a:srgbClr val="24252F"/>
            </a:solidFill>
          </p:spPr>
        </p:sp>
        <p:sp>
          <p:nvSpPr>
            <p:cNvPr name="TextBox 13" id="13"/>
            <p:cNvSpPr txBox="true"/>
            <p:nvPr/>
          </p:nvSpPr>
          <p:spPr>
            <a:xfrm>
              <a:off x="0" y="-38100"/>
              <a:ext cx="6680200" cy="8636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866775" y="1905000"/>
            <a:ext cx="3495675" cy="762000"/>
            <a:chOff x="0" y="0"/>
            <a:chExt cx="4660900" cy="1016000"/>
          </a:xfrm>
        </p:grpSpPr>
        <p:sp>
          <p:nvSpPr>
            <p:cNvPr name="Freeform 15" id="15"/>
            <p:cNvSpPr/>
            <p:nvPr/>
          </p:nvSpPr>
          <p:spPr>
            <a:xfrm flipH="false" flipV="false" rot="0">
              <a:off x="0" y="0"/>
              <a:ext cx="4660900" cy="1016000"/>
            </a:xfrm>
            <a:custGeom>
              <a:avLst/>
              <a:gdLst/>
              <a:ahLst/>
              <a:cxnLst/>
              <a:rect r="r" b="b" t="t" l="l"/>
              <a:pathLst>
                <a:path h="1016000" w="4660900">
                  <a:moveTo>
                    <a:pt x="0" y="0"/>
                  </a:moveTo>
                  <a:lnTo>
                    <a:pt x="4660900" y="0"/>
                  </a:lnTo>
                  <a:lnTo>
                    <a:pt x="4660900" y="1016000"/>
                  </a:lnTo>
                  <a:lnTo>
                    <a:pt x="0" y="1016000"/>
                  </a:lnTo>
                  <a:close/>
                </a:path>
              </a:pathLst>
            </a:custGeom>
            <a:solidFill>
              <a:srgbClr val="FFFDFC"/>
            </a:solidFill>
          </p:spPr>
        </p:sp>
        <p:sp>
          <p:nvSpPr>
            <p:cNvPr name="TextBox 16" id="16"/>
            <p:cNvSpPr txBox="true"/>
            <p:nvPr/>
          </p:nvSpPr>
          <p:spPr>
            <a:xfrm>
              <a:off x="0" y="-38100"/>
              <a:ext cx="4660900" cy="1054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4133850" y="1905000"/>
            <a:ext cx="3695700" cy="762000"/>
            <a:chOff x="0" y="0"/>
            <a:chExt cx="4927600" cy="1016000"/>
          </a:xfrm>
        </p:grpSpPr>
        <p:sp>
          <p:nvSpPr>
            <p:cNvPr name="Freeform 18" id="18"/>
            <p:cNvSpPr/>
            <p:nvPr/>
          </p:nvSpPr>
          <p:spPr>
            <a:xfrm flipH="false" flipV="false" rot="0">
              <a:off x="0" y="0"/>
              <a:ext cx="4927600" cy="1016000"/>
            </a:xfrm>
            <a:custGeom>
              <a:avLst/>
              <a:gdLst/>
              <a:ahLst/>
              <a:cxnLst/>
              <a:rect r="r" b="b" t="t" l="l"/>
              <a:pathLst>
                <a:path h="1016000" w="4927600">
                  <a:moveTo>
                    <a:pt x="0" y="0"/>
                  </a:moveTo>
                  <a:lnTo>
                    <a:pt x="4927600" y="0"/>
                  </a:lnTo>
                  <a:lnTo>
                    <a:pt x="4927600" y="1016000"/>
                  </a:lnTo>
                  <a:lnTo>
                    <a:pt x="0" y="1016000"/>
                  </a:lnTo>
                  <a:close/>
                </a:path>
              </a:pathLst>
            </a:custGeom>
            <a:solidFill>
              <a:srgbClr val="FFFDFC"/>
            </a:solidFill>
          </p:spPr>
        </p:sp>
        <p:sp>
          <p:nvSpPr>
            <p:cNvPr name="TextBox 19" id="19"/>
            <p:cNvSpPr txBox="true"/>
            <p:nvPr/>
          </p:nvSpPr>
          <p:spPr>
            <a:xfrm>
              <a:off x="0" y="-38100"/>
              <a:ext cx="4927600" cy="10541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7829550" y="1905000"/>
            <a:ext cx="4362450" cy="762000"/>
            <a:chOff x="0" y="0"/>
            <a:chExt cx="5816600" cy="1016000"/>
          </a:xfrm>
        </p:grpSpPr>
        <p:sp>
          <p:nvSpPr>
            <p:cNvPr name="Freeform 21" id="21"/>
            <p:cNvSpPr/>
            <p:nvPr/>
          </p:nvSpPr>
          <p:spPr>
            <a:xfrm flipH="false" flipV="false" rot="0">
              <a:off x="0" y="0"/>
              <a:ext cx="5816600" cy="1016000"/>
            </a:xfrm>
            <a:custGeom>
              <a:avLst/>
              <a:gdLst/>
              <a:ahLst/>
              <a:cxnLst/>
              <a:rect r="r" b="b" t="t" l="l"/>
              <a:pathLst>
                <a:path h="1016000" w="5816600">
                  <a:moveTo>
                    <a:pt x="0" y="0"/>
                  </a:moveTo>
                  <a:lnTo>
                    <a:pt x="5816600" y="0"/>
                  </a:lnTo>
                  <a:lnTo>
                    <a:pt x="5816600" y="1016000"/>
                  </a:lnTo>
                  <a:lnTo>
                    <a:pt x="0" y="1016000"/>
                  </a:lnTo>
                  <a:close/>
                </a:path>
              </a:pathLst>
            </a:custGeom>
            <a:solidFill>
              <a:srgbClr val="FFFDFC"/>
            </a:solidFill>
          </p:spPr>
        </p:sp>
        <p:sp>
          <p:nvSpPr>
            <p:cNvPr name="TextBox 22" id="22"/>
            <p:cNvSpPr txBox="true"/>
            <p:nvPr/>
          </p:nvSpPr>
          <p:spPr>
            <a:xfrm>
              <a:off x="0" y="-38100"/>
              <a:ext cx="5816600" cy="10541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12192000" y="1905000"/>
            <a:ext cx="5010150" cy="762000"/>
            <a:chOff x="0" y="0"/>
            <a:chExt cx="6680200" cy="1016000"/>
          </a:xfrm>
        </p:grpSpPr>
        <p:sp>
          <p:nvSpPr>
            <p:cNvPr name="Freeform 24" id="24"/>
            <p:cNvSpPr/>
            <p:nvPr/>
          </p:nvSpPr>
          <p:spPr>
            <a:xfrm flipH="false" flipV="false" rot="0">
              <a:off x="0" y="0"/>
              <a:ext cx="6680200" cy="1016000"/>
            </a:xfrm>
            <a:custGeom>
              <a:avLst/>
              <a:gdLst/>
              <a:ahLst/>
              <a:cxnLst/>
              <a:rect r="r" b="b" t="t" l="l"/>
              <a:pathLst>
                <a:path h="1016000" w="6680200">
                  <a:moveTo>
                    <a:pt x="0" y="0"/>
                  </a:moveTo>
                  <a:lnTo>
                    <a:pt x="6680200" y="0"/>
                  </a:lnTo>
                  <a:lnTo>
                    <a:pt x="6680200" y="1016000"/>
                  </a:lnTo>
                  <a:lnTo>
                    <a:pt x="0" y="1016000"/>
                  </a:lnTo>
                  <a:close/>
                </a:path>
              </a:pathLst>
            </a:custGeom>
            <a:solidFill>
              <a:srgbClr val="FFFDFC"/>
            </a:solidFill>
          </p:spPr>
        </p:sp>
        <p:sp>
          <p:nvSpPr>
            <p:cNvPr name="TextBox 25" id="25"/>
            <p:cNvSpPr txBox="true"/>
            <p:nvPr/>
          </p:nvSpPr>
          <p:spPr>
            <a:xfrm>
              <a:off x="0" y="-38100"/>
              <a:ext cx="6680200" cy="1054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866775" y="2667000"/>
            <a:ext cx="3495675" cy="762000"/>
            <a:chOff x="0" y="0"/>
            <a:chExt cx="4660900" cy="1016000"/>
          </a:xfrm>
        </p:grpSpPr>
        <p:sp>
          <p:nvSpPr>
            <p:cNvPr name="Freeform 27" id="27"/>
            <p:cNvSpPr/>
            <p:nvPr/>
          </p:nvSpPr>
          <p:spPr>
            <a:xfrm flipH="false" flipV="false" rot="0">
              <a:off x="0" y="0"/>
              <a:ext cx="4660900" cy="1016000"/>
            </a:xfrm>
            <a:custGeom>
              <a:avLst/>
              <a:gdLst/>
              <a:ahLst/>
              <a:cxnLst/>
              <a:rect r="r" b="b" t="t" l="l"/>
              <a:pathLst>
                <a:path h="1016000" w="4660900">
                  <a:moveTo>
                    <a:pt x="0" y="0"/>
                  </a:moveTo>
                  <a:lnTo>
                    <a:pt x="4660900" y="0"/>
                  </a:lnTo>
                  <a:lnTo>
                    <a:pt x="4660900" y="1016000"/>
                  </a:lnTo>
                  <a:lnTo>
                    <a:pt x="0" y="1016000"/>
                  </a:lnTo>
                  <a:close/>
                </a:path>
              </a:pathLst>
            </a:custGeom>
            <a:solidFill>
              <a:srgbClr val="E8E2DC"/>
            </a:solidFill>
          </p:spPr>
        </p:sp>
        <p:sp>
          <p:nvSpPr>
            <p:cNvPr name="TextBox 28" id="28"/>
            <p:cNvSpPr txBox="true"/>
            <p:nvPr/>
          </p:nvSpPr>
          <p:spPr>
            <a:xfrm>
              <a:off x="0" y="-38100"/>
              <a:ext cx="4660900" cy="1054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4133850" y="2667000"/>
            <a:ext cx="3695700" cy="762000"/>
            <a:chOff x="0" y="0"/>
            <a:chExt cx="4927600" cy="1016000"/>
          </a:xfrm>
        </p:grpSpPr>
        <p:sp>
          <p:nvSpPr>
            <p:cNvPr name="Freeform 30" id="30"/>
            <p:cNvSpPr/>
            <p:nvPr/>
          </p:nvSpPr>
          <p:spPr>
            <a:xfrm flipH="false" flipV="false" rot="0">
              <a:off x="0" y="0"/>
              <a:ext cx="4927600" cy="1016000"/>
            </a:xfrm>
            <a:custGeom>
              <a:avLst/>
              <a:gdLst/>
              <a:ahLst/>
              <a:cxnLst/>
              <a:rect r="r" b="b" t="t" l="l"/>
              <a:pathLst>
                <a:path h="1016000" w="4927600">
                  <a:moveTo>
                    <a:pt x="0" y="0"/>
                  </a:moveTo>
                  <a:lnTo>
                    <a:pt x="4927600" y="0"/>
                  </a:lnTo>
                  <a:lnTo>
                    <a:pt x="4927600" y="1016000"/>
                  </a:lnTo>
                  <a:lnTo>
                    <a:pt x="0" y="1016000"/>
                  </a:lnTo>
                  <a:close/>
                </a:path>
              </a:pathLst>
            </a:custGeom>
            <a:solidFill>
              <a:srgbClr val="E8E2DC"/>
            </a:solidFill>
          </p:spPr>
        </p:sp>
        <p:sp>
          <p:nvSpPr>
            <p:cNvPr name="TextBox 31" id="31"/>
            <p:cNvSpPr txBox="true"/>
            <p:nvPr/>
          </p:nvSpPr>
          <p:spPr>
            <a:xfrm>
              <a:off x="0" y="-38100"/>
              <a:ext cx="4927600" cy="1054100"/>
            </a:xfrm>
            <a:prstGeom prst="rect">
              <a:avLst/>
            </a:prstGeom>
          </p:spPr>
          <p:txBody>
            <a:bodyPr anchor="ctr" rtlCol="false" tIns="50800" lIns="50800" bIns="50800" rIns="50800"/>
            <a:lstStyle/>
            <a:p>
              <a:pPr algn="l">
                <a:lnSpc>
                  <a:spcPts val="1679"/>
                </a:lnSpc>
              </a:pPr>
            </a:p>
          </p:txBody>
        </p:sp>
      </p:grpSp>
      <p:grpSp>
        <p:nvGrpSpPr>
          <p:cNvPr name="Group 32" id="32"/>
          <p:cNvGrpSpPr/>
          <p:nvPr/>
        </p:nvGrpSpPr>
        <p:grpSpPr>
          <a:xfrm rot="0">
            <a:off x="7829550" y="2667000"/>
            <a:ext cx="4362450" cy="762000"/>
            <a:chOff x="0" y="0"/>
            <a:chExt cx="5816600" cy="1016000"/>
          </a:xfrm>
        </p:grpSpPr>
        <p:sp>
          <p:nvSpPr>
            <p:cNvPr name="Freeform 33" id="33"/>
            <p:cNvSpPr/>
            <p:nvPr/>
          </p:nvSpPr>
          <p:spPr>
            <a:xfrm flipH="false" flipV="false" rot="0">
              <a:off x="0" y="0"/>
              <a:ext cx="5816600" cy="1016000"/>
            </a:xfrm>
            <a:custGeom>
              <a:avLst/>
              <a:gdLst/>
              <a:ahLst/>
              <a:cxnLst/>
              <a:rect r="r" b="b" t="t" l="l"/>
              <a:pathLst>
                <a:path h="1016000" w="5816600">
                  <a:moveTo>
                    <a:pt x="0" y="0"/>
                  </a:moveTo>
                  <a:lnTo>
                    <a:pt x="5816600" y="0"/>
                  </a:lnTo>
                  <a:lnTo>
                    <a:pt x="5816600" y="1016000"/>
                  </a:lnTo>
                  <a:lnTo>
                    <a:pt x="0" y="1016000"/>
                  </a:lnTo>
                  <a:close/>
                </a:path>
              </a:pathLst>
            </a:custGeom>
            <a:solidFill>
              <a:srgbClr val="E8E2DC"/>
            </a:solidFill>
          </p:spPr>
        </p:sp>
        <p:sp>
          <p:nvSpPr>
            <p:cNvPr name="TextBox 34" id="34"/>
            <p:cNvSpPr txBox="true"/>
            <p:nvPr/>
          </p:nvSpPr>
          <p:spPr>
            <a:xfrm>
              <a:off x="0" y="-38100"/>
              <a:ext cx="5816600" cy="10541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2192000" y="2667000"/>
            <a:ext cx="5010150" cy="762000"/>
            <a:chOff x="0" y="0"/>
            <a:chExt cx="6680200" cy="1016000"/>
          </a:xfrm>
        </p:grpSpPr>
        <p:sp>
          <p:nvSpPr>
            <p:cNvPr name="Freeform 36" id="36"/>
            <p:cNvSpPr/>
            <p:nvPr/>
          </p:nvSpPr>
          <p:spPr>
            <a:xfrm flipH="false" flipV="false" rot="0">
              <a:off x="0" y="0"/>
              <a:ext cx="6680200" cy="1016000"/>
            </a:xfrm>
            <a:custGeom>
              <a:avLst/>
              <a:gdLst/>
              <a:ahLst/>
              <a:cxnLst/>
              <a:rect r="r" b="b" t="t" l="l"/>
              <a:pathLst>
                <a:path h="1016000" w="6680200">
                  <a:moveTo>
                    <a:pt x="0" y="0"/>
                  </a:moveTo>
                  <a:lnTo>
                    <a:pt x="6680200" y="0"/>
                  </a:lnTo>
                  <a:lnTo>
                    <a:pt x="6680200" y="1016000"/>
                  </a:lnTo>
                  <a:lnTo>
                    <a:pt x="0" y="1016000"/>
                  </a:lnTo>
                  <a:close/>
                </a:path>
              </a:pathLst>
            </a:custGeom>
            <a:solidFill>
              <a:srgbClr val="E8E2DC"/>
            </a:solidFill>
          </p:spPr>
        </p:sp>
        <p:sp>
          <p:nvSpPr>
            <p:cNvPr name="TextBox 37" id="37"/>
            <p:cNvSpPr txBox="true"/>
            <p:nvPr/>
          </p:nvSpPr>
          <p:spPr>
            <a:xfrm>
              <a:off x="0" y="-38100"/>
              <a:ext cx="6680200" cy="1054100"/>
            </a:xfrm>
            <a:prstGeom prst="rect">
              <a:avLst/>
            </a:prstGeom>
          </p:spPr>
          <p:txBody>
            <a:bodyPr anchor="ctr" rtlCol="false" tIns="50800" lIns="50800" bIns="50800" rIns="50800"/>
            <a:lstStyle/>
            <a:p>
              <a:pPr algn="l">
                <a:lnSpc>
                  <a:spcPts val="1679"/>
                </a:lnSpc>
              </a:pPr>
            </a:p>
          </p:txBody>
        </p:sp>
      </p:grpSp>
      <p:grpSp>
        <p:nvGrpSpPr>
          <p:cNvPr name="Group 38" id="38"/>
          <p:cNvGrpSpPr/>
          <p:nvPr/>
        </p:nvGrpSpPr>
        <p:grpSpPr>
          <a:xfrm rot="0">
            <a:off x="866775" y="3429000"/>
            <a:ext cx="3495675" cy="762000"/>
            <a:chOff x="0" y="0"/>
            <a:chExt cx="4660900" cy="1016000"/>
          </a:xfrm>
        </p:grpSpPr>
        <p:sp>
          <p:nvSpPr>
            <p:cNvPr name="Freeform 39" id="39"/>
            <p:cNvSpPr/>
            <p:nvPr/>
          </p:nvSpPr>
          <p:spPr>
            <a:xfrm flipH="false" flipV="false" rot="0">
              <a:off x="0" y="0"/>
              <a:ext cx="4660900" cy="1016000"/>
            </a:xfrm>
            <a:custGeom>
              <a:avLst/>
              <a:gdLst/>
              <a:ahLst/>
              <a:cxnLst/>
              <a:rect r="r" b="b" t="t" l="l"/>
              <a:pathLst>
                <a:path h="1016000" w="4660900">
                  <a:moveTo>
                    <a:pt x="0" y="0"/>
                  </a:moveTo>
                  <a:lnTo>
                    <a:pt x="4660900" y="0"/>
                  </a:lnTo>
                  <a:lnTo>
                    <a:pt x="4660900" y="1016000"/>
                  </a:lnTo>
                  <a:lnTo>
                    <a:pt x="0" y="1016000"/>
                  </a:lnTo>
                  <a:close/>
                </a:path>
              </a:pathLst>
            </a:custGeom>
            <a:solidFill>
              <a:srgbClr val="FFFDFC"/>
            </a:solidFill>
          </p:spPr>
        </p:sp>
        <p:sp>
          <p:nvSpPr>
            <p:cNvPr name="TextBox 40" id="40"/>
            <p:cNvSpPr txBox="true"/>
            <p:nvPr/>
          </p:nvSpPr>
          <p:spPr>
            <a:xfrm>
              <a:off x="0" y="-38100"/>
              <a:ext cx="4660900" cy="1054100"/>
            </a:xfrm>
            <a:prstGeom prst="rect">
              <a:avLst/>
            </a:prstGeom>
          </p:spPr>
          <p:txBody>
            <a:bodyPr anchor="ctr" rtlCol="false" tIns="50800" lIns="50800" bIns="50800" rIns="50800"/>
            <a:lstStyle/>
            <a:p>
              <a:pPr algn="l">
                <a:lnSpc>
                  <a:spcPts val="1679"/>
                </a:lnSpc>
              </a:pPr>
            </a:p>
          </p:txBody>
        </p:sp>
      </p:grpSp>
      <p:grpSp>
        <p:nvGrpSpPr>
          <p:cNvPr name="Group 41" id="41"/>
          <p:cNvGrpSpPr/>
          <p:nvPr/>
        </p:nvGrpSpPr>
        <p:grpSpPr>
          <a:xfrm rot="0">
            <a:off x="4133850" y="3429000"/>
            <a:ext cx="3695700" cy="762000"/>
            <a:chOff x="0" y="0"/>
            <a:chExt cx="4927600" cy="1016000"/>
          </a:xfrm>
        </p:grpSpPr>
        <p:sp>
          <p:nvSpPr>
            <p:cNvPr name="Freeform 42" id="42"/>
            <p:cNvSpPr/>
            <p:nvPr/>
          </p:nvSpPr>
          <p:spPr>
            <a:xfrm flipH="false" flipV="false" rot="0">
              <a:off x="0" y="0"/>
              <a:ext cx="4927600" cy="1016000"/>
            </a:xfrm>
            <a:custGeom>
              <a:avLst/>
              <a:gdLst/>
              <a:ahLst/>
              <a:cxnLst/>
              <a:rect r="r" b="b" t="t" l="l"/>
              <a:pathLst>
                <a:path h="1016000" w="4927600">
                  <a:moveTo>
                    <a:pt x="0" y="0"/>
                  </a:moveTo>
                  <a:lnTo>
                    <a:pt x="4927600" y="0"/>
                  </a:lnTo>
                  <a:lnTo>
                    <a:pt x="4927600" y="1016000"/>
                  </a:lnTo>
                  <a:lnTo>
                    <a:pt x="0" y="1016000"/>
                  </a:lnTo>
                  <a:close/>
                </a:path>
              </a:pathLst>
            </a:custGeom>
            <a:solidFill>
              <a:srgbClr val="FFFDFC"/>
            </a:solidFill>
          </p:spPr>
        </p:sp>
        <p:sp>
          <p:nvSpPr>
            <p:cNvPr name="TextBox 43" id="43"/>
            <p:cNvSpPr txBox="true"/>
            <p:nvPr/>
          </p:nvSpPr>
          <p:spPr>
            <a:xfrm>
              <a:off x="0" y="-38100"/>
              <a:ext cx="4927600" cy="1054100"/>
            </a:xfrm>
            <a:prstGeom prst="rect">
              <a:avLst/>
            </a:prstGeom>
          </p:spPr>
          <p:txBody>
            <a:bodyPr anchor="ctr" rtlCol="false" tIns="50800" lIns="50800" bIns="50800" rIns="50800"/>
            <a:lstStyle/>
            <a:p>
              <a:pPr algn="l">
                <a:lnSpc>
                  <a:spcPts val="1679"/>
                </a:lnSpc>
              </a:pPr>
            </a:p>
          </p:txBody>
        </p:sp>
      </p:grpSp>
      <p:grpSp>
        <p:nvGrpSpPr>
          <p:cNvPr name="Group 44" id="44"/>
          <p:cNvGrpSpPr/>
          <p:nvPr/>
        </p:nvGrpSpPr>
        <p:grpSpPr>
          <a:xfrm rot="0">
            <a:off x="7829550" y="3429000"/>
            <a:ext cx="4362450" cy="762000"/>
            <a:chOff x="0" y="0"/>
            <a:chExt cx="5816600" cy="1016000"/>
          </a:xfrm>
        </p:grpSpPr>
        <p:sp>
          <p:nvSpPr>
            <p:cNvPr name="Freeform 45" id="45"/>
            <p:cNvSpPr/>
            <p:nvPr/>
          </p:nvSpPr>
          <p:spPr>
            <a:xfrm flipH="false" flipV="false" rot="0">
              <a:off x="0" y="0"/>
              <a:ext cx="5816600" cy="1016000"/>
            </a:xfrm>
            <a:custGeom>
              <a:avLst/>
              <a:gdLst/>
              <a:ahLst/>
              <a:cxnLst/>
              <a:rect r="r" b="b" t="t" l="l"/>
              <a:pathLst>
                <a:path h="1016000" w="5816600">
                  <a:moveTo>
                    <a:pt x="0" y="0"/>
                  </a:moveTo>
                  <a:lnTo>
                    <a:pt x="5816600" y="0"/>
                  </a:lnTo>
                  <a:lnTo>
                    <a:pt x="5816600" y="1016000"/>
                  </a:lnTo>
                  <a:lnTo>
                    <a:pt x="0" y="1016000"/>
                  </a:lnTo>
                  <a:close/>
                </a:path>
              </a:pathLst>
            </a:custGeom>
            <a:solidFill>
              <a:srgbClr val="FFFDFC"/>
            </a:solidFill>
          </p:spPr>
        </p:sp>
        <p:sp>
          <p:nvSpPr>
            <p:cNvPr name="TextBox 46" id="46"/>
            <p:cNvSpPr txBox="true"/>
            <p:nvPr/>
          </p:nvSpPr>
          <p:spPr>
            <a:xfrm>
              <a:off x="0" y="-38100"/>
              <a:ext cx="5816600" cy="1054100"/>
            </a:xfrm>
            <a:prstGeom prst="rect">
              <a:avLst/>
            </a:prstGeom>
          </p:spPr>
          <p:txBody>
            <a:bodyPr anchor="ctr" rtlCol="false" tIns="50800" lIns="50800" bIns="50800" rIns="50800"/>
            <a:lstStyle/>
            <a:p>
              <a:pPr algn="l">
                <a:lnSpc>
                  <a:spcPts val="1679"/>
                </a:lnSpc>
              </a:pPr>
            </a:p>
          </p:txBody>
        </p:sp>
      </p:grpSp>
      <p:grpSp>
        <p:nvGrpSpPr>
          <p:cNvPr name="Group 47" id="47"/>
          <p:cNvGrpSpPr/>
          <p:nvPr/>
        </p:nvGrpSpPr>
        <p:grpSpPr>
          <a:xfrm rot="0">
            <a:off x="12192000" y="3429000"/>
            <a:ext cx="5010150" cy="762000"/>
            <a:chOff x="0" y="0"/>
            <a:chExt cx="6680200" cy="1016000"/>
          </a:xfrm>
        </p:grpSpPr>
        <p:sp>
          <p:nvSpPr>
            <p:cNvPr name="Freeform 48" id="48"/>
            <p:cNvSpPr/>
            <p:nvPr/>
          </p:nvSpPr>
          <p:spPr>
            <a:xfrm flipH="false" flipV="false" rot="0">
              <a:off x="0" y="0"/>
              <a:ext cx="6680200" cy="1016000"/>
            </a:xfrm>
            <a:custGeom>
              <a:avLst/>
              <a:gdLst/>
              <a:ahLst/>
              <a:cxnLst/>
              <a:rect r="r" b="b" t="t" l="l"/>
              <a:pathLst>
                <a:path h="1016000" w="6680200">
                  <a:moveTo>
                    <a:pt x="0" y="0"/>
                  </a:moveTo>
                  <a:lnTo>
                    <a:pt x="6680200" y="0"/>
                  </a:lnTo>
                  <a:lnTo>
                    <a:pt x="6680200" y="1016000"/>
                  </a:lnTo>
                  <a:lnTo>
                    <a:pt x="0" y="1016000"/>
                  </a:lnTo>
                  <a:close/>
                </a:path>
              </a:pathLst>
            </a:custGeom>
            <a:solidFill>
              <a:srgbClr val="FFFDFC"/>
            </a:solidFill>
          </p:spPr>
        </p:sp>
        <p:sp>
          <p:nvSpPr>
            <p:cNvPr name="TextBox 49" id="49"/>
            <p:cNvSpPr txBox="true"/>
            <p:nvPr/>
          </p:nvSpPr>
          <p:spPr>
            <a:xfrm>
              <a:off x="0" y="-38100"/>
              <a:ext cx="6680200" cy="1054100"/>
            </a:xfrm>
            <a:prstGeom prst="rect">
              <a:avLst/>
            </a:prstGeom>
          </p:spPr>
          <p:txBody>
            <a:bodyPr anchor="ctr" rtlCol="false" tIns="50800" lIns="50800" bIns="50800" rIns="50800"/>
            <a:lstStyle/>
            <a:p>
              <a:pPr algn="l">
                <a:lnSpc>
                  <a:spcPts val="1679"/>
                </a:lnSpc>
              </a:pPr>
            </a:p>
          </p:txBody>
        </p:sp>
      </p:grpSp>
      <p:grpSp>
        <p:nvGrpSpPr>
          <p:cNvPr name="Group 50" id="50"/>
          <p:cNvGrpSpPr/>
          <p:nvPr/>
        </p:nvGrpSpPr>
        <p:grpSpPr>
          <a:xfrm rot="0">
            <a:off x="866775" y="4191000"/>
            <a:ext cx="3495675" cy="762000"/>
            <a:chOff x="0" y="0"/>
            <a:chExt cx="4660900" cy="1016000"/>
          </a:xfrm>
        </p:grpSpPr>
        <p:sp>
          <p:nvSpPr>
            <p:cNvPr name="Freeform 51" id="51"/>
            <p:cNvSpPr/>
            <p:nvPr/>
          </p:nvSpPr>
          <p:spPr>
            <a:xfrm flipH="false" flipV="false" rot="0">
              <a:off x="0" y="0"/>
              <a:ext cx="4660900" cy="1016000"/>
            </a:xfrm>
            <a:custGeom>
              <a:avLst/>
              <a:gdLst/>
              <a:ahLst/>
              <a:cxnLst/>
              <a:rect r="r" b="b" t="t" l="l"/>
              <a:pathLst>
                <a:path h="1016000" w="4660900">
                  <a:moveTo>
                    <a:pt x="0" y="0"/>
                  </a:moveTo>
                  <a:lnTo>
                    <a:pt x="4660900" y="0"/>
                  </a:lnTo>
                  <a:lnTo>
                    <a:pt x="4660900" y="1016000"/>
                  </a:lnTo>
                  <a:lnTo>
                    <a:pt x="0" y="1016000"/>
                  </a:lnTo>
                  <a:close/>
                </a:path>
              </a:pathLst>
            </a:custGeom>
            <a:solidFill>
              <a:srgbClr val="E8E2DC"/>
            </a:solidFill>
          </p:spPr>
        </p:sp>
        <p:sp>
          <p:nvSpPr>
            <p:cNvPr name="TextBox 52" id="52"/>
            <p:cNvSpPr txBox="true"/>
            <p:nvPr/>
          </p:nvSpPr>
          <p:spPr>
            <a:xfrm>
              <a:off x="0" y="-38100"/>
              <a:ext cx="4660900" cy="1054100"/>
            </a:xfrm>
            <a:prstGeom prst="rect">
              <a:avLst/>
            </a:prstGeom>
          </p:spPr>
          <p:txBody>
            <a:bodyPr anchor="ctr" rtlCol="false" tIns="50800" lIns="50800" bIns="50800" rIns="50800"/>
            <a:lstStyle/>
            <a:p>
              <a:pPr algn="l">
                <a:lnSpc>
                  <a:spcPts val="1679"/>
                </a:lnSpc>
              </a:pPr>
            </a:p>
          </p:txBody>
        </p:sp>
      </p:grpSp>
      <p:grpSp>
        <p:nvGrpSpPr>
          <p:cNvPr name="Group 53" id="53"/>
          <p:cNvGrpSpPr/>
          <p:nvPr/>
        </p:nvGrpSpPr>
        <p:grpSpPr>
          <a:xfrm rot="0">
            <a:off x="4133850" y="4191000"/>
            <a:ext cx="3695700" cy="762000"/>
            <a:chOff x="0" y="0"/>
            <a:chExt cx="4927600" cy="1016000"/>
          </a:xfrm>
        </p:grpSpPr>
        <p:sp>
          <p:nvSpPr>
            <p:cNvPr name="Freeform 54" id="54"/>
            <p:cNvSpPr/>
            <p:nvPr/>
          </p:nvSpPr>
          <p:spPr>
            <a:xfrm flipH="false" flipV="false" rot="0">
              <a:off x="0" y="0"/>
              <a:ext cx="4927600" cy="1016000"/>
            </a:xfrm>
            <a:custGeom>
              <a:avLst/>
              <a:gdLst/>
              <a:ahLst/>
              <a:cxnLst/>
              <a:rect r="r" b="b" t="t" l="l"/>
              <a:pathLst>
                <a:path h="1016000" w="4927600">
                  <a:moveTo>
                    <a:pt x="0" y="0"/>
                  </a:moveTo>
                  <a:lnTo>
                    <a:pt x="4927600" y="0"/>
                  </a:lnTo>
                  <a:lnTo>
                    <a:pt x="4927600" y="1016000"/>
                  </a:lnTo>
                  <a:lnTo>
                    <a:pt x="0" y="1016000"/>
                  </a:lnTo>
                  <a:close/>
                </a:path>
              </a:pathLst>
            </a:custGeom>
            <a:solidFill>
              <a:srgbClr val="E8E2DC"/>
            </a:solidFill>
          </p:spPr>
        </p:sp>
        <p:sp>
          <p:nvSpPr>
            <p:cNvPr name="TextBox 55" id="55"/>
            <p:cNvSpPr txBox="true"/>
            <p:nvPr/>
          </p:nvSpPr>
          <p:spPr>
            <a:xfrm>
              <a:off x="0" y="-38100"/>
              <a:ext cx="4927600" cy="1054100"/>
            </a:xfrm>
            <a:prstGeom prst="rect">
              <a:avLst/>
            </a:prstGeom>
          </p:spPr>
          <p:txBody>
            <a:bodyPr anchor="ctr" rtlCol="false" tIns="50800" lIns="50800" bIns="50800" rIns="50800"/>
            <a:lstStyle/>
            <a:p>
              <a:pPr algn="l">
                <a:lnSpc>
                  <a:spcPts val="1679"/>
                </a:lnSpc>
              </a:pPr>
            </a:p>
          </p:txBody>
        </p:sp>
      </p:grpSp>
      <p:grpSp>
        <p:nvGrpSpPr>
          <p:cNvPr name="Group 56" id="56"/>
          <p:cNvGrpSpPr/>
          <p:nvPr/>
        </p:nvGrpSpPr>
        <p:grpSpPr>
          <a:xfrm rot="0">
            <a:off x="7829550" y="4191000"/>
            <a:ext cx="4362450" cy="762000"/>
            <a:chOff x="0" y="0"/>
            <a:chExt cx="5816600" cy="1016000"/>
          </a:xfrm>
        </p:grpSpPr>
        <p:sp>
          <p:nvSpPr>
            <p:cNvPr name="Freeform 57" id="57"/>
            <p:cNvSpPr/>
            <p:nvPr/>
          </p:nvSpPr>
          <p:spPr>
            <a:xfrm flipH="false" flipV="false" rot="0">
              <a:off x="0" y="0"/>
              <a:ext cx="5816600" cy="1016000"/>
            </a:xfrm>
            <a:custGeom>
              <a:avLst/>
              <a:gdLst/>
              <a:ahLst/>
              <a:cxnLst/>
              <a:rect r="r" b="b" t="t" l="l"/>
              <a:pathLst>
                <a:path h="1016000" w="5816600">
                  <a:moveTo>
                    <a:pt x="0" y="0"/>
                  </a:moveTo>
                  <a:lnTo>
                    <a:pt x="5816600" y="0"/>
                  </a:lnTo>
                  <a:lnTo>
                    <a:pt x="5816600" y="1016000"/>
                  </a:lnTo>
                  <a:lnTo>
                    <a:pt x="0" y="1016000"/>
                  </a:lnTo>
                  <a:close/>
                </a:path>
              </a:pathLst>
            </a:custGeom>
            <a:solidFill>
              <a:srgbClr val="E8E2DC"/>
            </a:solidFill>
          </p:spPr>
        </p:sp>
        <p:sp>
          <p:nvSpPr>
            <p:cNvPr name="TextBox 58" id="58"/>
            <p:cNvSpPr txBox="true"/>
            <p:nvPr/>
          </p:nvSpPr>
          <p:spPr>
            <a:xfrm>
              <a:off x="0" y="-38100"/>
              <a:ext cx="5816600" cy="1054100"/>
            </a:xfrm>
            <a:prstGeom prst="rect">
              <a:avLst/>
            </a:prstGeom>
          </p:spPr>
          <p:txBody>
            <a:bodyPr anchor="ctr" rtlCol="false" tIns="50800" lIns="50800" bIns="50800" rIns="50800"/>
            <a:lstStyle/>
            <a:p>
              <a:pPr algn="l">
                <a:lnSpc>
                  <a:spcPts val="1679"/>
                </a:lnSpc>
              </a:pPr>
            </a:p>
          </p:txBody>
        </p:sp>
      </p:grpSp>
      <p:grpSp>
        <p:nvGrpSpPr>
          <p:cNvPr name="Group 59" id="59"/>
          <p:cNvGrpSpPr/>
          <p:nvPr/>
        </p:nvGrpSpPr>
        <p:grpSpPr>
          <a:xfrm rot="0">
            <a:off x="12192000" y="4191000"/>
            <a:ext cx="5010150" cy="762000"/>
            <a:chOff x="0" y="0"/>
            <a:chExt cx="6680200" cy="1016000"/>
          </a:xfrm>
        </p:grpSpPr>
        <p:sp>
          <p:nvSpPr>
            <p:cNvPr name="Freeform 60" id="60"/>
            <p:cNvSpPr/>
            <p:nvPr/>
          </p:nvSpPr>
          <p:spPr>
            <a:xfrm flipH="false" flipV="false" rot="0">
              <a:off x="0" y="0"/>
              <a:ext cx="6680200" cy="1016000"/>
            </a:xfrm>
            <a:custGeom>
              <a:avLst/>
              <a:gdLst/>
              <a:ahLst/>
              <a:cxnLst/>
              <a:rect r="r" b="b" t="t" l="l"/>
              <a:pathLst>
                <a:path h="1016000" w="6680200">
                  <a:moveTo>
                    <a:pt x="0" y="0"/>
                  </a:moveTo>
                  <a:lnTo>
                    <a:pt x="6680200" y="0"/>
                  </a:lnTo>
                  <a:lnTo>
                    <a:pt x="6680200" y="1016000"/>
                  </a:lnTo>
                  <a:lnTo>
                    <a:pt x="0" y="1016000"/>
                  </a:lnTo>
                  <a:close/>
                </a:path>
              </a:pathLst>
            </a:custGeom>
            <a:solidFill>
              <a:srgbClr val="E8E2DC"/>
            </a:solidFill>
          </p:spPr>
        </p:sp>
        <p:sp>
          <p:nvSpPr>
            <p:cNvPr name="TextBox 61" id="61"/>
            <p:cNvSpPr txBox="true"/>
            <p:nvPr/>
          </p:nvSpPr>
          <p:spPr>
            <a:xfrm>
              <a:off x="0" y="-38100"/>
              <a:ext cx="6680200" cy="1054100"/>
            </a:xfrm>
            <a:prstGeom prst="rect">
              <a:avLst/>
            </a:prstGeom>
          </p:spPr>
          <p:txBody>
            <a:bodyPr anchor="ctr" rtlCol="false" tIns="50800" lIns="50800" bIns="50800" rIns="50800"/>
            <a:lstStyle/>
            <a:p>
              <a:pPr algn="l">
                <a:lnSpc>
                  <a:spcPts val="1679"/>
                </a:lnSpc>
              </a:pPr>
            </a:p>
          </p:txBody>
        </p:sp>
      </p:grpSp>
      <p:grpSp>
        <p:nvGrpSpPr>
          <p:cNvPr name="Group 62" id="62"/>
          <p:cNvGrpSpPr/>
          <p:nvPr/>
        </p:nvGrpSpPr>
        <p:grpSpPr>
          <a:xfrm rot="0">
            <a:off x="866775" y="4953000"/>
            <a:ext cx="3495675" cy="762000"/>
            <a:chOff x="0" y="0"/>
            <a:chExt cx="4660900" cy="1016000"/>
          </a:xfrm>
        </p:grpSpPr>
        <p:sp>
          <p:nvSpPr>
            <p:cNvPr name="Freeform 63" id="63"/>
            <p:cNvSpPr/>
            <p:nvPr/>
          </p:nvSpPr>
          <p:spPr>
            <a:xfrm flipH="false" flipV="false" rot="0">
              <a:off x="0" y="0"/>
              <a:ext cx="4660900" cy="1016000"/>
            </a:xfrm>
            <a:custGeom>
              <a:avLst/>
              <a:gdLst/>
              <a:ahLst/>
              <a:cxnLst/>
              <a:rect r="r" b="b" t="t" l="l"/>
              <a:pathLst>
                <a:path h="1016000" w="4660900">
                  <a:moveTo>
                    <a:pt x="0" y="0"/>
                  </a:moveTo>
                  <a:lnTo>
                    <a:pt x="4660900" y="0"/>
                  </a:lnTo>
                  <a:lnTo>
                    <a:pt x="4660900" y="1016000"/>
                  </a:lnTo>
                  <a:lnTo>
                    <a:pt x="0" y="1016000"/>
                  </a:lnTo>
                  <a:close/>
                </a:path>
              </a:pathLst>
            </a:custGeom>
            <a:solidFill>
              <a:srgbClr val="FFFDFC"/>
            </a:solidFill>
          </p:spPr>
        </p:sp>
        <p:sp>
          <p:nvSpPr>
            <p:cNvPr name="TextBox 64" id="64"/>
            <p:cNvSpPr txBox="true"/>
            <p:nvPr/>
          </p:nvSpPr>
          <p:spPr>
            <a:xfrm>
              <a:off x="0" y="-38100"/>
              <a:ext cx="4660900" cy="1054100"/>
            </a:xfrm>
            <a:prstGeom prst="rect">
              <a:avLst/>
            </a:prstGeom>
          </p:spPr>
          <p:txBody>
            <a:bodyPr anchor="ctr" rtlCol="false" tIns="50800" lIns="50800" bIns="50800" rIns="50800"/>
            <a:lstStyle/>
            <a:p>
              <a:pPr algn="l">
                <a:lnSpc>
                  <a:spcPts val="1679"/>
                </a:lnSpc>
              </a:pPr>
            </a:p>
          </p:txBody>
        </p:sp>
      </p:grpSp>
      <p:grpSp>
        <p:nvGrpSpPr>
          <p:cNvPr name="Group 65" id="65"/>
          <p:cNvGrpSpPr/>
          <p:nvPr/>
        </p:nvGrpSpPr>
        <p:grpSpPr>
          <a:xfrm rot="0">
            <a:off x="4133850" y="4953000"/>
            <a:ext cx="3695700" cy="762000"/>
            <a:chOff x="0" y="0"/>
            <a:chExt cx="4927600" cy="1016000"/>
          </a:xfrm>
        </p:grpSpPr>
        <p:sp>
          <p:nvSpPr>
            <p:cNvPr name="Freeform 66" id="66"/>
            <p:cNvSpPr/>
            <p:nvPr/>
          </p:nvSpPr>
          <p:spPr>
            <a:xfrm flipH="false" flipV="false" rot="0">
              <a:off x="0" y="0"/>
              <a:ext cx="4927600" cy="1016000"/>
            </a:xfrm>
            <a:custGeom>
              <a:avLst/>
              <a:gdLst/>
              <a:ahLst/>
              <a:cxnLst/>
              <a:rect r="r" b="b" t="t" l="l"/>
              <a:pathLst>
                <a:path h="1016000" w="4927600">
                  <a:moveTo>
                    <a:pt x="0" y="0"/>
                  </a:moveTo>
                  <a:lnTo>
                    <a:pt x="4927600" y="0"/>
                  </a:lnTo>
                  <a:lnTo>
                    <a:pt x="4927600" y="1016000"/>
                  </a:lnTo>
                  <a:lnTo>
                    <a:pt x="0" y="1016000"/>
                  </a:lnTo>
                  <a:close/>
                </a:path>
              </a:pathLst>
            </a:custGeom>
            <a:solidFill>
              <a:srgbClr val="FFFDFC"/>
            </a:solidFill>
          </p:spPr>
        </p:sp>
        <p:sp>
          <p:nvSpPr>
            <p:cNvPr name="TextBox 67" id="67"/>
            <p:cNvSpPr txBox="true"/>
            <p:nvPr/>
          </p:nvSpPr>
          <p:spPr>
            <a:xfrm>
              <a:off x="0" y="-38100"/>
              <a:ext cx="4927600" cy="1054100"/>
            </a:xfrm>
            <a:prstGeom prst="rect">
              <a:avLst/>
            </a:prstGeom>
          </p:spPr>
          <p:txBody>
            <a:bodyPr anchor="ctr" rtlCol="false" tIns="50800" lIns="50800" bIns="50800" rIns="50800"/>
            <a:lstStyle/>
            <a:p>
              <a:pPr algn="l">
                <a:lnSpc>
                  <a:spcPts val="1679"/>
                </a:lnSpc>
              </a:pPr>
            </a:p>
          </p:txBody>
        </p:sp>
      </p:grpSp>
      <p:grpSp>
        <p:nvGrpSpPr>
          <p:cNvPr name="Group 68" id="68"/>
          <p:cNvGrpSpPr/>
          <p:nvPr/>
        </p:nvGrpSpPr>
        <p:grpSpPr>
          <a:xfrm rot="0">
            <a:off x="7829550" y="4953000"/>
            <a:ext cx="4362450" cy="762000"/>
            <a:chOff x="0" y="0"/>
            <a:chExt cx="5816600" cy="1016000"/>
          </a:xfrm>
        </p:grpSpPr>
        <p:sp>
          <p:nvSpPr>
            <p:cNvPr name="Freeform 69" id="69"/>
            <p:cNvSpPr/>
            <p:nvPr/>
          </p:nvSpPr>
          <p:spPr>
            <a:xfrm flipH="false" flipV="false" rot="0">
              <a:off x="0" y="0"/>
              <a:ext cx="5816600" cy="1016000"/>
            </a:xfrm>
            <a:custGeom>
              <a:avLst/>
              <a:gdLst/>
              <a:ahLst/>
              <a:cxnLst/>
              <a:rect r="r" b="b" t="t" l="l"/>
              <a:pathLst>
                <a:path h="1016000" w="5816600">
                  <a:moveTo>
                    <a:pt x="0" y="0"/>
                  </a:moveTo>
                  <a:lnTo>
                    <a:pt x="5816600" y="0"/>
                  </a:lnTo>
                  <a:lnTo>
                    <a:pt x="5816600" y="1016000"/>
                  </a:lnTo>
                  <a:lnTo>
                    <a:pt x="0" y="1016000"/>
                  </a:lnTo>
                  <a:close/>
                </a:path>
              </a:pathLst>
            </a:custGeom>
            <a:solidFill>
              <a:srgbClr val="FFFDFC"/>
            </a:solidFill>
          </p:spPr>
        </p:sp>
        <p:sp>
          <p:nvSpPr>
            <p:cNvPr name="TextBox 70" id="70"/>
            <p:cNvSpPr txBox="true"/>
            <p:nvPr/>
          </p:nvSpPr>
          <p:spPr>
            <a:xfrm>
              <a:off x="0" y="-38100"/>
              <a:ext cx="5816600" cy="1054100"/>
            </a:xfrm>
            <a:prstGeom prst="rect">
              <a:avLst/>
            </a:prstGeom>
          </p:spPr>
          <p:txBody>
            <a:bodyPr anchor="ctr" rtlCol="false" tIns="50800" lIns="50800" bIns="50800" rIns="50800"/>
            <a:lstStyle/>
            <a:p>
              <a:pPr algn="l">
                <a:lnSpc>
                  <a:spcPts val="1679"/>
                </a:lnSpc>
              </a:pPr>
            </a:p>
          </p:txBody>
        </p:sp>
      </p:grpSp>
      <p:grpSp>
        <p:nvGrpSpPr>
          <p:cNvPr name="Group 71" id="71"/>
          <p:cNvGrpSpPr/>
          <p:nvPr/>
        </p:nvGrpSpPr>
        <p:grpSpPr>
          <a:xfrm rot="0">
            <a:off x="12192000" y="4953000"/>
            <a:ext cx="5010150" cy="762000"/>
            <a:chOff x="0" y="0"/>
            <a:chExt cx="6680200" cy="1016000"/>
          </a:xfrm>
        </p:grpSpPr>
        <p:sp>
          <p:nvSpPr>
            <p:cNvPr name="Freeform 72" id="72"/>
            <p:cNvSpPr/>
            <p:nvPr/>
          </p:nvSpPr>
          <p:spPr>
            <a:xfrm flipH="false" flipV="false" rot="0">
              <a:off x="0" y="0"/>
              <a:ext cx="6680200" cy="1016000"/>
            </a:xfrm>
            <a:custGeom>
              <a:avLst/>
              <a:gdLst/>
              <a:ahLst/>
              <a:cxnLst/>
              <a:rect r="r" b="b" t="t" l="l"/>
              <a:pathLst>
                <a:path h="1016000" w="6680200">
                  <a:moveTo>
                    <a:pt x="0" y="0"/>
                  </a:moveTo>
                  <a:lnTo>
                    <a:pt x="6680200" y="0"/>
                  </a:lnTo>
                  <a:lnTo>
                    <a:pt x="6680200" y="1016000"/>
                  </a:lnTo>
                  <a:lnTo>
                    <a:pt x="0" y="1016000"/>
                  </a:lnTo>
                  <a:close/>
                </a:path>
              </a:pathLst>
            </a:custGeom>
            <a:solidFill>
              <a:srgbClr val="FFFDFC"/>
            </a:solidFill>
          </p:spPr>
        </p:sp>
        <p:sp>
          <p:nvSpPr>
            <p:cNvPr name="TextBox 73" id="73"/>
            <p:cNvSpPr txBox="true"/>
            <p:nvPr/>
          </p:nvSpPr>
          <p:spPr>
            <a:xfrm>
              <a:off x="0" y="-38100"/>
              <a:ext cx="6680200" cy="1054100"/>
            </a:xfrm>
            <a:prstGeom prst="rect">
              <a:avLst/>
            </a:prstGeom>
          </p:spPr>
          <p:txBody>
            <a:bodyPr anchor="ctr" rtlCol="false" tIns="50800" lIns="50800" bIns="50800" rIns="50800"/>
            <a:lstStyle/>
            <a:p>
              <a:pPr algn="l">
                <a:lnSpc>
                  <a:spcPts val="1679"/>
                </a:lnSpc>
              </a:pPr>
            </a:p>
          </p:txBody>
        </p:sp>
      </p:grpSp>
      <p:grpSp>
        <p:nvGrpSpPr>
          <p:cNvPr name="Group 74" id="74"/>
          <p:cNvGrpSpPr/>
          <p:nvPr/>
        </p:nvGrpSpPr>
        <p:grpSpPr>
          <a:xfrm rot="0">
            <a:off x="866775" y="5619750"/>
            <a:ext cx="16335375" cy="495300"/>
            <a:chOff x="0" y="0"/>
            <a:chExt cx="21780500" cy="660400"/>
          </a:xfrm>
        </p:grpSpPr>
        <p:sp>
          <p:nvSpPr>
            <p:cNvPr name="Freeform 75" id="75"/>
            <p:cNvSpPr/>
            <p:nvPr/>
          </p:nvSpPr>
          <p:spPr>
            <a:xfrm flipH="false" flipV="false" rot="0">
              <a:off x="0" y="0"/>
              <a:ext cx="21780500" cy="660400"/>
            </a:xfrm>
            <a:custGeom>
              <a:avLst/>
              <a:gdLst/>
              <a:ahLst/>
              <a:cxnLst/>
              <a:rect r="r" b="b" t="t" l="l"/>
              <a:pathLst>
                <a:path h="660400" w="21780500">
                  <a:moveTo>
                    <a:pt x="0" y="0"/>
                  </a:moveTo>
                  <a:lnTo>
                    <a:pt x="21780500" y="0"/>
                  </a:lnTo>
                  <a:lnTo>
                    <a:pt x="21780500" y="660400"/>
                  </a:lnTo>
                  <a:lnTo>
                    <a:pt x="0" y="660400"/>
                  </a:lnTo>
                  <a:close/>
                </a:path>
              </a:pathLst>
            </a:custGeom>
            <a:solidFill>
              <a:srgbClr val="E8E2DC"/>
            </a:solidFill>
          </p:spPr>
        </p:sp>
        <p:sp>
          <p:nvSpPr>
            <p:cNvPr name="TextBox 76" id="76"/>
            <p:cNvSpPr txBox="true"/>
            <p:nvPr/>
          </p:nvSpPr>
          <p:spPr>
            <a:xfrm>
              <a:off x="0" y="-38100"/>
              <a:ext cx="21780500" cy="698500"/>
            </a:xfrm>
            <a:prstGeom prst="rect">
              <a:avLst/>
            </a:prstGeom>
          </p:spPr>
          <p:txBody>
            <a:bodyPr anchor="ctr" rtlCol="false" tIns="50800" lIns="50800" bIns="50800" rIns="50800"/>
            <a:lstStyle/>
            <a:p>
              <a:pPr algn="l">
                <a:lnSpc>
                  <a:spcPts val="1679"/>
                </a:lnSpc>
              </a:pPr>
            </a:p>
          </p:txBody>
        </p:sp>
      </p:grpSp>
      <p:grpSp>
        <p:nvGrpSpPr>
          <p:cNvPr name="Group 77" id="77"/>
          <p:cNvGrpSpPr/>
          <p:nvPr/>
        </p:nvGrpSpPr>
        <p:grpSpPr>
          <a:xfrm rot="0">
            <a:off x="428625" y="6477000"/>
            <a:ext cx="2619375" cy="457200"/>
            <a:chOff x="0" y="0"/>
            <a:chExt cx="3492500" cy="609600"/>
          </a:xfrm>
        </p:grpSpPr>
        <p:sp>
          <p:nvSpPr>
            <p:cNvPr name="Freeform 78" id="78"/>
            <p:cNvSpPr/>
            <p:nvPr/>
          </p:nvSpPr>
          <p:spPr>
            <a:xfrm flipH="false" flipV="false" rot="0">
              <a:off x="0" y="0"/>
              <a:ext cx="3492500" cy="609600"/>
            </a:xfrm>
            <a:custGeom>
              <a:avLst/>
              <a:gdLst/>
              <a:ahLst/>
              <a:cxnLst/>
              <a:rect r="r" b="b" t="t" l="l"/>
              <a:pathLst>
                <a:path h="609600" w="3492500">
                  <a:moveTo>
                    <a:pt x="0" y="0"/>
                  </a:moveTo>
                  <a:lnTo>
                    <a:pt x="3492500" y="0"/>
                  </a:lnTo>
                  <a:lnTo>
                    <a:pt x="3492500" y="609600"/>
                  </a:lnTo>
                  <a:lnTo>
                    <a:pt x="0" y="609600"/>
                  </a:lnTo>
                  <a:close/>
                </a:path>
              </a:pathLst>
            </a:custGeom>
            <a:solidFill>
              <a:srgbClr val="C9785A"/>
            </a:solidFill>
          </p:spPr>
        </p:sp>
        <p:sp>
          <p:nvSpPr>
            <p:cNvPr name="TextBox 79" id="79"/>
            <p:cNvSpPr txBox="true"/>
            <p:nvPr/>
          </p:nvSpPr>
          <p:spPr>
            <a:xfrm>
              <a:off x="0" y="-38100"/>
              <a:ext cx="3492500" cy="647700"/>
            </a:xfrm>
            <a:prstGeom prst="rect">
              <a:avLst/>
            </a:prstGeom>
          </p:spPr>
          <p:txBody>
            <a:bodyPr anchor="ctr" rtlCol="false" tIns="50800" lIns="50800" bIns="50800" rIns="50800"/>
            <a:lstStyle/>
            <a:p>
              <a:pPr algn="l">
                <a:lnSpc>
                  <a:spcPts val="1679"/>
                </a:lnSpc>
              </a:pPr>
            </a:p>
          </p:txBody>
        </p:sp>
      </p:grpSp>
      <p:sp>
        <p:nvSpPr>
          <p:cNvPr name="TextBox 80" id="80"/>
          <p:cNvSpPr txBox="true"/>
          <p:nvPr/>
        </p:nvSpPr>
        <p:spPr>
          <a:xfrm rot="0">
            <a:off x="4240557" y="286966"/>
            <a:ext cx="10588947" cy="589201"/>
          </a:xfrm>
          <a:prstGeom prst="rect">
            <a:avLst/>
          </a:prstGeom>
        </p:spPr>
        <p:txBody>
          <a:bodyPr anchor="t" rtlCol="false" tIns="0" lIns="0" bIns="0" rIns="0">
            <a:spAutoFit/>
          </a:bodyPr>
          <a:lstStyle/>
          <a:p>
            <a:pPr algn="ctr">
              <a:lnSpc>
                <a:spcPts val="4400"/>
              </a:lnSpc>
            </a:pPr>
            <a:r>
              <a:rPr lang="en-US" sz="4400" b="true">
                <a:solidFill>
                  <a:srgbClr val="24252F"/>
                </a:solidFill>
                <a:latin typeface="Livvic Bold"/>
                <a:ea typeface="Livvic Bold"/>
                <a:cs typeface="Livvic Bold"/>
                <a:sym typeface="Livvic Bold"/>
              </a:rPr>
              <a:t>HDFS vs GFS vs Amazon S3</a:t>
            </a:r>
          </a:p>
        </p:txBody>
      </p:sp>
      <p:sp>
        <p:nvSpPr>
          <p:cNvPr name="TextBox 81" id="81"/>
          <p:cNvSpPr txBox="true"/>
          <p:nvPr/>
        </p:nvSpPr>
        <p:spPr>
          <a:xfrm rot="0">
            <a:off x="1038225" y="1495425"/>
            <a:ext cx="3152775" cy="242332"/>
          </a:xfrm>
          <a:prstGeom prst="rect">
            <a:avLst/>
          </a:prstGeom>
        </p:spPr>
        <p:txBody>
          <a:bodyPr anchor="t" rtlCol="false" tIns="0" lIns="0" bIns="0" rIns="0">
            <a:spAutoFit/>
          </a:bodyPr>
          <a:lstStyle/>
          <a:p>
            <a:pPr algn="ctr">
              <a:lnSpc>
                <a:spcPts val="1899"/>
              </a:lnSpc>
            </a:pPr>
            <a:r>
              <a:rPr lang="en-US" b="true" sz="1899">
                <a:solidFill>
                  <a:srgbClr val="FFFFFF"/>
                </a:solidFill>
                <a:latin typeface="Livvic Bold"/>
                <a:ea typeface="Livvic Bold"/>
                <a:cs typeface="Livvic Bold"/>
                <a:sym typeface="Livvic Bold"/>
              </a:rPr>
              <a:t>DIMENSION</a:t>
            </a:r>
          </a:p>
        </p:txBody>
      </p:sp>
      <p:sp>
        <p:nvSpPr>
          <p:cNvPr name="TextBox 82" id="82"/>
          <p:cNvSpPr txBox="true"/>
          <p:nvPr/>
        </p:nvSpPr>
        <p:spPr>
          <a:xfrm rot="0">
            <a:off x="12363450" y="1495425"/>
            <a:ext cx="4667250" cy="242332"/>
          </a:xfrm>
          <a:prstGeom prst="rect">
            <a:avLst/>
          </a:prstGeom>
        </p:spPr>
        <p:txBody>
          <a:bodyPr anchor="t" rtlCol="false" tIns="0" lIns="0" bIns="0" rIns="0">
            <a:spAutoFit/>
          </a:bodyPr>
          <a:lstStyle/>
          <a:p>
            <a:pPr algn="ctr">
              <a:lnSpc>
                <a:spcPts val="1899"/>
              </a:lnSpc>
            </a:pPr>
            <a:r>
              <a:rPr lang="en-US" b="true" sz="1899">
                <a:solidFill>
                  <a:srgbClr val="FFFFFF"/>
                </a:solidFill>
                <a:latin typeface="Livvic Bold"/>
                <a:ea typeface="Livvic Bold"/>
                <a:cs typeface="Livvic Bold"/>
                <a:sym typeface="Livvic Bold"/>
              </a:rPr>
              <a:t>AMAZON S3</a:t>
            </a:r>
          </a:p>
        </p:txBody>
      </p:sp>
      <p:sp>
        <p:nvSpPr>
          <p:cNvPr name="TextBox 83" id="83"/>
          <p:cNvSpPr txBox="true"/>
          <p:nvPr/>
        </p:nvSpPr>
        <p:spPr>
          <a:xfrm rot="0">
            <a:off x="1076325" y="2819400"/>
            <a:ext cx="3076575" cy="474504"/>
          </a:xfrm>
          <a:prstGeom prst="rect">
            <a:avLst/>
          </a:prstGeom>
        </p:spPr>
        <p:txBody>
          <a:bodyPr anchor="t" rtlCol="false" tIns="0" lIns="0" bIns="0" rIns="0">
            <a:spAutoFit/>
          </a:bodyPr>
          <a:lstStyle/>
          <a:p>
            <a:pPr algn="l">
              <a:lnSpc>
                <a:spcPts val="1899"/>
              </a:lnSpc>
            </a:pPr>
            <a:r>
              <a:rPr lang="en-US" sz="1899" b="true">
                <a:solidFill>
                  <a:srgbClr val="24252F"/>
                </a:solidFill>
                <a:latin typeface="DM Sans Bold"/>
                <a:ea typeface="DM Sans Bold"/>
                <a:cs typeface="DM Sans Bold"/>
                <a:sym typeface="DM Sans Bold"/>
              </a:rPr>
              <a:t>Metadata</a:t>
            </a:r>
          </a:p>
          <a:p>
            <a:pPr algn="l">
              <a:lnSpc>
                <a:spcPts val="1899"/>
              </a:lnSpc>
            </a:pPr>
            <a:r>
              <a:rPr lang="en-US" sz="1899" b="true">
                <a:solidFill>
                  <a:srgbClr val="24252F"/>
                </a:solidFill>
                <a:latin typeface="DM Sans Bold"/>
                <a:ea typeface="DM Sans Bold"/>
                <a:cs typeface="DM Sans Bold"/>
                <a:sym typeface="DM Sans Bold"/>
              </a:rPr>
              <a:t>management</a:t>
            </a:r>
          </a:p>
        </p:txBody>
      </p:sp>
      <p:sp>
        <p:nvSpPr>
          <p:cNvPr name="TextBox 84" id="84"/>
          <p:cNvSpPr txBox="true"/>
          <p:nvPr/>
        </p:nvSpPr>
        <p:spPr>
          <a:xfrm rot="0">
            <a:off x="1076325" y="4476750"/>
            <a:ext cx="3076575" cy="242332"/>
          </a:xfrm>
          <a:prstGeom prst="rect">
            <a:avLst/>
          </a:prstGeom>
        </p:spPr>
        <p:txBody>
          <a:bodyPr anchor="t" rtlCol="false" tIns="0" lIns="0" bIns="0" rIns="0">
            <a:spAutoFit/>
          </a:bodyPr>
          <a:lstStyle/>
          <a:p>
            <a:pPr algn="l">
              <a:lnSpc>
                <a:spcPts val="1899"/>
              </a:lnSpc>
            </a:pPr>
            <a:r>
              <a:rPr lang="en-US" sz="1899" b="true">
                <a:solidFill>
                  <a:srgbClr val="24252F"/>
                </a:solidFill>
                <a:latin typeface="DM Sans Bold"/>
                <a:ea typeface="DM Sans Bold"/>
                <a:cs typeface="DM Sans Bold"/>
                <a:sym typeface="DM Sans Bold"/>
              </a:rPr>
              <a:t>Storage model</a:t>
            </a:r>
          </a:p>
        </p:txBody>
      </p:sp>
      <p:sp>
        <p:nvSpPr>
          <p:cNvPr name="TextBox 85" id="85"/>
          <p:cNvSpPr txBox="true"/>
          <p:nvPr/>
        </p:nvSpPr>
        <p:spPr>
          <a:xfrm rot="0">
            <a:off x="4343400" y="2057400"/>
            <a:ext cx="3276600" cy="474504"/>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Distributed</a:t>
            </a:r>
          </a:p>
          <a:p>
            <a:pPr algn="ctr">
              <a:lnSpc>
                <a:spcPts val="1899"/>
              </a:lnSpc>
            </a:pPr>
            <a:r>
              <a:rPr lang="en-US" sz="1899" b="true">
                <a:solidFill>
                  <a:srgbClr val="24252F"/>
                </a:solidFill>
                <a:latin typeface="DM Sans Bold"/>
                <a:ea typeface="DM Sans Bold"/>
                <a:cs typeface="DM Sans Bold"/>
                <a:sym typeface="DM Sans Bold"/>
              </a:rPr>
              <a:t>file system</a:t>
            </a:r>
          </a:p>
        </p:txBody>
      </p:sp>
      <p:sp>
        <p:nvSpPr>
          <p:cNvPr name="TextBox 86" id="86"/>
          <p:cNvSpPr txBox="true"/>
          <p:nvPr/>
        </p:nvSpPr>
        <p:spPr>
          <a:xfrm rot="0">
            <a:off x="8039100" y="2057400"/>
            <a:ext cx="3943350" cy="474504"/>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Distributed</a:t>
            </a:r>
          </a:p>
          <a:p>
            <a:pPr algn="ctr">
              <a:lnSpc>
                <a:spcPts val="1899"/>
              </a:lnSpc>
            </a:pPr>
            <a:r>
              <a:rPr lang="en-US" sz="1899" b="true">
                <a:solidFill>
                  <a:srgbClr val="24252F"/>
                </a:solidFill>
                <a:latin typeface="DM Sans Bold"/>
                <a:ea typeface="DM Sans Bold"/>
                <a:cs typeface="DM Sans Bold"/>
                <a:sym typeface="DM Sans Bold"/>
              </a:rPr>
              <a:t>file system</a:t>
            </a:r>
          </a:p>
        </p:txBody>
      </p:sp>
      <p:sp>
        <p:nvSpPr>
          <p:cNvPr name="TextBox 87" id="87"/>
          <p:cNvSpPr txBox="true"/>
          <p:nvPr/>
        </p:nvSpPr>
        <p:spPr>
          <a:xfrm rot="0">
            <a:off x="8039100" y="2952750"/>
            <a:ext cx="394335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Master server</a:t>
            </a:r>
          </a:p>
        </p:txBody>
      </p:sp>
      <p:sp>
        <p:nvSpPr>
          <p:cNvPr name="TextBox 88" id="88"/>
          <p:cNvSpPr txBox="true"/>
          <p:nvPr/>
        </p:nvSpPr>
        <p:spPr>
          <a:xfrm rot="0">
            <a:off x="8039100" y="4476750"/>
            <a:ext cx="394335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Chunkservers</a:t>
            </a:r>
          </a:p>
        </p:txBody>
      </p:sp>
      <p:sp>
        <p:nvSpPr>
          <p:cNvPr name="TextBox 89" id="89"/>
          <p:cNvSpPr txBox="true"/>
          <p:nvPr/>
        </p:nvSpPr>
        <p:spPr>
          <a:xfrm rot="0">
            <a:off x="12401550" y="2057400"/>
            <a:ext cx="4591050" cy="474504"/>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Object storage</a:t>
            </a:r>
          </a:p>
          <a:p>
            <a:pPr algn="ctr">
              <a:lnSpc>
                <a:spcPts val="1899"/>
              </a:lnSpc>
            </a:pPr>
            <a:r>
              <a:rPr lang="en-US" sz="1899" b="true">
                <a:solidFill>
                  <a:srgbClr val="24252F"/>
                </a:solidFill>
                <a:latin typeface="DM Sans Bold"/>
                <a:ea typeface="DM Sans Bold"/>
                <a:cs typeface="DM Sans Bold"/>
                <a:sym typeface="DM Sans Bold"/>
              </a:rPr>
              <a:t>service</a:t>
            </a:r>
          </a:p>
        </p:txBody>
      </p:sp>
      <p:sp>
        <p:nvSpPr>
          <p:cNvPr name="TextBox 90" id="90"/>
          <p:cNvSpPr txBox="true"/>
          <p:nvPr/>
        </p:nvSpPr>
        <p:spPr>
          <a:xfrm rot="0">
            <a:off x="12401550" y="2952750"/>
            <a:ext cx="459105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Managed service architecture</a:t>
            </a:r>
          </a:p>
        </p:txBody>
      </p:sp>
      <p:sp>
        <p:nvSpPr>
          <p:cNvPr name="TextBox 91" id="91"/>
          <p:cNvSpPr txBox="true"/>
          <p:nvPr/>
        </p:nvSpPr>
        <p:spPr>
          <a:xfrm rot="0">
            <a:off x="12401550" y="4476750"/>
            <a:ext cx="459105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Buckets / objects</a:t>
            </a:r>
          </a:p>
        </p:txBody>
      </p:sp>
      <p:sp>
        <p:nvSpPr>
          <p:cNvPr name="TextBox 92" id="92"/>
          <p:cNvSpPr txBox="true"/>
          <p:nvPr/>
        </p:nvSpPr>
        <p:spPr>
          <a:xfrm rot="0">
            <a:off x="12401550" y="5238750"/>
            <a:ext cx="459105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Managed durability mechanisms</a:t>
            </a:r>
          </a:p>
        </p:txBody>
      </p:sp>
      <p:sp>
        <p:nvSpPr>
          <p:cNvPr name="TextBox 93" id="93"/>
          <p:cNvSpPr txBox="true"/>
          <p:nvPr/>
        </p:nvSpPr>
        <p:spPr>
          <a:xfrm rot="0">
            <a:off x="3838575" y="5943600"/>
            <a:ext cx="9963150" cy="221932"/>
          </a:xfrm>
          <a:prstGeom prst="rect">
            <a:avLst/>
          </a:prstGeom>
        </p:spPr>
        <p:txBody>
          <a:bodyPr anchor="t" rtlCol="false" tIns="0" lIns="0" bIns="0" rIns="0">
            <a:spAutoFit/>
          </a:bodyPr>
          <a:lstStyle/>
          <a:p>
            <a:pPr algn="ctr">
              <a:lnSpc>
                <a:spcPts val="1800"/>
              </a:lnSpc>
            </a:pPr>
            <a:r>
              <a:rPr lang="en-US" sz="1800" b="true">
                <a:solidFill>
                  <a:srgbClr val="24252F"/>
                </a:solidFill>
                <a:latin typeface="Livvic Bold"/>
                <a:ea typeface="Livvic Bold"/>
                <a:cs typeface="Livvic Bold"/>
                <a:sym typeface="Livvic Bold"/>
              </a:rPr>
              <a:t>HDFS, GFS and S3 are not identical technologies; they use different storage models.</a:t>
            </a:r>
          </a:p>
        </p:txBody>
      </p:sp>
      <p:sp>
        <p:nvSpPr>
          <p:cNvPr name="TextBox 94" id="94"/>
          <p:cNvSpPr txBox="true"/>
          <p:nvPr/>
        </p:nvSpPr>
        <p:spPr>
          <a:xfrm rot="0">
            <a:off x="781050" y="6638925"/>
            <a:ext cx="2105025" cy="188119"/>
          </a:xfrm>
          <a:prstGeom prst="rect">
            <a:avLst/>
          </a:prstGeom>
        </p:spPr>
        <p:txBody>
          <a:bodyPr anchor="t" rtlCol="false" tIns="0" lIns="0" bIns="0" rIns="0">
            <a:spAutoFit/>
          </a:bodyPr>
          <a:lstStyle/>
          <a:p>
            <a:pPr algn="ctr">
              <a:lnSpc>
                <a:spcPts val="1500"/>
              </a:lnSpc>
            </a:pPr>
            <a:r>
              <a:rPr lang="en-US" b="true" sz="1500">
                <a:solidFill>
                  <a:srgbClr val="FFFFFF"/>
                </a:solidFill>
                <a:latin typeface="Livvic Bold"/>
                <a:ea typeface="Livvic Bold"/>
                <a:cs typeface="Livvic Bold"/>
                <a:sym typeface="Livvic Bold"/>
              </a:rPr>
              <a:t>THE COMMON IDEA</a:t>
            </a:r>
          </a:p>
        </p:txBody>
      </p:sp>
      <p:sp>
        <p:nvSpPr>
          <p:cNvPr name="TextBox 95" id="95"/>
          <p:cNvSpPr txBox="true"/>
          <p:nvPr/>
        </p:nvSpPr>
        <p:spPr>
          <a:xfrm rot="0">
            <a:off x="2495550" y="9229725"/>
            <a:ext cx="13871847" cy="198993"/>
          </a:xfrm>
          <a:prstGeom prst="rect">
            <a:avLst/>
          </a:prstGeom>
        </p:spPr>
        <p:txBody>
          <a:bodyPr anchor="t" rtlCol="false" tIns="0" lIns="0" bIns="0" rIns="0">
            <a:spAutoFit/>
          </a:bodyPr>
          <a:lstStyle/>
          <a:p>
            <a:pPr algn="ctr">
              <a:lnSpc>
                <a:spcPts val="1600"/>
              </a:lnSpc>
            </a:pPr>
            <a:r>
              <a:rPr lang="en-US" sz="1600" b="true">
                <a:solidFill>
                  <a:srgbClr val="24252F"/>
                </a:solidFill>
                <a:latin typeface="Livvic Bold"/>
                <a:ea typeface="Livvic Bold"/>
                <a:cs typeface="Livvic Bold"/>
                <a:sym typeface="Livvic Bold"/>
              </a:rPr>
              <a:t>HDFS is well suited to large-scale, high-throughput distributed file storage and cluster-based processing.</a:t>
            </a:r>
          </a:p>
        </p:txBody>
      </p:sp>
      <p:sp>
        <p:nvSpPr>
          <p:cNvPr name="TextBox 96" id="96"/>
          <p:cNvSpPr txBox="true"/>
          <p:nvPr/>
        </p:nvSpPr>
        <p:spPr>
          <a:xfrm rot="0">
            <a:off x="1076325" y="5238750"/>
            <a:ext cx="3076575" cy="242332"/>
          </a:xfrm>
          <a:prstGeom prst="rect">
            <a:avLst/>
          </a:prstGeom>
        </p:spPr>
        <p:txBody>
          <a:bodyPr anchor="t" rtlCol="false" tIns="0" lIns="0" bIns="0" rIns="0">
            <a:spAutoFit/>
          </a:bodyPr>
          <a:lstStyle/>
          <a:p>
            <a:pPr algn="l">
              <a:lnSpc>
                <a:spcPts val="1899"/>
              </a:lnSpc>
            </a:pPr>
            <a:r>
              <a:rPr lang="en-US" sz="1899" b="true">
                <a:solidFill>
                  <a:srgbClr val="24252F"/>
                </a:solidFill>
                <a:latin typeface="DM Sans Bold"/>
                <a:ea typeface="DM Sans Bold"/>
                <a:cs typeface="DM Sans Bold"/>
                <a:sym typeface="DM Sans Bold"/>
              </a:rPr>
              <a:t>Fault tolerance</a:t>
            </a:r>
          </a:p>
        </p:txBody>
      </p:sp>
      <p:sp>
        <p:nvSpPr>
          <p:cNvPr name="TextBox 97" id="97"/>
          <p:cNvSpPr txBox="true"/>
          <p:nvPr/>
        </p:nvSpPr>
        <p:spPr>
          <a:xfrm rot="0">
            <a:off x="1076325" y="2190750"/>
            <a:ext cx="3076575" cy="242332"/>
          </a:xfrm>
          <a:prstGeom prst="rect">
            <a:avLst/>
          </a:prstGeom>
        </p:spPr>
        <p:txBody>
          <a:bodyPr anchor="t" rtlCol="false" tIns="0" lIns="0" bIns="0" rIns="0">
            <a:spAutoFit/>
          </a:bodyPr>
          <a:lstStyle/>
          <a:p>
            <a:pPr algn="l">
              <a:lnSpc>
                <a:spcPts val="1899"/>
              </a:lnSpc>
            </a:pPr>
            <a:r>
              <a:rPr lang="en-US" sz="1899" b="true">
                <a:solidFill>
                  <a:srgbClr val="24252F"/>
                </a:solidFill>
                <a:latin typeface="DM Sans Bold"/>
                <a:ea typeface="DM Sans Bold"/>
                <a:cs typeface="DM Sans Bold"/>
                <a:sym typeface="DM Sans Bold"/>
              </a:rPr>
              <a:t>Architecture</a:t>
            </a:r>
          </a:p>
        </p:txBody>
      </p:sp>
      <p:sp>
        <p:nvSpPr>
          <p:cNvPr name="TextBox 98" id="98"/>
          <p:cNvSpPr txBox="true"/>
          <p:nvPr/>
        </p:nvSpPr>
        <p:spPr>
          <a:xfrm rot="0">
            <a:off x="4343400" y="2952750"/>
            <a:ext cx="327660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NameNode</a:t>
            </a:r>
          </a:p>
        </p:txBody>
      </p:sp>
      <p:sp>
        <p:nvSpPr>
          <p:cNvPr name="TextBox 99" id="99"/>
          <p:cNvSpPr txBox="true"/>
          <p:nvPr/>
        </p:nvSpPr>
        <p:spPr>
          <a:xfrm rot="0">
            <a:off x="4343400" y="5238750"/>
            <a:ext cx="327660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Replication</a:t>
            </a:r>
          </a:p>
        </p:txBody>
      </p:sp>
      <p:sp>
        <p:nvSpPr>
          <p:cNvPr name="TextBox 100" id="100"/>
          <p:cNvSpPr txBox="true"/>
          <p:nvPr/>
        </p:nvSpPr>
        <p:spPr>
          <a:xfrm rot="0">
            <a:off x="8039100" y="5238750"/>
            <a:ext cx="394335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Replication</a:t>
            </a:r>
          </a:p>
        </p:txBody>
      </p:sp>
      <p:sp>
        <p:nvSpPr>
          <p:cNvPr name="TextBox 101" id="101"/>
          <p:cNvSpPr txBox="true"/>
          <p:nvPr/>
        </p:nvSpPr>
        <p:spPr>
          <a:xfrm rot="0">
            <a:off x="4343400" y="4476750"/>
            <a:ext cx="327660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DataNodes</a:t>
            </a:r>
          </a:p>
        </p:txBody>
      </p:sp>
      <p:sp>
        <p:nvSpPr>
          <p:cNvPr name="TextBox 102" id="102"/>
          <p:cNvSpPr txBox="true"/>
          <p:nvPr/>
        </p:nvSpPr>
        <p:spPr>
          <a:xfrm rot="0">
            <a:off x="1076325" y="3714750"/>
            <a:ext cx="3076575" cy="242332"/>
          </a:xfrm>
          <a:prstGeom prst="rect">
            <a:avLst/>
          </a:prstGeom>
        </p:spPr>
        <p:txBody>
          <a:bodyPr anchor="t" rtlCol="false" tIns="0" lIns="0" bIns="0" rIns="0">
            <a:spAutoFit/>
          </a:bodyPr>
          <a:lstStyle/>
          <a:p>
            <a:pPr algn="l">
              <a:lnSpc>
                <a:spcPts val="1899"/>
              </a:lnSpc>
            </a:pPr>
            <a:r>
              <a:rPr lang="en-US" sz="1899" b="true">
                <a:solidFill>
                  <a:srgbClr val="24252F"/>
                </a:solidFill>
                <a:latin typeface="DM Sans Bold"/>
                <a:ea typeface="DM Sans Bold"/>
                <a:cs typeface="DM Sans Bold"/>
                <a:sym typeface="DM Sans Bold"/>
              </a:rPr>
              <a:t>Data unit</a:t>
            </a:r>
          </a:p>
        </p:txBody>
      </p:sp>
      <p:sp>
        <p:nvSpPr>
          <p:cNvPr name="TextBox 103" id="103"/>
          <p:cNvSpPr txBox="true"/>
          <p:nvPr/>
        </p:nvSpPr>
        <p:spPr>
          <a:xfrm rot="0">
            <a:off x="4305300" y="1495425"/>
            <a:ext cx="3352800" cy="242332"/>
          </a:xfrm>
          <a:prstGeom prst="rect">
            <a:avLst/>
          </a:prstGeom>
        </p:spPr>
        <p:txBody>
          <a:bodyPr anchor="t" rtlCol="false" tIns="0" lIns="0" bIns="0" rIns="0">
            <a:spAutoFit/>
          </a:bodyPr>
          <a:lstStyle/>
          <a:p>
            <a:pPr algn="ctr">
              <a:lnSpc>
                <a:spcPts val="1899"/>
              </a:lnSpc>
            </a:pPr>
            <a:r>
              <a:rPr lang="en-US" b="true" sz="1899">
                <a:solidFill>
                  <a:srgbClr val="FFFFFF"/>
                </a:solidFill>
                <a:latin typeface="Livvic Bold"/>
                <a:ea typeface="Livvic Bold"/>
                <a:cs typeface="Livvic Bold"/>
                <a:sym typeface="Livvic Bold"/>
              </a:rPr>
              <a:t>HDFS</a:t>
            </a:r>
          </a:p>
        </p:txBody>
      </p:sp>
      <p:sp>
        <p:nvSpPr>
          <p:cNvPr name="TextBox 104" id="104"/>
          <p:cNvSpPr txBox="true"/>
          <p:nvPr/>
        </p:nvSpPr>
        <p:spPr>
          <a:xfrm rot="0">
            <a:off x="12401550" y="3714750"/>
            <a:ext cx="459105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Objects</a:t>
            </a:r>
          </a:p>
        </p:txBody>
      </p:sp>
      <p:sp>
        <p:nvSpPr>
          <p:cNvPr name="TextBox 105" id="105"/>
          <p:cNvSpPr txBox="true"/>
          <p:nvPr/>
        </p:nvSpPr>
        <p:spPr>
          <a:xfrm rot="0">
            <a:off x="8039100" y="3714750"/>
            <a:ext cx="394335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Chunks</a:t>
            </a:r>
          </a:p>
        </p:txBody>
      </p:sp>
      <p:sp>
        <p:nvSpPr>
          <p:cNvPr name="TextBox 106" id="106"/>
          <p:cNvSpPr txBox="true"/>
          <p:nvPr/>
        </p:nvSpPr>
        <p:spPr>
          <a:xfrm rot="0">
            <a:off x="8001000" y="1495425"/>
            <a:ext cx="4019550" cy="242332"/>
          </a:xfrm>
          <a:prstGeom prst="rect">
            <a:avLst/>
          </a:prstGeom>
        </p:spPr>
        <p:txBody>
          <a:bodyPr anchor="t" rtlCol="false" tIns="0" lIns="0" bIns="0" rIns="0">
            <a:spAutoFit/>
          </a:bodyPr>
          <a:lstStyle/>
          <a:p>
            <a:pPr algn="ctr">
              <a:lnSpc>
                <a:spcPts val="1899"/>
              </a:lnSpc>
            </a:pPr>
            <a:r>
              <a:rPr lang="en-US" b="true" sz="1899">
                <a:solidFill>
                  <a:srgbClr val="FFFFFF"/>
                </a:solidFill>
                <a:latin typeface="Livvic Bold"/>
                <a:ea typeface="Livvic Bold"/>
                <a:cs typeface="Livvic Bold"/>
                <a:sym typeface="Livvic Bold"/>
              </a:rPr>
              <a:t>GFS</a:t>
            </a:r>
          </a:p>
        </p:txBody>
      </p:sp>
      <p:sp>
        <p:nvSpPr>
          <p:cNvPr name="TextBox 107" id="107"/>
          <p:cNvSpPr txBox="true"/>
          <p:nvPr/>
        </p:nvSpPr>
        <p:spPr>
          <a:xfrm rot="0">
            <a:off x="4343400" y="3714750"/>
            <a:ext cx="3276600" cy="242332"/>
          </a:xfrm>
          <a:prstGeom prst="rect">
            <a:avLst/>
          </a:prstGeom>
        </p:spPr>
        <p:txBody>
          <a:bodyPr anchor="t" rtlCol="false" tIns="0" lIns="0" bIns="0" rIns="0">
            <a:spAutoFit/>
          </a:bodyPr>
          <a:lstStyle/>
          <a:p>
            <a:pPr algn="ctr">
              <a:lnSpc>
                <a:spcPts val="1899"/>
              </a:lnSpc>
            </a:pPr>
            <a:r>
              <a:rPr lang="en-US" sz="1899" b="true">
                <a:solidFill>
                  <a:srgbClr val="24252F"/>
                </a:solidFill>
                <a:latin typeface="DM Sans Bold"/>
                <a:ea typeface="DM Sans Bold"/>
                <a:cs typeface="DM Sans Bold"/>
                <a:sym typeface="DM Sans Bold"/>
              </a:rPr>
              <a:t>Blocks</a:t>
            </a:r>
          </a:p>
        </p:txBody>
      </p:sp>
      <p:sp>
        <p:nvSpPr>
          <p:cNvPr name="AutoShape 108" id="108"/>
          <p:cNvSpPr/>
          <p:nvPr/>
        </p:nvSpPr>
        <p:spPr>
          <a:xfrm>
            <a:off x="866775" y="1285875"/>
            <a:ext cx="0" cy="4429125"/>
          </a:xfrm>
          <a:prstGeom prst="line">
            <a:avLst/>
          </a:prstGeom>
          <a:ln cap="flat" w="19050">
            <a:solidFill>
              <a:srgbClr val="D8B58F"/>
            </a:solidFill>
            <a:prstDash val="solid"/>
            <a:headEnd type="none" len="sm" w="sm"/>
            <a:tailEnd type="none" len="sm" w="sm"/>
          </a:ln>
        </p:spPr>
      </p:sp>
      <p:sp>
        <p:nvSpPr>
          <p:cNvPr name="AutoShape 109" id="109"/>
          <p:cNvSpPr/>
          <p:nvPr/>
        </p:nvSpPr>
        <p:spPr>
          <a:xfrm>
            <a:off x="4362450" y="1285875"/>
            <a:ext cx="0" cy="4429125"/>
          </a:xfrm>
          <a:prstGeom prst="line">
            <a:avLst/>
          </a:prstGeom>
          <a:ln cap="flat" w="19050">
            <a:solidFill>
              <a:srgbClr val="D8B58F"/>
            </a:solidFill>
            <a:prstDash val="solid"/>
            <a:headEnd type="none" len="sm" w="sm"/>
            <a:tailEnd type="none" len="sm" w="sm"/>
          </a:ln>
        </p:spPr>
      </p:sp>
      <p:sp>
        <p:nvSpPr>
          <p:cNvPr name="AutoShape 110" id="110"/>
          <p:cNvSpPr/>
          <p:nvPr/>
        </p:nvSpPr>
        <p:spPr>
          <a:xfrm>
            <a:off x="7829550" y="1285875"/>
            <a:ext cx="0" cy="4429125"/>
          </a:xfrm>
          <a:prstGeom prst="line">
            <a:avLst/>
          </a:prstGeom>
          <a:ln cap="flat" w="19050">
            <a:solidFill>
              <a:srgbClr val="D8B58F"/>
            </a:solidFill>
            <a:prstDash val="solid"/>
            <a:headEnd type="none" len="sm" w="sm"/>
            <a:tailEnd type="none" len="sm" w="sm"/>
          </a:ln>
        </p:spPr>
      </p:sp>
      <p:sp>
        <p:nvSpPr>
          <p:cNvPr name="AutoShape 111" id="111"/>
          <p:cNvSpPr/>
          <p:nvPr/>
        </p:nvSpPr>
        <p:spPr>
          <a:xfrm>
            <a:off x="12192000" y="1285875"/>
            <a:ext cx="0" cy="4429125"/>
          </a:xfrm>
          <a:prstGeom prst="line">
            <a:avLst/>
          </a:prstGeom>
          <a:ln cap="flat" w="19050">
            <a:solidFill>
              <a:srgbClr val="D8B58F"/>
            </a:solidFill>
            <a:prstDash val="solid"/>
            <a:headEnd type="none" len="sm" w="sm"/>
            <a:tailEnd type="none" len="sm" w="sm"/>
          </a:ln>
        </p:spPr>
      </p:sp>
      <p:sp>
        <p:nvSpPr>
          <p:cNvPr name="AutoShape 112" id="112"/>
          <p:cNvSpPr/>
          <p:nvPr/>
        </p:nvSpPr>
        <p:spPr>
          <a:xfrm>
            <a:off x="17202150" y="1285875"/>
            <a:ext cx="0" cy="4429125"/>
          </a:xfrm>
          <a:prstGeom prst="line">
            <a:avLst/>
          </a:prstGeom>
          <a:ln cap="flat" w="19050">
            <a:solidFill>
              <a:srgbClr val="D8B58F"/>
            </a:solidFill>
            <a:prstDash val="solid"/>
            <a:headEnd type="none" len="sm" w="sm"/>
            <a:tailEnd type="none" len="sm" w="sm"/>
          </a:ln>
        </p:spPr>
      </p:sp>
      <p:sp>
        <p:nvSpPr>
          <p:cNvPr name="AutoShape 113" id="113"/>
          <p:cNvSpPr/>
          <p:nvPr/>
        </p:nvSpPr>
        <p:spPr>
          <a:xfrm>
            <a:off x="866775" y="1285875"/>
            <a:ext cx="16335375" cy="0"/>
          </a:xfrm>
          <a:prstGeom prst="line">
            <a:avLst/>
          </a:prstGeom>
          <a:ln cap="flat" w="19050">
            <a:solidFill>
              <a:srgbClr val="D8B58F"/>
            </a:solidFill>
            <a:prstDash val="solid"/>
            <a:headEnd type="none" len="sm" w="sm"/>
            <a:tailEnd type="none" len="sm" w="sm"/>
          </a:ln>
        </p:spPr>
      </p:sp>
      <p:sp>
        <p:nvSpPr>
          <p:cNvPr name="AutoShape 114" id="114"/>
          <p:cNvSpPr/>
          <p:nvPr/>
        </p:nvSpPr>
        <p:spPr>
          <a:xfrm>
            <a:off x="866775" y="1905000"/>
            <a:ext cx="16335375" cy="0"/>
          </a:xfrm>
          <a:prstGeom prst="line">
            <a:avLst/>
          </a:prstGeom>
          <a:ln cap="flat" w="19050">
            <a:solidFill>
              <a:srgbClr val="D8B58F"/>
            </a:solidFill>
            <a:prstDash val="solid"/>
            <a:headEnd type="none" len="sm" w="sm"/>
            <a:tailEnd type="none" len="sm" w="sm"/>
          </a:ln>
        </p:spPr>
      </p:sp>
      <p:sp>
        <p:nvSpPr>
          <p:cNvPr name="AutoShape 115" id="115"/>
          <p:cNvSpPr/>
          <p:nvPr/>
        </p:nvSpPr>
        <p:spPr>
          <a:xfrm>
            <a:off x="866775" y="2667000"/>
            <a:ext cx="16335375" cy="0"/>
          </a:xfrm>
          <a:prstGeom prst="line">
            <a:avLst/>
          </a:prstGeom>
          <a:ln cap="flat" w="19050">
            <a:solidFill>
              <a:srgbClr val="D8B58F"/>
            </a:solidFill>
            <a:prstDash val="solid"/>
            <a:headEnd type="none" len="sm" w="sm"/>
            <a:tailEnd type="none" len="sm" w="sm"/>
          </a:ln>
        </p:spPr>
      </p:sp>
      <p:sp>
        <p:nvSpPr>
          <p:cNvPr name="AutoShape 116" id="116"/>
          <p:cNvSpPr/>
          <p:nvPr/>
        </p:nvSpPr>
        <p:spPr>
          <a:xfrm>
            <a:off x="866775" y="3429000"/>
            <a:ext cx="16335375" cy="0"/>
          </a:xfrm>
          <a:prstGeom prst="line">
            <a:avLst/>
          </a:prstGeom>
          <a:ln cap="flat" w="19050">
            <a:solidFill>
              <a:srgbClr val="D8B58F"/>
            </a:solidFill>
            <a:prstDash val="solid"/>
            <a:headEnd type="none" len="sm" w="sm"/>
            <a:tailEnd type="none" len="sm" w="sm"/>
          </a:ln>
        </p:spPr>
      </p:sp>
      <p:sp>
        <p:nvSpPr>
          <p:cNvPr name="AutoShape 117" id="117"/>
          <p:cNvSpPr/>
          <p:nvPr/>
        </p:nvSpPr>
        <p:spPr>
          <a:xfrm>
            <a:off x="866775" y="4191000"/>
            <a:ext cx="16335375" cy="0"/>
          </a:xfrm>
          <a:prstGeom prst="line">
            <a:avLst/>
          </a:prstGeom>
          <a:ln cap="flat" w="19050">
            <a:solidFill>
              <a:srgbClr val="D8B58F"/>
            </a:solidFill>
            <a:prstDash val="solid"/>
            <a:headEnd type="none" len="sm" w="sm"/>
            <a:tailEnd type="none" len="sm" w="sm"/>
          </a:ln>
        </p:spPr>
      </p:sp>
      <p:sp>
        <p:nvSpPr>
          <p:cNvPr name="AutoShape 118" id="118"/>
          <p:cNvSpPr/>
          <p:nvPr/>
        </p:nvSpPr>
        <p:spPr>
          <a:xfrm>
            <a:off x="866775" y="4953000"/>
            <a:ext cx="16335375" cy="0"/>
          </a:xfrm>
          <a:prstGeom prst="line">
            <a:avLst/>
          </a:prstGeom>
          <a:ln cap="flat" w="19050">
            <a:solidFill>
              <a:srgbClr val="D8B58F"/>
            </a:solidFill>
            <a:prstDash val="solid"/>
            <a:headEnd type="none" len="sm" w="sm"/>
            <a:tailEnd type="none" len="sm" w="sm"/>
          </a:ln>
        </p:spPr>
      </p:sp>
      <p:sp>
        <p:nvSpPr>
          <p:cNvPr name="AutoShape 119" id="119"/>
          <p:cNvSpPr/>
          <p:nvPr/>
        </p:nvSpPr>
        <p:spPr>
          <a:xfrm>
            <a:off x="866775" y="5715000"/>
            <a:ext cx="16335375" cy="0"/>
          </a:xfrm>
          <a:prstGeom prst="line">
            <a:avLst/>
          </a:prstGeom>
          <a:ln cap="flat" w="19050">
            <a:solidFill>
              <a:srgbClr val="D8B58F"/>
            </a:solidFill>
            <a:prstDash val="solid"/>
            <a:headEnd type="none" len="sm" w="sm"/>
            <a:tailEnd type="none" len="sm" w="sm"/>
          </a:ln>
        </p:spPr>
      </p:sp>
      <p:sp>
        <p:nvSpPr>
          <p:cNvPr name="AutoShape 120" id="120"/>
          <p:cNvSpPr/>
          <p:nvPr/>
        </p:nvSpPr>
        <p:spPr>
          <a:xfrm>
            <a:off x="2066925" y="7353300"/>
            <a:ext cx="13773150" cy="0"/>
          </a:xfrm>
          <a:prstGeom prst="line">
            <a:avLst/>
          </a:prstGeom>
          <a:ln cap="flat" w="19050">
            <a:solidFill>
              <a:srgbClr val="C9785A"/>
            </a:solidFill>
            <a:prstDash val="solid"/>
            <a:headEnd type="none" len="sm" w="sm"/>
            <a:tailEnd type="none" len="sm" w="sm"/>
          </a:ln>
        </p:spPr>
      </p:sp>
      <p:grpSp>
        <p:nvGrpSpPr>
          <p:cNvPr name="Group 121" id="121"/>
          <p:cNvGrpSpPr/>
          <p:nvPr/>
        </p:nvGrpSpPr>
        <p:grpSpPr>
          <a:xfrm rot="0">
            <a:off x="1552575" y="7096125"/>
            <a:ext cx="514350" cy="514350"/>
            <a:chOff x="0" y="0"/>
            <a:chExt cx="685800" cy="685800"/>
          </a:xfrm>
        </p:grpSpPr>
        <p:sp>
          <p:nvSpPr>
            <p:cNvPr name="Freeform 122" id="122"/>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C9785A"/>
            </a:solidFill>
          </p:spPr>
        </p:sp>
        <p:sp>
          <p:nvSpPr>
            <p:cNvPr name="TextBox 123" id="123"/>
            <p:cNvSpPr txBox="true"/>
            <p:nvPr/>
          </p:nvSpPr>
          <p:spPr>
            <a:xfrm>
              <a:off x="0" y="-38100"/>
              <a:ext cx="685800" cy="723900"/>
            </a:xfrm>
            <a:prstGeom prst="rect">
              <a:avLst/>
            </a:prstGeom>
          </p:spPr>
          <p:txBody>
            <a:bodyPr anchor="ctr" rtlCol="false" tIns="50800" lIns="50800" bIns="50800" rIns="50800"/>
            <a:lstStyle/>
            <a:p>
              <a:pPr algn="l">
                <a:lnSpc>
                  <a:spcPts val="1679"/>
                </a:lnSpc>
              </a:pPr>
            </a:p>
          </p:txBody>
        </p:sp>
      </p:grpSp>
      <p:sp>
        <p:nvSpPr>
          <p:cNvPr name="TextBox 124" id="124"/>
          <p:cNvSpPr txBox="true"/>
          <p:nvPr/>
        </p:nvSpPr>
        <p:spPr>
          <a:xfrm rot="0">
            <a:off x="1552575" y="7267575"/>
            <a:ext cx="514350" cy="214630"/>
          </a:xfrm>
          <a:prstGeom prst="rect">
            <a:avLst/>
          </a:prstGeom>
        </p:spPr>
        <p:txBody>
          <a:bodyPr anchor="t" rtlCol="false" tIns="0" lIns="0" bIns="0" rIns="0">
            <a:spAutoFit/>
          </a:bodyPr>
          <a:lstStyle/>
          <a:p>
            <a:pPr algn="ctr">
              <a:lnSpc>
                <a:spcPts val="1700"/>
              </a:lnSpc>
            </a:pPr>
            <a:r>
              <a:rPr lang="en-US" sz="1700" b="true">
                <a:solidFill>
                  <a:srgbClr val="FFFFFF"/>
                </a:solidFill>
                <a:latin typeface="Livvic Bold"/>
                <a:ea typeface="Livvic Bold"/>
                <a:cs typeface="Livvic Bold"/>
                <a:sym typeface="Livvic Bold"/>
              </a:rPr>
              <a:t>1</a:t>
            </a:r>
          </a:p>
        </p:txBody>
      </p:sp>
      <p:sp>
        <p:nvSpPr>
          <p:cNvPr name="TextBox 125" id="125"/>
          <p:cNvSpPr txBox="true"/>
          <p:nvPr/>
        </p:nvSpPr>
        <p:spPr>
          <a:xfrm rot="0">
            <a:off x="809625" y="7839075"/>
            <a:ext cx="2000250" cy="443230"/>
          </a:xfrm>
          <a:prstGeom prst="rect">
            <a:avLst/>
          </a:prstGeom>
        </p:spPr>
        <p:txBody>
          <a:bodyPr anchor="t" rtlCol="false" tIns="0" lIns="0" bIns="0" rIns="0">
            <a:spAutoFit/>
          </a:bodyPr>
          <a:lstStyle/>
          <a:p>
            <a:pPr algn="ctr">
              <a:lnSpc>
                <a:spcPts val="1700"/>
              </a:lnSpc>
            </a:pPr>
            <a:r>
              <a:rPr lang="en-US" b="true" sz="1700">
                <a:solidFill>
                  <a:srgbClr val="24252F"/>
                </a:solidFill>
                <a:latin typeface="DM Sans Bold"/>
                <a:ea typeface="DM Sans Bold"/>
                <a:cs typeface="DM Sans Bold"/>
                <a:sym typeface="DM Sans Bold"/>
              </a:rPr>
              <a:t>MASSIVE</a:t>
            </a:r>
          </a:p>
          <a:p>
            <a:pPr algn="ctr">
              <a:lnSpc>
                <a:spcPts val="1700"/>
              </a:lnSpc>
            </a:pPr>
            <a:r>
              <a:rPr lang="en-US" b="true" sz="1700">
                <a:solidFill>
                  <a:srgbClr val="24252F"/>
                </a:solidFill>
                <a:latin typeface="DM Sans Bold"/>
                <a:ea typeface="DM Sans Bold"/>
                <a:cs typeface="DM Sans Bold"/>
                <a:sym typeface="DM Sans Bold"/>
              </a:rPr>
              <a:t>DATA</a:t>
            </a:r>
          </a:p>
        </p:txBody>
      </p:sp>
      <p:grpSp>
        <p:nvGrpSpPr>
          <p:cNvPr name="Group 126" id="126"/>
          <p:cNvGrpSpPr/>
          <p:nvPr/>
        </p:nvGrpSpPr>
        <p:grpSpPr>
          <a:xfrm rot="0">
            <a:off x="4410075" y="7096125"/>
            <a:ext cx="514350" cy="514350"/>
            <a:chOff x="0" y="0"/>
            <a:chExt cx="685800" cy="685800"/>
          </a:xfrm>
        </p:grpSpPr>
        <p:sp>
          <p:nvSpPr>
            <p:cNvPr name="Freeform 127" id="127"/>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4252F"/>
            </a:solidFill>
          </p:spPr>
        </p:sp>
        <p:sp>
          <p:nvSpPr>
            <p:cNvPr name="TextBox 128" id="128"/>
            <p:cNvSpPr txBox="true"/>
            <p:nvPr/>
          </p:nvSpPr>
          <p:spPr>
            <a:xfrm>
              <a:off x="0" y="-38100"/>
              <a:ext cx="685800" cy="723900"/>
            </a:xfrm>
            <a:prstGeom prst="rect">
              <a:avLst/>
            </a:prstGeom>
          </p:spPr>
          <p:txBody>
            <a:bodyPr anchor="ctr" rtlCol="false" tIns="50800" lIns="50800" bIns="50800" rIns="50800"/>
            <a:lstStyle/>
            <a:p>
              <a:pPr algn="l">
                <a:lnSpc>
                  <a:spcPts val="1679"/>
                </a:lnSpc>
              </a:pPr>
            </a:p>
          </p:txBody>
        </p:sp>
      </p:grpSp>
      <p:sp>
        <p:nvSpPr>
          <p:cNvPr name="TextBox 129" id="129"/>
          <p:cNvSpPr txBox="true"/>
          <p:nvPr/>
        </p:nvSpPr>
        <p:spPr>
          <a:xfrm rot="0">
            <a:off x="4410075" y="7267575"/>
            <a:ext cx="514350" cy="214630"/>
          </a:xfrm>
          <a:prstGeom prst="rect">
            <a:avLst/>
          </a:prstGeom>
        </p:spPr>
        <p:txBody>
          <a:bodyPr anchor="t" rtlCol="false" tIns="0" lIns="0" bIns="0" rIns="0">
            <a:spAutoFit/>
          </a:bodyPr>
          <a:lstStyle/>
          <a:p>
            <a:pPr algn="ctr">
              <a:lnSpc>
                <a:spcPts val="1700"/>
              </a:lnSpc>
            </a:pPr>
            <a:r>
              <a:rPr lang="en-US" sz="1700" b="true">
                <a:solidFill>
                  <a:srgbClr val="FFFFFF"/>
                </a:solidFill>
                <a:latin typeface="Livvic Bold"/>
                <a:ea typeface="Livvic Bold"/>
                <a:cs typeface="Livvic Bold"/>
                <a:sym typeface="Livvic Bold"/>
              </a:rPr>
              <a:t>2</a:t>
            </a:r>
          </a:p>
        </p:txBody>
      </p:sp>
      <p:sp>
        <p:nvSpPr>
          <p:cNvPr name="TextBox 130" id="130"/>
          <p:cNvSpPr txBox="true"/>
          <p:nvPr/>
        </p:nvSpPr>
        <p:spPr>
          <a:xfrm rot="0">
            <a:off x="3667125" y="7839075"/>
            <a:ext cx="2000250" cy="443230"/>
          </a:xfrm>
          <a:prstGeom prst="rect">
            <a:avLst/>
          </a:prstGeom>
        </p:spPr>
        <p:txBody>
          <a:bodyPr anchor="t" rtlCol="false" tIns="0" lIns="0" bIns="0" rIns="0">
            <a:spAutoFit/>
          </a:bodyPr>
          <a:lstStyle/>
          <a:p>
            <a:pPr algn="ctr">
              <a:lnSpc>
                <a:spcPts val="1700"/>
              </a:lnSpc>
            </a:pPr>
            <a:r>
              <a:rPr lang="en-US" b="true" sz="1700">
                <a:solidFill>
                  <a:srgbClr val="24252F"/>
                </a:solidFill>
                <a:latin typeface="DM Sans Bold"/>
                <a:ea typeface="DM Sans Bold"/>
                <a:cs typeface="DM Sans Bold"/>
                <a:sym typeface="DM Sans Bold"/>
              </a:rPr>
              <a:t>DISTRIBUTED</a:t>
            </a:r>
          </a:p>
          <a:p>
            <a:pPr algn="ctr">
              <a:lnSpc>
                <a:spcPts val="1700"/>
              </a:lnSpc>
            </a:pPr>
            <a:r>
              <a:rPr lang="en-US" b="true" sz="1700">
                <a:solidFill>
                  <a:srgbClr val="24252F"/>
                </a:solidFill>
                <a:latin typeface="DM Sans Bold"/>
                <a:ea typeface="DM Sans Bold"/>
                <a:cs typeface="DM Sans Bold"/>
                <a:sym typeface="DM Sans Bold"/>
              </a:rPr>
              <a:t>STORAGE</a:t>
            </a:r>
          </a:p>
        </p:txBody>
      </p:sp>
      <p:grpSp>
        <p:nvGrpSpPr>
          <p:cNvPr name="Group 131" id="131"/>
          <p:cNvGrpSpPr/>
          <p:nvPr/>
        </p:nvGrpSpPr>
        <p:grpSpPr>
          <a:xfrm rot="0">
            <a:off x="7267575" y="7096125"/>
            <a:ext cx="514350" cy="514350"/>
            <a:chOff x="0" y="0"/>
            <a:chExt cx="685800" cy="685800"/>
          </a:xfrm>
        </p:grpSpPr>
        <p:sp>
          <p:nvSpPr>
            <p:cNvPr name="Freeform 132" id="132"/>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C9785A"/>
            </a:solidFill>
          </p:spPr>
        </p:sp>
        <p:sp>
          <p:nvSpPr>
            <p:cNvPr name="TextBox 133" id="133"/>
            <p:cNvSpPr txBox="true"/>
            <p:nvPr/>
          </p:nvSpPr>
          <p:spPr>
            <a:xfrm>
              <a:off x="0" y="-38100"/>
              <a:ext cx="685800" cy="723900"/>
            </a:xfrm>
            <a:prstGeom prst="rect">
              <a:avLst/>
            </a:prstGeom>
          </p:spPr>
          <p:txBody>
            <a:bodyPr anchor="ctr" rtlCol="false" tIns="50800" lIns="50800" bIns="50800" rIns="50800"/>
            <a:lstStyle/>
            <a:p>
              <a:pPr algn="l">
                <a:lnSpc>
                  <a:spcPts val="1679"/>
                </a:lnSpc>
              </a:pPr>
            </a:p>
          </p:txBody>
        </p:sp>
      </p:grpSp>
      <p:sp>
        <p:nvSpPr>
          <p:cNvPr name="TextBox 134" id="134"/>
          <p:cNvSpPr txBox="true"/>
          <p:nvPr/>
        </p:nvSpPr>
        <p:spPr>
          <a:xfrm rot="0">
            <a:off x="7267575" y="7267575"/>
            <a:ext cx="514350" cy="214630"/>
          </a:xfrm>
          <a:prstGeom prst="rect">
            <a:avLst/>
          </a:prstGeom>
        </p:spPr>
        <p:txBody>
          <a:bodyPr anchor="t" rtlCol="false" tIns="0" lIns="0" bIns="0" rIns="0">
            <a:spAutoFit/>
          </a:bodyPr>
          <a:lstStyle/>
          <a:p>
            <a:pPr algn="ctr">
              <a:lnSpc>
                <a:spcPts val="1700"/>
              </a:lnSpc>
            </a:pPr>
            <a:r>
              <a:rPr lang="en-US" sz="1700" b="true">
                <a:solidFill>
                  <a:srgbClr val="FFFFFF"/>
                </a:solidFill>
                <a:latin typeface="Livvic Bold"/>
                <a:ea typeface="Livvic Bold"/>
                <a:cs typeface="Livvic Bold"/>
                <a:sym typeface="Livvic Bold"/>
              </a:rPr>
              <a:t>3</a:t>
            </a:r>
          </a:p>
        </p:txBody>
      </p:sp>
      <p:sp>
        <p:nvSpPr>
          <p:cNvPr name="TextBox 135" id="135"/>
          <p:cNvSpPr txBox="true"/>
          <p:nvPr/>
        </p:nvSpPr>
        <p:spPr>
          <a:xfrm rot="0">
            <a:off x="6524625" y="7839075"/>
            <a:ext cx="2000250" cy="228918"/>
          </a:xfrm>
          <a:prstGeom prst="rect">
            <a:avLst/>
          </a:prstGeom>
        </p:spPr>
        <p:txBody>
          <a:bodyPr anchor="t" rtlCol="false" tIns="0" lIns="0" bIns="0" rIns="0">
            <a:spAutoFit/>
          </a:bodyPr>
          <a:lstStyle/>
          <a:p>
            <a:pPr algn="ctr">
              <a:lnSpc>
                <a:spcPts val="1700"/>
              </a:lnSpc>
            </a:pPr>
            <a:r>
              <a:rPr lang="en-US" b="true" sz="1700">
                <a:solidFill>
                  <a:srgbClr val="24252F"/>
                </a:solidFill>
                <a:latin typeface="DM Sans Bold"/>
                <a:ea typeface="DM Sans Bold"/>
                <a:cs typeface="DM Sans Bold"/>
                <a:sym typeface="DM Sans Bold"/>
              </a:rPr>
              <a:t>REPLICATION</a:t>
            </a:r>
          </a:p>
        </p:txBody>
      </p:sp>
      <p:grpSp>
        <p:nvGrpSpPr>
          <p:cNvPr name="Group 136" id="136"/>
          <p:cNvGrpSpPr/>
          <p:nvPr/>
        </p:nvGrpSpPr>
        <p:grpSpPr>
          <a:xfrm rot="0">
            <a:off x="10125075" y="7096125"/>
            <a:ext cx="514350" cy="514350"/>
            <a:chOff x="0" y="0"/>
            <a:chExt cx="685800" cy="685800"/>
          </a:xfrm>
        </p:grpSpPr>
        <p:sp>
          <p:nvSpPr>
            <p:cNvPr name="Freeform 137" id="137"/>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4252F"/>
            </a:solidFill>
          </p:spPr>
        </p:sp>
        <p:sp>
          <p:nvSpPr>
            <p:cNvPr name="TextBox 138" id="138"/>
            <p:cNvSpPr txBox="true"/>
            <p:nvPr/>
          </p:nvSpPr>
          <p:spPr>
            <a:xfrm>
              <a:off x="0" y="-38100"/>
              <a:ext cx="685800" cy="723900"/>
            </a:xfrm>
            <a:prstGeom prst="rect">
              <a:avLst/>
            </a:prstGeom>
          </p:spPr>
          <p:txBody>
            <a:bodyPr anchor="ctr" rtlCol="false" tIns="50800" lIns="50800" bIns="50800" rIns="50800"/>
            <a:lstStyle/>
            <a:p>
              <a:pPr algn="l">
                <a:lnSpc>
                  <a:spcPts val="1679"/>
                </a:lnSpc>
              </a:pPr>
            </a:p>
          </p:txBody>
        </p:sp>
      </p:grpSp>
      <p:sp>
        <p:nvSpPr>
          <p:cNvPr name="TextBox 139" id="139"/>
          <p:cNvSpPr txBox="true"/>
          <p:nvPr/>
        </p:nvSpPr>
        <p:spPr>
          <a:xfrm rot="0">
            <a:off x="10125075" y="7267575"/>
            <a:ext cx="514350" cy="214630"/>
          </a:xfrm>
          <a:prstGeom prst="rect">
            <a:avLst/>
          </a:prstGeom>
        </p:spPr>
        <p:txBody>
          <a:bodyPr anchor="t" rtlCol="false" tIns="0" lIns="0" bIns="0" rIns="0">
            <a:spAutoFit/>
          </a:bodyPr>
          <a:lstStyle/>
          <a:p>
            <a:pPr algn="ctr">
              <a:lnSpc>
                <a:spcPts val="1700"/>
              </a:lnSpc>
            </a:pPr>
            <a:r>
              <a:rPr lang="en-US" sz="1700" b="true">
                <a:solidFill>
                  <a:srgbClr val="FFFFFF"/>
                </a:solidFill>
                <a:latin typeface="Livvic Bold"/>
                <a:ea typeface="Livvic Bold"/>
                <a:cs typeface="Livvic Bold"/>
                <a:sym typeface="Livvic Bold"/>
              </a:rPr>
              <a:t>4</a:t>
            </a:r>
          </a:p>
        </p:txBody>
      </p:sp>
      <p:sp>
        <p:nvSpPr>
          <p:cNvPr name="TextBox 140" id="140"/>
          <p:cNvSpPr txBox="true"/>
          <p:nvPr/>
        </p:nvSpPr>
        <p:spPr>
          <a:xfrm rot="0">
            <a:off x="9382125" y="7839075"/>
            <a:ext cx="2000250" cy="443230"/>
          </a:xfrm>
          <a:prstGeom prst="rect">
            <a:avLst/>
          </a:prstGeom>
        </p:spPr>
        <p:txBody>
          <a:bodyPr anchor="t" rtlCol="false" tIns="0" lIns="0" bIns="0" rIns="0">
            <a:spAutoFit/>
          </a:bodyPr>
          <a:lstStyle/>
          <a:p>
            <a:pPr algn="ctr">
              <a:lnSpc>
                <a:spcPts val="1700"/>
              </a:lnSpc>
            </a:pPr>
            <a:r>
              <a:rPr lang="en-US" b="true" sz="1700">
                <a:solidFill>
                  <a:srgbClr val="24252F"/>
                </a:solidFill>
                <a:latin typeface="DM Sans Bold"/>
                <a:ea typeface="DM Sans Bold"/>
                <a:cs typeface="DM Sans Bold"/>
                <a:sym typeface="DM Sans Bold"/>
              </a:rPr>
              <a:t>FAULT</a:t>
            </a:r>
          </a:p>
          <a:p>
            <a:pPr algn="ctr">
              <a:lnSpc>
                <a:spcPts val="1700"/>
              </a:lnSpc>
            </a:pPr>
            <a:r>
              <a:rPr lang="en-US" b="true" sz="1700">
                <a:solidFill>
                  <a:srgbClr val="24252F"/>
                </a:solidFill>
                <a:latin typeface="DM Sans Bold"/>
                <a:ea typeface="DM Sans Bold"/>
                <a:cs typeface="DM Sans Bold"/>
                <a:sym typeface="DM Sans Bold"/>
              </a:rPr>
              <a:t>TOLERANCE</a:t>
            </a:r>
          </a:p>
        </p:txBody>
      </p:sp>
      <p:grpSp>
        <p:nvGrpSpPr>
          <p:cNvPr name="Group 141" id="141"/>
          <p:cNvGrpSpPr/>
          <p:nvPr/>
        </p:nvGrpSpPr>
        <p:grpSpPr>
          <a:xfrm rot="0">
            <a:off x="12982575" y="7096125"/>
            <a:ext cx="514350" cy="514350"/>
            <a:chOff x="0" y="0"/>
            <a:chExt cx="685800" cy="685800"/>
          </a:xfrm>
        </p:grpSpPr>
        <p:sp>
          <p:nvSpPr>
            <p:cNvPr name="Freeform 142" id="142"/>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C9785A"/>
            </a:solidFill>
          </p:spPr>
        </p:sp>
        <p:sp>
          <p:nvSpPr>
            <p:cNvPr name="TextBox 143" id="143"/>
            <p:cNvSpPr txBox="true"/>
            <p:nvPr/>
          </p:nvSpPr>
          <p:spPr>
            <a:xfrm>
              <a:off x="0" y="-38100"/>
              <a:ext cx="685800" cy="723900"/>
            </a:xfrm>
            <a:prstGeom prst="rect">
              <a:avLst/>
            </a:prstGeom>
          </p:spPr>
          <p:txBody>
            <a:bodyPr anchor="ctr" rtlCol="false" tIns="50800" lIns="50800" bIns="50800" rIns="50800"/>
            <a:lstStyle/>
            <a:p>
              <a:pPr algn="l">
                <a:lnSpc>
                  <a:spcPts val="1679"/>
                </a:lnSpc>
              </a:pPr>
            </a:p>
          </p:txBody>
        </p:sp>
      </p:grpSp>
      <p:sp>
        <p:nvSpPr>
          <p:cNvPr name="TextBox 144" id="144"/>
          <p:cNvSpPr txBox="true"/>
          <p:nvPr/>
        </p:nvSpPr>
        <p:spPr>
          <a:xfrm rot="0">
            <a:off x="12982575" y="7267575"/>
            <a:ext cx="514350" cy="214630"/>
          </a:xfrm>
          <a:prstGeom prst="rect">
            <a:avLst/>
          </a:prstGeom>
        </p:spPr>
        <p:txBody>
          <a:bodyPr anchor="t" rtlCol="false" tIns="0" lIns="0" bIns="0" rIns="0">
            <a:spAutoFit/>
          </a:bodyPr>
          <a:lstStyle/>
          <a:p>
            <a:pPr algn="ctr">
              <a:lnSpc>
                <a:spcPts val="1700"/>
              </a:lnSpc>
            </a:pPr>
            <a:r>
              <a:rPr lang="en-US" sz="1700" b="true">
                <a:solidFill>
                  <a:srgbClr val="FFFFFF"/>
                </a:solidFill>
                <a:latin typeface="Livvic Bold"/>
                <a:ea typeface="Livvic Bold"/>
                <a:cs typeface="Livvic Bold"/>
                <a:sym typeface="Livvic Bold"/>
              </a:rPr>
              <a:t>5</a:t>
            </a:r>
          </a:p>
        </p:txBody>
      </p:sp>
      <p:sp>
        <p:nvSpPr>
          <p:cNvPr name="TextBox 145" id="145"/>
          <p:cNvSpPr txBox="true"/>
          <p:nvPr/>
        </p:nvSpPr>
        <p:spPr>
          <a:xfrm rot="0">
            <a:off x="12239625" y="7839075"/>
            <a:ext cx="2000250" cy="228918"/>
          </a:xfrm>
          <a:prstGeom prst="rect">
            <a:avLst/>
          </a:prstGeom>
        </p:spPr>
        <p:txBody>
          <a:bodyPr anchor="t" rtlCol="false" tIns="0" lIns="0" bIns="0" rIns="0">
            <a:spAutoFit/>
          </a:bodyPr>
          <a:lstStyle/>
          <a:p>
            <a:pPr algn="ctr">
              <a:lnSpc>
                <a:spcPts val="1700"/>
              </a:lnSpc>
            </a:pPr>
            <a:r>
              <a:rPr lang="en-US" b="true" sz="1700">
                <a:solidFill>
                  <a:srgbClr val="24252F"/>
                </a:solidFill>
                <a:latin typeface="DM Sans Bold"/>
                <a:ea typeface="DM Sans Bold"/>
                <a:cs typeface="DM Sans Bold"/>
                <a:sym typeface="DM Sans Bold"/>
              </a:rPr>
              <a:t>SCALABILITY</a:t>
            </a:r>
          </a:p>
        </p:txBody>
      </p:sp>
      <p:grpSp>
        <p:nvGrpSpPr>
          <p:cNvPr name="Group 146" id="146"/>
          <p:cNvGrpSpPr/>
          <p:nvPr/>
        </p:nvGrpSpPr>
        <p:grpSpPr>
          <a:xfrm rot="0">
            <a:off x="15840075" y="7096125"/>
            <a:ext cx="514350" cy="514350"/>
            <a:chOff x="0" y="0"/>
            <a:chExt cx="685800" cy="685800"/>
          </a:xfrm>
        </p:grpSpPr>
        <p:sp>
          <p:nvSpPr>
            <p:cNvPr name="Freeform 147" id="147"/>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4252F"/>
            </a:solidFill>
          </p:spPr>
        </p:sp>
        <p:sp>
          <p:nvSpPr>
            <p:cNvPr name="TextBox 148" id="148"/>
            <p:cNvSpPr txBox="true"/>
            <p:nvPr/>
          </p:nvSpPr>
          <p:spPr>
            <a:xfrm>
              <a:off x="0" y="-38100"/>
              <a:ext cx="685800" cy="723900"/>
            </a:xfrm>
            <a:prstGeom prst="rect">
              <a:avLst/>
            </a:prstGeom>
          </p:spPr>
          <p:txBody>
            <a:bodyPr anchor="ctr" rtlCol="false" tIns="50800" lIns="50800" bIns="50800" rIns="50800"/>
            <a:lstStyle/>
            <a:p>
              <a:pPr algn="l">
                <a:lnSpc>
                  <a:spcPts val="1679"/>
                </a:lnSpc>
              </a:pPr>
            </a:p>
          </p:txBody>
        </p:sp>
      </p:grpSp>
      <p:sp>
        <p:nvSpPr>
          <p:cNvPr name="TextBox 149" id="149"/>
          <p:cNvSpPr txBox="true"/>
          <p:nvPr/>
        </p:nvSpPr>
        <p:spPr>
          <a:xfrm rot="0">
            <a:off x="15840075" y="7267575"/>
            <a:ext cx="514350" cy="214630"/>
          </a:xfrm>
          <a:prstGeom prst="rect">
            <a:avLst/>
          </a:prstGeom>
        </p:spPr>
        <p:txBody>
          <a:bodyPr anchor="t" rtlCol="false" tIns="0" lIns="0" bIns="0" rIns="0">
            <a:spAutoFit/>
          </a:bodyPr>
          <a:lstStyle/>
          <a:p>
            <a:pPr algn="ctr">
              <a:lnSpc>
                <a:spcPts val="1700"/>
              </a:lnSpc>
            </a:pPr>
            <a:r>
              <a:rPr lang="en-US" sz="1700" b="true">
                <a:solidFill>
                  <a:srgbClr val="FFFFFF"/>
                </a:solidFill>
                <a:latin typeface="Livvic Bold"/>
                <a:ea typeface="Livvic Bold"/>
                <a:cs typeface="Livvic Bold"/>
                <a:sym typeface="Livvic Bold"/>
              </a:rPr>
              <a:t>6</a:t>
            </a:r>
          </a:p>
        </p:txBody>
      </p:sp>
      <p:sp>
        <p:nvSpPr>
          <p:cNvPr name="TextBox 150" id="150"/>
          <p:cNvSpPr txBox="true"/>
          <p:nvPr/>
        </p:nvSpPr>
        <p:spPr>
          <a:xfrm rot="0">
            <a:off x="15097125" y="7839075"/>
            <a:ext cx="2000250" cy="443230"/>
          </a:xfrm>
          <a:prstGeom prst="rect">
            <a:avLst/>
          </a:prstGeom>
        </p:spPr>
        <p:txBody>
          <a:bodyPr anchor="t" rtlCol="false" tIns="0" lIns="0" bIns="0" rIns="0">
            <a:spAutoFit/>
          </a:bodyPr>
          <a:lstStyle/>
          <a:p>
            <a:pPr algn="ctr">
              <a:lnSpc>
                <a:spcPts val="1700"/>
              </a:lnSpc>
            </a:pPr>
            <a:r>
              <a:rPr lang="en-US" b="true" sz="1700">
                <a:solidFill>
                  <a:srgbClr val="24252F"/>
                </a:solidFill>
                <a:latin typeface="DM Sans Bold"/>
                <a:ea typeface="DM Sans Bold"/>
                <a:cs typeface="DM Sans Bold"/>
                <a:sym typeface="DM Sans Bold"/>
              </a:rPr>
              <a:t>LARGE-SCALE PROCESSING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Title"/>
          <p:cNvSpPr txBox="1"/>
          <p:nvPr/>
        </p:nvSpPr>
        <p:spPr>
          <a:xfrm>
            <a:off x="857250" y="428854"/>
            <a:ext cx="15727680" cy="786384"/>
          </a:xfrm>
          <a:prstGeom prst="rect">
            <a:avLst/>
          </a:prstGeom>
          <a:noFill/>
        </p:spPr>
        <p:txBody>
          <a:bodyPr wrap="square" lIns="0" rIns="0" tIns="0" bIns="0" anchor="t">
            <a:noAutofit/>
          </a:bodyPr>
          <a:lstStyle/>
          <a:p>
            <a:pPr algn="l">
              <a:lnSpc>
                <a:spcPts val="6439"/>
              </a:lnSpc>
            </a:pPr>
            <a:r>
              <a:rPr sz="4600" b="1">
                <a:solidFill>
                  <a:srgbClr val="24252F"/>
                </a:solidFill>
                <a:latin typeface="Open Sauce Bold"/>
              </a:rPr>
              <a:t>Case Study — Why E-Commerce Needs Data Quality</a:t>
            </a:r>
          </a:p>
        </p:txBody>
      </p:sp>
      <p:sp>
        <p:nvSpPr>
          <p:cNvPr id="3" name="Eyebrow"/>
          <p:cNvSpPr txBox="1"/>
          <p:nvPr/>
        </p:nvSpPr>
        <p:spPr>
          <a:xfrm>
            <a:off x="857250" y="1228954"/>
            <a:ext cx="10972800" cy="283464"/>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THE BUSINESS PROBLEM</a:t>
            </a:r>
          </a:p>
        </p:txBody>
      </p:sp>
      <p:cxnSp>
        <p:nvCxnSpPr>
          <p:cNvPr id="4" name="Connector 3"/>
          <p:cNvCxnSpPr/>
          <p:nvPr/>
        </p:nvCxnSpPr>
        <p:spPr>
          <a:xfrm>
            <a:off x="857250" y="1524305"/>
            <a:ext cx="16573500" cy="0"/>
          </a:xfrm>
          <a:prstGeom prst="line">
            <a:avLst/>
          </a:prstGeom>
          <a:ln w="19050">
            <a:solidFill>
              <a:srgbClr val="D8B58F"/>
            </a:solidFill>
          </a:ln>
        </p:spPr>
      </p:cxnSp>
      <p:cxnSp>
        <p:nvCxnSpPr>
          <p:cNvPr id="5" name="Connector 4"/>
          <p:cNvCxnSpPr/>
          <p:nvPr/>
        </p:nvCxnSpPr>
        <p:spPr>
          <a:xfrm>
            <a:off x="857250" y="9601200"/>
            <a:ext cx="16573500" cy="0"/>
          </a:xfrm>
          <a:prstGeom prst="line">
            <a:avLst/>
          </a:prstGeom>
          <a:ln w="19050">
            <a:solidFill>
              <a:srgbClr val="D8B58F"/>
            </a:solidFill>
          </a:ln>
        </p:spPr>
      </p:cxnSp>
      <p:sp>
        <p:nvSpPr>
          <p:cNvPr id="6" name="Footer"/>
          <p:cNvSpPr txBox="1"/>
          <p:nvPr/>
        </p:nvSpPr>
        <p:spPr>
          <a:xfrm>
            <a:off x="857250" y="9765792"/>
            <a:ext cx="2377440" cy="237744"/>
          </a:xfrm>
          <a:prstGeom prst="rect">
            <a:avLst/>
          </a:prstGeom>
          <a:noFill/>
        </p:spPr>
        <p:txBody>
          <a:bodyPr wrap="square" lIns="0" rIns="0" tIns="0" bIns="0" anchor="t">
            <a:noAutofit/>
          </a:bodyPr>
          <a:lstStyle/>
          <a:p>
            <a:pPr algn="l">
              <a:lnSpc>
                <a:spcPts val="1959"/>
              </a:lnSpc>
            </a:pPr>
            <a:r>
              <a:rPr sz="1400" b="0">
                <a:solidFill>
                  <a:srgbClr val="6E6863"/>
                </a:solidFill>
                <a:latin typeface="Open Sauce Medium"/>
              </a:rPr>
              <a:t>ISE Activity 2</a:t>
            </a:r>
          </a:p>
        </p:txBody>
      </p:sp>
      <p:sp>
        <p:nvSpPr>
          <p:cNvPr id="7" name="Page number"/>
          <p:cNvSpPr txBox="1"/>
          <p:nvPr/>
        </p:nvSpPr>
        <p:spPr>
          <a:xfrm>
            <a:off x="17049902" y="9765792"/>
            <a:ext cx="381305" cy="237744"/>
          </a:xfrm>
          <a:prstGeom prst="rect">
            <a:avLst/>
          </a:prstGeom>
          <a:noFill/>
        </p:spPr>
        <p:txBody>
          <a:bodyPr wrap="square" lIns="0" rIns="0" tIns="0" bIns="0" anchor="t">
            <a:noAutofit/>
          </a:bodyPr>
          <a:lstStyle/>
          <a:p>
            <a:pPr algn="r">
              <a:lnSpc>
                <a:spcPts val="1959"/>
              </a:lnSpc>
            </a:pPr>
            <a:r>
              <a:rPr sz="1400" b="0">
                <a:solidFill>
                  <a:srgbClr val="6E6863"/>
                </a:solidFill>
                <a:latin typeface="Open Sauce Medium"/>
              </a:rPr>
              <a:t>7</a:t>
            </a:r>
          </a:p>
        </p:txBody>
      </p:sp>
      <p:sp>
        <p:nvSpPr>
          <p:cNvPr id="8" name="TextBox 7"/>
          <p:cNvSpPr txBox="1"/>
          <p:nvPr/>
        </p:nvSpPr>
        <p:spPr>
          <a:xfrm>
            <a:off x="857250" y="1783080"/>
            <a:ext cx="969264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WHAT GOES WRONG IN ORDER DATA</a:t>
            </a:r>
          </a:p>
        </p:txBody>
      </p:sp>
      <p:sp>
        <p:nvSpPr>
          <p:cNvPr id="9" name="Rounded Rectangle 8"/>
          <p:cNvSpPr/>
          <p:nvPr/>
        </p:nvSpPr>
        <p:spPr>
          <a:xfrm>
            <a:off x="857250" y="2194560"/>
            <a:ext cx="9966960" cy="1188720"/>
          </a:xfrm>
          <a:prstGeom prst="roundRect">
            <a:avLst>
              <a:gd name="adj" fmla="val 10769"/>
            </a:avLst>
          </a:prstGeom>
          <a:solidFill>
            <a:srgbClr val="E8E2DC"/>
          </a:solidFill>
          <a:ln w="19050">
            <a:solidFill>
              <a:srgbClr val="D8B58F"/>
            </a:solidFill>
          </a:ln>
        </p:spPr>
        <p:txBody>
          <a:bodyPr rtlCol="0" anchor="ctr"/>
          <a:lstStyle/>
          <a:p>
            <a:pPr algn="ctr"/>
          </a:p>
        </p:txBody>
      </p:sp>
      <p:sp>
        <p:nvSpPr>
          <p:cNvPr id="10" name="Rounded Rectangle 9"/>
          <p:cNvSpPr/>
          <p:nvPr/>
        </p:nvSpPr>
        <p:spPr>
          <a:xfrm>
            <a:off x="1085850" y="2359152"/>
            <a:ext cx="3749040" cy="859536"/>
          </a:xfrm>
          <a:prstGeom prst="roundRect">
            <a:avLst>
              <a:gd name="adj" fmla="val 10638"/>
            </a:avLst>
          </a:prstGeom>
          <a:solidFill>
            <a:srgbClr val="24252F"/>
          </a:solidFill>
          <a:ln>
            <a:noFill/>
          </a:ln>
        </p:spPr>
        <p:txBody>
          <a:bodyPr rtlCol="0" anchor="ctr"/>
          <a:lstStyle/>
          <a:p>
            <a:pPr algn="ctr"/>
          </a:p>
        </p:txBody>
      </p:sp>
      <p:sp>
        <p:nvSpPr>
          <p:cNvPr id="11" name="TextBox 10"/>
          <p:cNvSpPr txBox="1"/>
          <p:nvPr/>
        </p:nvSpPr>
        <p:spPr>
          <a:xfrm>
            <a:off x="1085850" y="2359152"/>
            <a:ext cx="3749040" cy="859536"/>
          </a:xfrm>
          <a:prstGeom prst="rect">
            <a:avLst/>
          </a:prstGeom>
          <a:noFill/>
        </p:spPr>
        <p:txBody>
          <a:bodyPr wrap="square" lIns="0" rIns="0" tIns="0" bIns="0" anchor="ctr">
            <a:noAutofit/>
          </a:bodyPr>
          <a:lstStyle/>
          <a:p>
            <a:pPr algn="ctr">
              <a:lnSpc>
                <a:spcPts val="2520"/>
              </a:lnSpc>
            </a:pPr>
            <a:r>
              <a:rPr sz="2100" b="1">
                <a:solidFill>
                  <a:srgbClr val="FFFFFF"/>
                </a:solidFill>
                <a:latin typeface="Open Sauce Bold"/>
              </a:rPr>
              <a:t>NEGATIVE PRICE</a:t>
            </a:r>
          </a:p>
        </p:txBody>
      </p:sp>
      <p:cxnSp>
        <p:nvCxnSpPr>
          <p:cNvPr id="12" name="Connector 11"/>
          <p:cNvCxnSpPr/>
          <p:nvPr/>
        </p:nvCxnSpPr>
        <p:spPr>
          <a:xfrm>
            <a:off x="5017770" y="2788920"/>
            <a:ext cx="685800" cy="0"/>
          </a:xfrm>
          <a:prstGeom prst="line">
            <a:avLst/>
          </a:prstGeom>
          <a:ln w="28575">
            <a:solidFill>
              <a:srgbClr val="C9785A"/>
            </a:solidFill>
            <a:tailEnd type="triangle" w="med" len="med"/>
          </a:ln>
        </p:spPr>
      </p:cxnSp>
      <p:sp>
        <p:nvSpPr>
          <p:cNvPr id="13" name="TextBox 12"/>
          <p:cNvSpPr txBox="1"/>
          <p:nvPr/>
        </p:nvSpPr>
        <p:spPr>
          <a:xfrm>
            <a:off x="5932170" y="2304288"/>
            <a:ext cx="4663440" cy="969264"/>
          </a:xfrm>
          <a:prstGeom prst="rect">
            <a:avLst/>
          </a:prstGeom>
          <a:noFill/>
        </p:spPr>
        <p:txBody>
          <a:bodyPr wrap="square" lIns="0" rIns="0" tIns="0" bIns="0" anchor="ctr">
            <a:noAutofit/>
          </a:bodyPr>
          <a:lstStyle/>
          <a:p>
            <a:pPr algn="l">
              <a:lnSpc>
                <a:spcPts val="2730"/>
              </a:lnSpc>
            </a:pPr>
            <a:r>
              <a:rPr sz="2100" b="0">
                <a:solidFill>
                  <a:srgbClr val="24252F"/>
                </a:solidFill>
                <a:latin typeface="Open Sauce Semi-Bold"/>
              </a:rPr>
              <a:t>Revenue and margin reports are wrong</a:t>
            </a:r>
          </a:p>
        </p:txBody>
      </p:sp>
      <p:sp>
        <p:nvSpPr>
          <p:cNvPr id="14" name="Rounded Rectangle 13"/>
          <p:cNvSpPr/>
          <p:nvPr/>
        </p:nvSpPr>
        <p:spPr>
          <a:xfrm>
            <a:off x="857250" y="3566160"/>
            <a:ext cx="9966960" cy="1188720"/>
          </a:xfrm>
          <a:prstGeom prst="roundRect">
            <a:avLst>
              <a:gd name="adj" fmla="val 10769"/>
            </a:avLst>
          </a:prstGeom>
          <a:solidFill>
            <a:srgbClr val="E8E2DC"/>
          </a:solidFill>
          <a:ln w="19050">
            <a:solidFill>
              <a:srgbClr val="D8B58F"/>
            </a:solidFill>
          </a:ln>
        </p:spPr>
        <p:txBody>
          <a:bodyPr rtlCol="0" anchor="ctr"/>
          <a:lstStyle/>
          <a:p>
            <a:pPr algn="ctr"/>
          </a:p>
        </p:txBody>
      </p:sp>
      <p:sp>
        <p:nvSpPr>
          <p:cNvPr id="15" name="Rounded Rectangle 14"/>
          <p:cNvSpPr/>
          <p:nvPr/>
        </p:nvSpPr>
        <p:spPr>
          <a:xfrm>
            <a:off x="1085850" y="3730752"/>
            <a:ext cx="3749040" cy="859536"/>
          </a:xfrm>
          <a:prstGeom prst="roundRect">
            <a:avLst>
              <a:gd name="adj" fmla="val 10638"/>
            </a:avLst>
          </a:prstGeom>
          <a:solidFill>
            <a:srgbClr val="24252F"/>
          </a:solidFill>
          <a:ln>
            <a:noFill/>
          </a:ln>
        </p:spPr>
        <p:txBody>
          <a:bodyPr rtlCol="0" anchor="ctr"/>
          <a:lstStyle/>
          <a:p>
            <a:pPr algn="ctr"/>
          </a:p>
        </p:txBody>
      </p:sp>
      <p:sp>
        <p:nvSpPr>
          <p:cNvPr id="16" name="TextBox 15"/>
          <p:cNvSpPr txBox="1"/>
          <p:nvPr/>
        </p:nvSpPr>
        <p:spPr>
          <a:xfrm>
            <a:off x="1085850" y="3730752"/>
            <a:ext cx="3749040" cy="859536"/>
          </a:xfrm>
          <a:prstGeom prst="rect">
            <a:avLst/>
          </a:prstGeom>
          <a:noFill/>
        </p:spPr>
        <p:txBody>
          <a:bodyPr wrap="square" lIns="0" rIns="0" tIns="0" bIns="0" anchor="ctr">
            <a:noAutofit/>
          </a:bodyPr>
          <a:lstStyle/>
          <a:p>
            <a:pPr algn="ctr">
              <a:lnSpc>
                <a:spcPts val="2520"/>
              </a:lnSpc>
            </a:pPr>
            <a:r>
              <a:rPr sz="2100" b="1">
                <a:solidFill>
                  <a:srgbClr val="FFFFFF"/>
                </a:solidFill>
                <a:latin typeface="Open Sauce Bold"/>
              </a:rPr>
              <a:t>DUPLICATE ORDER ID</a:t>
            </a:r>
          </a:p>
        </p:txBody>
      </p:sp>
      <p:cxnSp>
        <p:nvCxnSpPr>
          <p:cNvPr id="17" name="Connector 16"/>
          <p:cNvCxnSpPr/>
          <p:nvPr/>
        </p:nvCxnSpPr>
        <p:spPr>
          <a:xfrm>
            <a:off x="5017770" y="4160520"/>
            <a:ext cx="685800" cy="0"/>
          </a:xfrm>
          <a:prstGeom prst="line">
            <a:avLst/>
          </a:prstGeom>
          <a:ln w="28575">
            <a:solidFill>
              <a:srgbClr val="C9785A"/>
            </a:solidFill>
            <a:tailEnd type="triangle" w="med" len="med"/>
          </a:ln>
        </p:spPr>
      </p:cxnSp>
      <p:sp>
        <p:nvSpPr>
          <p:cNvPr id="18" name="TextBox 17"/>
          <p:cNvSpPr txBox="1"/>
          <p:nvPr/>
        </p:nvSpPr>
        <p:spPr>
          <a:xfrm>
            <a:off x="5932170" y="3675888"/>
            <a:ext cx="4663440" cy="969264"/>
          </a:xfrm>
          <a:prstGeom prst="rect">
            <a:avLst/>
          </a:prstGeom>
          <a:noFill/>
        </p:spPr>
        <p:txBody>
          <a:bodyPr wrap="square" lIns="0" rIns="0" tIns="0" bIns="0" anchor="ctr">
            <a:noAutofit/>
          </a:bodyPr>
          <a:lstStyle/>
          <a:p>
            <a:pPr algn="l">
              <a:lnSpc>
                <a:spcPts val="2730"/>
              </a:lnSpc>
            </a:pPr>
            <a:r>
              <a:rPr sz="2100" b="0">
                <a:solidFill>
                  <a:srgbClr val="24252F"/>
                </a:solidFill>
                <a:latin typeface="Open Sauce Semi-Bold"/>
              </a:rPr>
              <a:t>Orders are counted twice in sales totals</a:t>
            </a:r>
          </a:p>
        </p:txBody>
      </p:sp>
      <p:sp>
        <p:nvSpPr>
          <p:cNvPr id="19" name="Rounded Rectangle 18"/>
          <p:cNvSpPr/>
          <p:nvPr/>
        </p:nvSpPr>
        <p:spPr>
          <a:xfrm>
            <a:off x="857250" y="4937760"/>
            <a:ext cx="9966960" cy="1188720"/>
          </a:xfrm>
          <a:prstGeom prst="roundRect">
            <a:avLst>
              <a:gd name="adj" fmla="val 10769"/>
            </a:avLst>
          </a:prstGeom>
          <a:solidFill>
            <a:srgbClr val="E8E2DC"/>
          </a:solidFill>
          <a:ln w="19050">
            <a:solidFill>
              <a:srgbClr val="D8B58F"/>
            </a:solidFill>
          </a:ln>
        </p:spPr>
        <p:txBody>
          <a:bodyPr rtlCol="0" anchor="ctr"/>
          <a:lstStyle/>
          <a:p>
            <a:pPr algn="ctr"/>
          </a:p>
        </p:txBody>
      </p:sp>
      <p:sp>
        <p:nvSpPr>
          <p:cNvPr id="20" name="Rounded Rectangle 19"/>
          <p:cNvSpPr/>
          <p:nvPr/>
        </p:nvSpPr>
        <p:spPr>
          <a:xfrm>
            <a:off x="1085850" y="5102352"/>
            <a:ext cx="3749040" cy="859536"/>
          </a:xfrm>
          <a:prstGeom prst="roundRect">
            <a:avLst>
              <a:gd name="adj" fmla="val 10638"/>
            </a:avLst>
          </a:prstGeom>
          <a:solidFill>
            <a:srgbClr val="24252F"/>
          </a:solidFill>
          <a:ln>
            <a:noFill/>
          </a:ln>
        </p:spPr>
        <p:txBody>
          <a:bodyPr rtlCol="0" anchor="ctr"/>
          <a:lstStyle/>
          <a:p>
            <a:pPr algn="ctr"/>
          </a:p>
        </p:txBody>
      </p:sp>
      <p:sp>
        <p:nvSpPr>
          <p:cNvPr id="21" name="TextBox 20"/>
          <p:cNvSpPr txBox="1"/>
          <p:nvPr/>
        </p:nvSpPr>
        <p:spPr>
          <a:xfrm>
            <a:off x="1085850" y="5102352"/>
            <a:ext cx="3749040" cy="859536"/>
          </a:xfrm>
          <a:prstGeom prst="rect">
            <a:avLst/>
          </a:prstGeom>
          <a:noFill/>
        </p:spPr>
        <p:txBody>
          <a:bodyPr wrap="square" lIns="0" rIns="0" tIns="0" bIns="0" anchor="ctr">
            <a:noAutofit/>
          </a:bodyPr>
          <a:lstStyle/>
          <a:p>
            <a:pPr algn="ctr">
              <a:lnSpc>
                <a:spcPts val="2520"/>
              </a:lnSpc>
            </a:pPr>
            <a:r>
              <a:rPr sz="2100" b="1">
                <a:solidFill>
                  <a:srgbClr val="FFFFFF"/>
                </a:solidFill>
                <a:latin typeface="Open Sauce Bold"/>
              </a:rPr>
              <a:t>MISSING CUSTOMER ID</a:t>
            </a:r>
          </a:p>
        </p:txBody>
      </p:sp>
      <p:cxnSp>
        <p:nvCxnSpPr>
          <p:cNvPr id="22" name="Connector 21"/>
          <p:cNvCxnSpPr/>
          <p:nvPr/>
        </p:nvCxnSpPr>
        <p:spPr>
          <a:xfrm>
            <a:off x="5017770" y="5532120"/>
            <a:ext cx="685800" cy="0"/>
          </a:xfrm>
          <a:prstGeom prst="line">
            <a:avLst/>
          </a:prstGeom>
          <a:ln w="28575">
            <a:solidFill>
              <a:srgbClr val="C9785A"/>
            </a:solidFill>
            <a:tailEnd type="triangle" w="med" len="med"/>
          </a:ln>
        </p:spPr>
      </p:cxnSp>
      <p:sp>
        <p:nvSpPr>
          <p:cNvPr id="23" name="TextBox 22"/>
          <p:cNvSpPr txBox="1"/>
          <p:nvPr/>
        </p:nvSpPr>
        <p:spPr>
          <a:xfrm>
            <a:off x="5932170" y="5047488"/>
            <a:ext cx="4663440" cy="969264"/>
          </a:xfrm>
          <a:prstGeom prst="rect">
            <a:avLst/>
          </a:prstGeom>
          <a:noFill/>
        </p:spPr>
        <p:txBody>
          <a:bodyPr wrap="square" lIns="0" rIns="0" tIns="0" bIns="0" anchor="ctr">
            <a:noAutofit/>
          </a:bodyPr>
          <a:lstStyle/>
          <a:p>
            <a:pPr algn="l">
              <a:lnSpc>
                <a:spcPts val="2730"/>
              </a:lnSpc>
            </a:pPr>
            <a:r>
              <a:rPr sz="2100" b="0">
                <a:solidFill>
                  <a:srgbClr val="24252F"/>
                </a:solidFill>
                <a:latin typeface="Open Sauce Semi-Bold"/>
              </a:rPr>
              <a:t>Orders cannot be linked to a customer</a:t>
            </a:r>
          </a:p>
        </p:txBody>
      </p:sp>
      <p:sp>
        <p:nvSpPr>
          <p:cNvPr id="24" name="Rounded Rectangle 23"/>
          <p:cNvSpPr/>
          <p:nvPr/>
        </p:nvSpPr>
        <p:spPr>
          <a:xfrm>
            <a:off x="857250" y="6309360"/>
            <a:ext cx="9966960" cy="1188720"/>
          </a:xfrm>
          <a:prstGeom prst="roundRect">
            <a:avLst>
              <a:gd name="adj" fmla="val 10769"/>
            </a:avLst>
          </a:prstGeom>
          <a:solidFill>
            <a:srgbClr val="E8E2DC"/>
          </a:solidFill>
          <a:ln w="19050">
            <a:solidFill>
              <a:srgbClr val="D8B58F"/>
            </a:solidFill>
          </a:ln>
        </p:spPr>
        <p:txBody>
          <a:bodyPr rtlCol="0" anchor="ctr"/>
          <a:lstStyle/>
          <a:p>
            <a:pPr algn="ctr"/>
          </a:p>
        </p:txBody>
      </p:sp>
      <p:sp>
        <p:nvSpPr>
          <p:cNvPr id="25" name="Rounded Rectangle 24"/>
          <p:cNvSpPr/>
          <p:nvPr/>
        </p:nvSpPr>
        <p:spPr>
          <a:xfrm>
            <a:off x="1085850" y="6473952"/>
            <a:ext cx="3749040" cy="859536"/>
          </a:xfrm>
          <a:prstGeom prst="roundRect">
            <a:avLst>
              <a:gd name="adj" fmla="val 10638"/>
            </a:avLst>
          </a:prstGeom>
          <a:solidFill>
            <a:srgbClr val="24252F"/>
          </a:solidFill>
          <a:ln>
            <a:noFill/>
          </a:ln>
        </p:spPr>
        <p:txBody>
          <a:bodyPr rtlCol="0" anchor="ctr"/>
          <a:lstStyle/>
          <a:p>
            <a:pPr algn="ctr"/>
          </a:p>
        </p:txBody>
      </p:sp>
      <p:sp>
        <p:nvSpPr>
          <p:cNvPr id="26" name="TextBox 25"/>
          <p:cNvSpPr txBox="1"/>
          <p:nvPr/>
        </p:nvSpPr>
        <p:spPr>
          <a:xfrm>
            <a:off x="1085850" y="6473952"/>
            <a:ext cx="3749040" cy="859536"/>
          </a:xfrm>
          <a:prstGeom prst="rect">
            <a:avLst/>
          </a:prstGeom>
          <a:noFill/>
        </p:spPr>
        <p:txBody>
          <a:bodyPr wrap="square" lIns="0" rIns="0" tIns="0" bIns="0" anchor="ctr">
            <a:noAutofit/>
          </a:bodyPr>
          <a:lstStyle/>
          <a:p>
            <a:pPr algn="ctr">
              <a:lnSpc>
                <a:spcPts val="2520"/>
              </a:lnSpc>
            </a:pPr>
            <a:r>
              <a:rPr sz="2100" b="1">
                <a:solidFill>
                  <a:srgbClr val="FFFFFF"/>
                </a:solidFill>
                <a:latin typeface="Open Sauce Bold"/>
              </a:rPr>
              <a:t>INVALID STATUS</a:t>
            </a:r>
          </a:p>
        </p:txBody>
      </p:sp>
      <p:cxnSp>
        <p:nvCxnSpPr>
          <p:cNvPr id="27" name="Connector 26"/>
          <p:cNvCxnSpPr/>
          <p:nvPr/>
        </p:nvCxnSpPr>
        <p:spPr>
          <a:xfrm>
            <a:off x="5017770" y="6903720"/>
            <a:ext cx="685800" cy="0"/>
          </a:xfrm>
          <a:prstGeom prst="line">
            <a:avLst/>
          </a:prstGeom>
          <a:ln w="28575">
            <a:solidFill>
              <a:srgbClr val="C9785A"/>
            </a:solidFill>
            <a:tailEnd type="triangle" w="med" len="med"/>
          </a:ln>
        </p:spPr>
      </p:cxnSp>
      <p:sp>
        <p:nvSpPr>
          <p:cNvPr id="28" name="TextBox 27"/>
          <p:cNvSpPr txBox="1"/>
          <p:nvPr/>
        </p:nvSpPr>
        <p:spPr>
          <a:xfrm>
            <a:off x="5932170" y="6419088"/>
            <a:ext cx="4663440" cy="969264"/>
          </a:xfrm>
          <a:prstGeom prst="rect">
            <a:avLst/>
          </a:prstGeom>
          <a:noFill/>
        </p:spPr>
        <p:txBody>
          <a:bodyPr wrap="square" lIns="0" rIns="0" tIns="0" bIns="0" anchor="ctr">
            <a:noAutofit/>
          </a:bodyPr>
          <a:lstStyle/>
          <a:p>
            <a:pPr algn="l">
              <a:lnSpc>
                <a:spcPts val="2730"/>
              </a:lnSpc>
            </a:pPr>
            <a:r>
              <a:rPr sz="2100" b="0">
                <a:solidFill>
                  <a:srgbClr val="24252F"/>
                </a:solidFill>
                <a:latin typeface="Open Sauce Semi-Bold"/>
              </a:rPr>
              <a:t>Fulfilment and cancellation tracking break</a:t>
            </a:r>
          </a:p>
        </p:txBody>
      </p:sp>
      <p:sp>
        <p:nvSpPr>
          <p:cNvPr id="29" name="TextBox 28"/>
          <p:cNvSpPr txBox="1"/>
          <p:nvPr/>
        </p:nvSpPr>
        <p:spPr>
          <a:xfrm>
            <a:off x="11338560" y="1783080"/>
            <a:ext cx="609219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THE CHAIN REACTION</a:t>
            </a:r>
          </a:p>
        </p:txBody>
      </p:sp>
      <p:sp>
        <p:nvSpPr>
          <p:cNvPr id="30" name="Rounded Rectangle 29"/>
          <p:cNvSpPr/>
          <p:nvPr/>
        </p:nvSpPr>
        <p:spPr>
          <a:xfrm>
            <a:off x="11338560" y="2194560"/>
            <a:ext cx="6092190" cy="914400"/>
          </a:xfrm>
          <a:prstGeom prst="roundRect">
            <a:avLst>
              <a:gd name="adj" fmla="val 10000"/>
            </a:avLst>
          </a:prstGeom>
          <a:solidFill>
            <a:srgbClr val="24252F"/>
          </a:solidFill>
          <a:ln>
            <a:noFill/>
          </a:ln>
        </p:spPr>
        <p:txBody>
          <a:bodyPr rtlCol="0" anchor="ctr"/>
          <a:lstStyle/>
          <a:p>
            <a:pPr algn="ctr"/>
          </a:p>
        </p:txBody>
      </p:sp>
      <p:sp>
        <p:nvSpPr>
          <p:cNvPr id="31" name="TextBox 30"/>
          <p:cNvSpPr txBox="1"/>
          <p:nvPr/>
        </p:nvSpPr>
        <p:spPr>
          <a:xfrm>
            <a:off x="11338560" y="2194560"/>
            <a:ext cx="6092190" cy="914400"/>
          </a:xfrm>
          <a:prstGeom prst="rect">
            <a:avLst/>
          </a:prstGeom>
          <a:noFill/>
        </p:spPr>
        <p:txBody>
          <a:bodyPr wrap="square" lIns="0" rIns="0" tIns="0" bIns="0" anchor="ctr">
            <a:noAutofit/>
          </a:bodyPr>
          <a:lstStyle/>
          <a:p>
            <a:pPr algn="ctr">
              <a:lnSpc>
                <a:spcPts val="2760"/>
              </a:lnSpc>
            </a:pPr>
            <a:r>
              <a:rPr sz="2300" b="1">
                <a:solidFill>
                  <a:srgbClr val="FFFFFF"/>
                </a:solidFill>
                <a:latin typeface="Open Sauce Bold"/>
              </a:rPr>
              <a:t>BAD DATA</a:t>
            </a:r>
          </a:p>
        </p:txBody>
      </p:sp>
      <p:cxnSp>
        <p:nvCxnSpPr>
          <p:cNvPr id="32" name="Connector 31"/>
          <p:cNvCxnSpPr/>
          <p:nvPr/>
        </p:nvCxnSpPr>
        <p:spPr>
          <a:xfrm>
            <a:off x="14384655" y="3154680"/>
            <a:ext cx="0" cy="457200"/>
          </a:xfrm>
          <a:prstGeom prst="line">
            <a:avLst/>
          </a:prstGeom>
          <a:ln w="28575">
            <a:solidFill>
              <a:srgbClr val="C9785A"/>
            </a:solidFill>
            <a:tailEnd type="triangle" w="med" len="med"/>
          </a:ln>
        </p:spPr>
      </p:cxnSp>
      <p:sp>
        <p:nvSpPr>
          <p:cNvPr id="33" name="Rounded Rectangle 32"/>
          <p:cNvSpPr/>
          <p:nvPr/>
        </p:nvSpPr>
        <p:spPr>
          <a:xfrm>
            <a:off x="11338560" y="3657600"/>
            <a:ext cx="6092190" cy="914400"/>
          </a:xfrm>
          <a:prstGeom prst="roundRect">
            <a:avLst>
              <a:gd name="adj" fmla="val 10000"/>
            </a:avLst>
          </a:prstGeom>
          <a:solidFill>
            <a:srgbClr val="24252F"/>
          </a:solidFill>
          <a:ln>
            <a:noFill/>
          </a:ln>
        </p:spPr>
        <p:txBody>
          <a:bodyPr rtlCol="0" anchor="ctr"/>
          <a:lstStyle/>
          <a:p>
            <a:pPr algn="ctr"/>
          </a:p>
        </p:txBody>
      </p:sp>
      <p:sp>
        <p:nvSpPr>
          <p:cNvPr id="34" name="TextBox 33"/>
          <p:cNvSpPr txBox="1"/>
          <p:nvPr/>
        </p:nvSpPr>
        <p:spPr>
          <a:xfrm>
            <a:off x="11338560" y="3657600"/>
            <a:ext cx="6092190" cy="914400"/>
          </a:xfrm>
          <a:prstGeom prst="rect">
            <a:avLst/>
          </a:prstGeom>
          <a:noFill/>
        </p:spPr>
        <p:txBody>
          <a:bodyPr wrap="square" lIns="0" rIns="0" tIns="0" bIns="0" anchor="ctr">
            <a:noAutofit/>
          </a:bodyPr>
          <a:lstStyle/>
          <a:p>
            <a:pPr algn="ctr">
              <a:lnSpc>
                <a:spcPts val="2760"/>
              </a:lnSpc>
            </a:pPr>
            <a:r>
              <a:rPr sz="2300" b="1">
                <a:solidFill>
                  <a:srgbClr val="FFFFFF"/>
                </a:solidFill>
                <a:latin typeface="Open Sauce Bold"/>
              </a:rPr>
              <a:t>WRONG REPORTS</a:t>
            </a:r>
          </a:p>
        </p:txBody>
      </p:sp>
      <p:cxnSp>
        <p:nvCxnSpPr>
          <p:cNvPr id="35" name="Connector 34"/>
          <p:cNvCxnSpPr/>
          <p:nvPr/>
        </p:nvCxnSpPr>
        <p:spPr>
          <a:xfrm>
            <a:off x="14384655" y="4617720"/>
            <a:ext cx="0" cy="457200"/>
          </a:xfrm>
          <a:prstGeom prst="line">
            <a:avLst/>
          </a:prstGeom>
          <a:ln w="28575">
            <a:solidFill>
              <a:srgbClr val="C9785A"/>
            </a:solidFill>
            <a:tailEnd type="triangle" w="med" len="med"/>
          </a:ln>
        </p:spPr>
      </p:cxnSp>
      <p:sp>
        <p:nvSpPr>
          <p:cNvPr id="36" name="Rounded Rectangle 35"/>
          <p:cNvSpPr/>
          <p:nvPr/>
        </p:nvSpPr>
        <p:spPr>
          <a:xfrm>
            <a:off x="11338560" y="5120640"/>
            <a:ext cx="6092190" cy="914400"/>
          </a:xfrm>
          <a:prstGeom prst="roundRect">
            <a:avLst>
              <a:gd name="adj" fmla="val 10000"/>
            </a:avLst>
          </a:prstGeom>
          <a:solidFill>
            <a:srgbClr val="24252F"/>
          </a:solidFill>
          <a:ln>
            <a:noFill/>
          </a:ln>
        </p:spPr>
        <p:txBody>
          <a:bodyPr rtlCol="0" anchor="ctr"/>
          <a:lstStyle/>
          <a:p>
            <a:pPr algn="ctr"/>
          </a:p>
        </p:txBody>
      </p:sp>
      <p:sp>
        <p:nvSpPr>
          <p:cNvPr id="37" name="TextBox 36"/>
          <p:cNvSpPr txBox="1"/>
          <p:nvPr/>
        </p:nvSpPr>
        <p:spPr>
          <a:xfrm>
            <a:off x="11338560" y="5120640"/>
            <a:ext cx="6092190" cy="914400"/>
          </a:xfrm>
          <a:prstGeom prst="rect">
            <a:avLst/>
          </a:prstGeom>
          <a:noFill/>
        </p:spPr>
        <p:txBody>
          <a:bodyPr wrap="square" lIns="0" rIns="0" tIns="0" bIns="0" anchor="ctr">
            <a:noAutofit/>
          </a:bodyPr>
          <a:lstStyle/>
          <a:p>
            <a:pPr algn="ctr">
              <a:lnSpc>
                <a:spcPts val="2760"/>
              </a:lnSpc>
            </a:pPr>
            <a:r>
              <a:rPr sz="2300" b="1">
                <a:solidFill>
                  <a:srgbClr val="FFFFFF"/>
                </a:solidFill>
                <a:latin typeface="Open Sauce Bold"/>
              </a:rPr>
              <a:t>WRONG DECISIONS</a:t>
            </a:r>
          </a:p>
        </p:txBody>
      </p:sp>
      <p:cxnSp>
        <p:nvCxnSpPr>
          <p:cNvPr id="38" name="Connector 37"/>
          <p:cNvCxnSpPr/>
          <p:nvPr/>
        </p:nvCxnSpPr>
        <p:spPr>
          <a:xfrm>
            <a:off x="14384655" y="6080760"/>
            <a:ext cx="0" cy="457200"/>
          </a:xfrm>
          <a:prstGeom prst="line">
            <a:avLst/>
          </a:prstGeom>
          <a:ln w="28575">
            <a:solidFill>
              <a:srgbClr val="C9785A"/>
            </a:solidFill>
            <a:tailEnd type="triangle" w="med" len="med"/>
          </a:ln>
        </p:spPr>
      </p:cxnSp>
      <p:sp>
        <p:nvSpPr>
          <p:cNvPr id="39" name="Rounded Rectangle 38"/>
          <p:cNvSpPr/>
          <p:nvPr/>
        </p:nvSpPr>
        <p:spPr>
          <a:xfrm>
            <a:off x="11338560" y="6583680"/>
            <a:ext cx="6092190" cy="914400"/>
          </a:xfrm>
          <a:prstGeom prst="roundRect">
            <a:avLst>
              <a:gd name="adj" fmla="val 10000"/>
            </a:avLst>
          </a:prstGeom>
          <a:solidFill>
            <a:srgbClr val="C9785A"/>
          </a:solidFill>
          <a:ln>
            <a:noFill/>
          </a:ln>
        </p:spPr>
        <p:txBody>
          <a:bodyPr rtlCol="0" anchor="ctr"/>
          <a:lstStyle/>
          <a:p>
            <a:pPr algn="ctr"/>
          </a:p>
        </p:txBody>
      </p:sp>
      <p:sp>
        <p:nvSpPr>
          <p:cNvPr id="40" name="TextBox 39"/>
          <p:cNvSpPr txBox="1"/>
          <p:nvPr/>
        </p:nvSpPr>
        <p:spPr>
          <a:xfrm>
            <a:off x="11338560" y="6583680"/>
            <a:ext cx="6092190" cy="914400"/>
          </a:xfrm>
          <a:prstGeom prst="rect">
            <a:avLst/>
          </a:prstGeom>
          <a:noFill/>
        </p:spPr>
        <p:txBody>
          <a:bodyPr wrap="square" lIns="0" rIns="0" tIns="0" bIns="0" anchor="ctr">
            <a:noAutofit/>
          </a:bodyPr>
          <a:lstStyle/>
          <a:p>
            <a:pPr algn="ctr">
              <a:lnSpc>
                <a:spcPts val="2760"/>
              </a:lnSpc>
            </a:pPr>
            <a:r>
              <a:rPr sz="2300" b="1">
                <a:solidFill>
                  <a:srgbClr val="FFFFFF"/>
                </a:solidFill>
                <a:latin typeface="Open Sauce Bold"/>
              </a:rPr>
              <a:t>LOST REVENUE AND TRUST</a:t>
            </a:r>
          </a:p>
        </p:txBody>
      </p:sp>
      <p:sp>
        <p:nvSpPr>
          <p:cNvPr id="41" name="TextBox 40"/>
          <p:cNvSpPr txBox="1"/>
          <p:nvPr/>
        </p:nvSpPr>
        <p:spPr>
          <a:xfrm>
            <a:off x="857250" y="7726680"/>
            <a:ext cx="16573500" cy="292608"/>
          </a:xfrm>
          <a:prstGeom prst="rect">
            <a:avLst/>
          </a:prstGeom>
          <a:noFill/>
        </p:spPr>
        <p:txBody>
          <a:bodyPr wrap="square" lIns="0" rIns="0" tIns="0" bIns="0" anchor="t">
            <a:noAutofit/>
          </a:bodyPr>
          <a:lstStyle/>
          <a:p>
            <a:pPr algn="ctr">
              <a:lnSpc>
                <a:spcPts val="2100"/>
              </a:lnSpc>
            </a:pPr>
            <a:r>
              <a:rPr sz="1500" b="1">
                <a:solidFill>
                  <a:srgbClr val="C9785A"/>
                </a:solidFill>
                <a:latin typeface="Open Sauce Bold"/>
              </a:rPr>
              <a:t>WHAT THIS PROJECT DOES ABOUT IT</a:t>
            </a:r>
          </a:p>
        </p:txBody>
      </p:sp>
      <p:sp>
        <p:nvSpPr>
          <p:cNvPr id="42" name="Rounded Rectangle 41"/>
          <p:cNvSpPr/>
          <p:nvPr/>
        </p:nvSpPr>
        <p:spPr>
          <a:xfrm>
            <a:off x="857250" y="8092440"/>
            <a:ext cx="16573500" cy="1234440"/>
          </a:xfrm>
          <a:prstGeom prst="roundRect">
            <a:avLst>
              <a:gd name="adj" fmla="val 11851"/>
            </a:avLst>
          </a:prstGeom>
          <a:solidFill>
            <a:srgbClr val="24252F"/>
          </a:solidFill>
          <a:ln>
            <a:noFill/>
          </a:ln>
        </p:spPr>
        <p:txBody>
          <a:bodyPr rtlCol="0" anchor="ctr"/>
          <a:lstStyle/>
          <a:p>
            <a:pPr algn="ctr"/>
          </a:p>
        </p:txBody>
      </p:sp>
      <p:sp>
        <p:nvSpPr>
          <p:cNvPr id="43" name="TextBox 42"/>
          <p:cNvSpPr txBox="1"/>
          <p:nvPr/>
        </p:nvSpPr>
        <p:spPr>
          <a:xfrm>
            <a:off x="1223010" y="8247888"/>
            <a:ext cx="15841980" cy="502920"/>
          </a:xfrm>
          <a:prstGeom prst="rect">
            <a:avLst/>
          </a:prstGeom>
          <a:noFill/>
        </p:spPr>
        <p:txBody>
          <a:bodyPr wrap="square" lIns="0" rIns="0" tIns="0" bIns="0" anchor="t">
            <a:noAutofit/>
          </a:bodyPr>
          <a:lstStyle/>
          <a:p>
            <a:pPr algn="ctr">
              <a:lnSpc>
                <a:spcPts val="3919"/>
              </a:lnSpc>
            </a:pPr>
            <a:r>
              <a:rPr sz="2800" b="1">
                <a:solidFill>
                  <a:srgbClr val="FFFFFF"/>
                </a:solidFill>
                <a:latin typeface="Open Sauce Bold"/>
              </a:rPr>
              <a:t>Define measurable rules and validate order data before it is used</a:t>
            </a:r>
          </a:p>
        </p:txBody>
      </p:sp>
      <p:sp>
        <p:nvSpPr>
          <p:cNvPr id="44" name="TextBox 43"/>
          <p:cNvSpPr txBox="1"/>
          <p:nvPr/>
        </p:nvSpPr>
        <p:spPr>
          <a:xfrm>
            <a:off x="1223010" y="8823960"/>
            <a:ext cx="15841980" cy="365760"/>
          </a:xfrm>
          <a:prstGeom prst="rect">
            <a:avLst/>
          </a:prstGeom>
          <a:noFill/>
        </p:spPr>
        <p:txBody>
          <a:bodyPr wrap="square" lIns="0" rIns="0" tIns="0" bIns="0" anchor="t">
            <a:noAutofit/>
          </a:bodyPr>
          <a:lstStyle/>
          <a:p>
            <a:pPr algn="ctr">
              <a:lnSpc>
                <a:spcPts val="2660"/>
              </a:lnSpc>
            </a:pPr>
            <a:r>
              <a:rPr sz="1900" b="0">
                <a:solidFill>
                  <a:srgbClr val="F3C8B5"/>
                </a:solidFill>
                <a:latin typeface="Open Sauce Medium"/>
              </a:rPr>
              <a:t>Storage solves volume. Data quality makes the stored data trustworthy.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Title"/>
          <p:cNvSpPr txBox="1"/>
          <p:nvPr/>
        </p:nvSpPr>
        <p:spPr>
          <a:xfrm>
            <a:off x="857250" y="428854"/>
            <a:ext cx="15727680" cy="786384"/>
          </a:xfrm>
          <a:prstGeom prst="rect">
            <a:avLst/>
          </a:prstGeom>
          <a:noFill/>
        </p:spPr>
        <p:txBody>
          <a:bodyPr wrap="square" lIns="0" rIns="0" tIns="0" bIns="0" anchor="t">
            <a:noAutofit/>
          </a:bodyPr>
          <a:lstStyle/>
          <a:p>
            <a:pPr algn="l">
              <a:lnSpc>
                <a:spcPts val="6439"/>
              </a:lnSpc>
            </a:pPr>
            <a:r>
              <a:rPr sz="4600" b="1">
                <a:solidFill>
                  <a:srgbClr val="24252F"/>
                </a:solidFill>
                <a:latin typeface="Open Sauce Bold"/>
              </a:rPr>
              <a:t>Case Study — Implementation: The Pipeline</a:t>
            </a:r>
          </a:p>
        </p:txBody>
      </p:sp>
      <p:sp>
        <p:nvSpPr>
          <p:cNvPr id="3" name="Eyebrow"/>
          <p:cNvSpPr txBox="1"/>
          <p:nvPr/>
        </p:nvSpPr>
        <p:spPr>
          <a:xfrm>
            <a:off x="857250" y="1228954"/>
            <a:ext cx="10972800" cy="283464"/>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ARCHITECTURE — CSV TO REPORT</a:t>
            </a:r>
          </a:p>
        </p:txBody>
      </p:sp>
      <p:cxnSp>
        <p:nvCxnSpPr>
          <p:cNvPr id="4" name="Connector 3"/>
          <p:cNvCxnSpPr/>
          <p:nvPr/>
        </p:nvCxnSpPr>
        <p:spPr>
          <a:xfrm>
            <a:off x="857250" y="1524305"/>
            <a:ext cx="16573500" cy="0"/>
          </a:xfrm>
          <a:prstGeom prst="line">
            <a:avLst/>
          </a:prstGeom>
          <a:ln w="19050">
            <a:solidFill>
              <a:srgbClr val="D8B58F"/>
            </a:solidFill>
          </a:ln>
        </p:spPr>
      </p:cxnSp>
      <p:cxnSp>
        <p:nvCxnSpPr>
          <p:cNvPr id="5" name="Connector 4"/>
          <p:cNvCxnSpPr/>
          <p:nvPr/>
        </p:nvCxnSpPr>
        <p:spPr>
          <a:xfrm>
            <a:off x="857250" y="9601200"/>
            <a:ext cx="16573500" cy="0"/>
          </a:xfrm>
          <a:prstGeom prst="line">
            <a:avLst/>
          </a:prstGeom>
          <a:ln w="19050">
            <a:solidFill>
              <a:srgbClr val="D8B58F"/>
            </a:solidFill>
          </a:ln>
        </p:spPr>
      </p:cxnSp>
      <p:sp>
        <p:nvSpPr>
          <p:cNvPr id="6" name="Footer"/>
          <p:cNvSpPr txBox="1"/>
          <p:nvPr/>
        </p:nvSpPr>
        <p:spPr>
          <a:xfrm>
            <a:off x="857250" y="9765792"/>
            <a:ext cx="2377440" cy="237744"/>
          </a:xfrm>
          <a:prstGeom prst="rect">
            <a:avLst/>
          </a:prstGeom>
          <a:noFill/>
        </p:spPr>
        <p:txBody>
          <a:bodyPr wrap="square" lIns="0" rIns="0" tIns="0" bIns="0" anchor="t">
            <a:noAutofit/>
          </a:bodyPr>
          <a:lstStyle/>
          <a:p>
            <a:pPr algn="l">
              <a:lnSpc>
                <a:spcPts val="1959"/>
              </a:lnSpc>
            </a:pPr>
            <a:r>
              <a:rPr sz="1400" b="0">
                <a:solidFill>
                  <a:srgbClr val="6E6863"/>
                </a:solidFill>
                <a:latin typeface="Open Sauce Medium"/>
              </a:rPr>
              <a:t>ISE Activity 2</a:t>
            </a:r>
          </a:p>
        </p:txBody>
      </p:sp>
      <p:sp>
        <p:nvSpPr>
          <p:cNvPr id="7" name="Page number"/>
          <p:cNvSpPr txBox="1"/>
          <p:nvPr/>
        </p:nvSpPr>
        <p:spPr>
          <a:xfrm>
            <a:off x="17049902" y="9765792"/>
            <a:ext cx="381305" cy="237744"/>
          </a:xfrm>
          <a:prstGeom prst="rect">
            <a:avLst/>
          </a:prstGeom>
          <a:noFill/>
        </p:spPr>
        <p:txBody>
          <a:bodyPr wrap="square" lIns="0" rIns="0" tIns="0" bIns="0" anchor="t">
            <a:noAutofit/>
          </a:bodyPr>
          <a:lstStyle/>
          <a:p>
            <a:pPr algn="r">
              <a:lnSpc>
                <a:spcPts val="1959"/>
              </a:lnSpc>
            </a:pPr>
            <a:r>
              <a:rPr sz="1400" b="0">
                <a:solidFill>
                  <a:srgbClr val="6E6863"/>
                </a:solidFill>
                <a:latin typeface="Open Sauce Medium"/>
              </a:rPr>
              <a:t>8</a:t>
            </a:r>
          </a:p>
        </p:txBody>
      </p:sp>
      <p:sp>
        <p:nvSpPr>
          <p:cNvPr id="8" name="TextBox 7"/>
          <p:cNvSpPr txBox="1"/>
          <p:nvPr/>
        </p:nvSpPr>
        <p:spPr>
          <a:xfrm>
            <a:off x="857250" y="1783080"/>
            <a:ext cx="731520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DATA FLOW</a:t>
            </a:r>
          </a:p>
        </p:txBody>
      </p:sp>
      <p:sp>
        <p:nvSpPr>
          <p:cNvPr id="9" name="Rounded Rectangle 8"/>
          <p:cNvSpPr/>
          <p:nvPr/>
        </p:nvSpPr>
        <p:spPr>
          <a:xfrm>
            <a:off x="857250" y="2194560"/>
            <a:ext cx="3703320" cy="2011680"/>
          </a:xfrm>
          <a:prstGeom prst="roundRect">
            <a:avLst>
              <a:gd name="adj" fmla="val 6363"/>
            </a:avLst>
          </a:prstGeom>
          <a:solidFill>
            <a:srgbClr val="24252F"/>
          </a:solidFill>
          <a:ln>
            <a:noFill/>
          </a:ln>
        </p:spPr>
        <p:txBody>
          <a:bodyPr rtlCol="0" anchor="ctr"/>
          <a:lstStyle/>
          <a:p>
            <a:pPr algn="ctr"/>
          </a:p>
        </p:txBody>
      </p:sp>
      <p:sp>
        <p:nvSpPr>
          <p:cNvPr id="10" name="TextBox 9"/>
          <p:cNvSpPr txBox="1"/>
          <p:nvPr/>
        </p:nvSpPr>
        <p:spPr>
          <a:xfrm>
            <a:off x="1131570" y="2331720"/>
            <a:ext cx="731520" cy="365760"/>
          </a:xfrm>
          <a:prstGeom prst="rect">
            <a:avLst/>
          </a:prstGeom>
          <a:noFill/>
        </p:spPr>
        <p:txBody>
          <a:bodyPr wrap="square" lIns="0" rIns="0" tIns="0" bIns="0" anchor="t">
            <a:noAutofit/>
          </a:bodyPr>
          <a:lstStyle/>
          <a:p>
            <a:pPr algn="l">
              <a:lnSpc>
                <a:spcPts val="2520"/>
              </a:lnSpc>
            </a:pPr>
            <a:r>
              <a:rPr sz="1800" b="1">
                <a:solidFill>
                  <a:srgbClr val="F3C8B5"/>
                </a:solidFill>
                <a:latin typeface="Open Sauce Bold"/>
              </a:rPr>
              <a:t>01</a:t>
            </a:r>
          </a:p>
        </p:txBody>
      </p:sp>
      <p:sp>
        <p:nvSpPr>
          <p:cNvPr id="11" name="TextBox 10"/>
          <p:cNvSpPr txBox="1"/>
          <p:nvPr/>
        </p:nvSpPr>
        <p:spPr>
          <a:xfrm>
            <a:off x="1040130" y="2834640"/>
            <a:ext cx="3337560" cy="457200"/>
          </a:xfrm>
          <a:prstGeom prst="rect">
            <a:avLst/>
          </a:prstGeom>
          <a:noFill/>
        </p:spPr>
        <p:txBody>
          <a:bodyPr wrap="square" lIns="0" rIns="0" tIns="0" bIns="0" anchor="t">
            <a:noAutofit/>
          </a:bodyPr>
          <a:lstStyle/>
          <a:p>
            <a:pPr algn="ctr">
              <a:lnSpc>
                <a:spcPts val="3510"/>
              </a:lnSpc>
            </a:pPr>
            <a:r>
              <a:rPr sz="2700" b="1">
                <a:solidFill>
                  <a:srgbClr val="FFFFFF"/>
                </a:solidFill>
                <a:latin typeface="Open Sauce Bold"/>
              </a:rPr>
              <a:t>ORDERS CSV</a:t>
            </a:r>
          </a:p>
        </p:txBody>
      </p:sp>
      <p:sp>
        <p:nvSpPr>
          <p:cNvPr id="12" name="TextBox 11"/>
          <p:cNvSpPr txBox="1"/>
          <p:nvPr/>
        </p:nvSpPr>
        <p:spPr>
          <a:xfrm>
            <a:off x="1040130" y="3401568"/>
            <a:ext cx="3337560" cy="566928"/>
          </a:xfrm>
          <a:prstGeom prst="rect">
            <a:avLst/>
          </a:prstGeom>
          <a:noFill/>
        </p:spPr>
        <p:txBody>
          <a:bodyPr wrap="square" lIns="0" rIns="0" tIns="0" bIns="0" anchor="t">
            <a:noAutofit/>
          </a:bodyPr>
          <a:lstStyle/>
          <a:p>
            <a:pPr algn="ctr">
              <a:lnSpc>
                <a:spcPts val="2375"/>
              </a:lnSpc>
            </a:pPr>
            <a:r>
              <a:rPr sz="1900" b="0">
                <a:solidFill>
                  <a:srgbClr val="F3C8B5"/>
                </a:solidFill>
                <a:latin typeface="Open Sauce Medium"/>
              </a:rPr>
              <a:t>synthetic e-commerce data</a:t>
            </a:r>
          </a:p>
        </p:txBody>
      </p:sp>
      <p:sp>
        <p:nvSpPr>
          <p:cNvPr id="13" name="TextBox 12"/>
          <p:cNvSpPr txBox="1"/>
          <p:nvPr/>
        </p:nvSpPr>
        <p:spPr>
          <a:xfrm>
            <a:off x="857250" y="4370832"/>
            <a:ext cx="3703320" cy="320040"/>
          </a:xfrm>
          <a:prstGeom prst="rect">
            <a:avLst/>
          </a:prstGeom>
          <a:noFill/>
        </p:spPr>
        <p:txBody>
          <a:bodyPr wrap="square" lIns="0" rIns="0" tIns="0" bIns="0" anchor="t">
            <a:noAutofit/>
          </a:bodyPr>
          <a:lstStyle/>
          <a:p>
            <a:pPr algn="ctr">
              <a:lnSpc>
                <a:spcPts val="2210"/>
              </a:lnSpc>
            </a:pPr>
            <a:r>
              <a:rPr sz="1700" b="0">
                <a:solidFill>
                  <a:srgbClr val="6E6863"/>
                </a:solidFill>
                <a:latin typeface="Open Sauce Semi-Bold"/>
              </a:rPr>
              <a:t>generate_data.py</a:t>
            </a:r>
          </a:p>
        </p:txBody>
      </p:sp>
      <p:cxnSp>
        <p:nvCxnSpPr>
          <p:cNvPr id="14" name="Connector 13"/>
          <p:cNvCxnSpPr/>
          <p:nvPr/>
        </p:nvCxnSpPr>
        <p:spPr>
          <a:xfrm>
            <a:off x="4633722" y="3200400"/>
            <a:ext cx="434340" cy="0"/>
          </a:xfrm>
          <a:prstGeom prst="line">
            <a:avLst/>
          </a:prstGeom>
          <a:ln w="28575">
            <a:solidFill>
              <a:srgbClr val="C9785A"/>
            </a:solidFill>
            <a:tailEnd type="triangle" w="med" len="med"/>
          </a:ln>
        </p:spPr>
      </p:cxnSp>
      <p:sp>
        <p:nvSpPr>
          <p:cNvPr id="15" name="Rounded Rectangle 14"/>
          <p:cNvSpPr/>
          <p:nvPr/>
        </p:nvSpPr>
        <p:spPr>
          <a:xfrm>
            <a:off x="5141214" y="2194560"/>
            <a:ext cx="3703320" cy="2011680"/>
          </a:xfrm>
          <a:prstGeom prst="roundRect">
            <a:avLst>
              <a:gd name="adj" fmla="val 6363"/>
            </a:avLst>
          </a:prstGeom>
          <a:solidFill>
            <a:srgbClr val="24252F"/>
          </a:solidFill>
          <a:ln>
            <a:noFill/>
          </a:ln>
        </p:spPr>
        <p:txBody>
          <a:bodyPr rtlCol="0" anchor="ctr"/>
          <a:lstStyle/>
          <a:p>
            <a:pPr algn="ctr"/>
          </a:p>
        </p:txBody>
      </p:sp>
      <p:sp>
        <p:nvSpPr>
          <p:cNvPr id="16" name="TextBox 15"/>
          <p:cNvSpPr txBox="1"/>
          <p:nvPr/>
        </p:nvSpPr>
        <p:spPr>
          <a:xfrm>
            <a:off x="5415534" y="2331720"/>
            <a:ext cx="731520" cy="365760"/>
          </a:xfrm>
          <a:prstGeom prst="rect">
            <a:avLst/>
          </a:prstGeom>
          <a:noFill/>
        </p:spPr>
        <p:txBody>
          <a:bodyPr wrap="square" lIns="0" rIns="0" tIns="0" bIns="0" anchor="t">
            <a:noAutofit/>
          </a:bodyPr>
          <a:lstStyle/>
          <a:p>
            <a:pPr algn="l">
              <a:lnSpc>
                <a:spcPts val="2520"/>
              </a:lnSpc>
            </a:pPr>
            <a:r>
              <a:rPr sz="1800" b="1">
                <a:solidFill>
                  <a:srgbClr val="F3C8B5"/>
                </a:solidFill>
                <a:latin typeface="Open Sauce Bold"/>
              </a:rPr>
              <a:t>02</a:t>
            </a:r>
          </a:p>
        </p:txBody>
      </p:sp>
      <p:sp>
        <p:nvSpPr>
          <p:cNvPr id="17" name="TextBox 16"/>
          <p:cNvSpPr txBox="1"/>
          <p:nvPr/>
        </p:nvSpPr>
        <p:spPr>
          <a:xfrm>
            <a:off x="5324094" y="2834640"/>
            <a:ext cx="3337560" cy="457200"/>
          </a:xfrm>
          <a:prstGeom prst="rect">
            <a:avLst/>
          </a:prstGeom>
          <a:noFill/>
        </p:spPr>
        <p:txBody>
          <a:bodyPr wrap="square" lIns="0" rIns="0" tIns="0" bIns="0" anchor="t">
            <a:noAutofit/>
          </a:bodyPr>
          <a:lstStyle/>
          <a:p>
            <a:pPr algn="ctr">
              <a:lnSpc>
                <a:spcPts val="3510"/>
              </a:lnSpc>
            </a:pPr>
            <a:r>
              <a:rPr sz="2700" b="1">
                <a:solidFill>
                  <a:srgbClr val="FFFFFF"/>
                </a:solidFill>
                <a:latin typeface="Open Sauce Bold"/>
              </a:rPr>
              <a:t>DUCKDB</a:t>
            </a:r>
          </a:p>
        </p:txBody>
      </p:sp>
      <p:sp>
        <p:nvSpPr>
          <p:cNvPr id="18" name="TextBox 17"/>
          <p:cNvSpPr txBox="1"/>
          <p:nvPr/>
        </p:nvSpPr>
        <p:spPr>
          <a:xfrm>
            <a:off x="5324094" y="3401568"/>
            <a:ext cx="3337560" cy="566928"/>
          </a:xfrm>
          <a:prstGeom prst="rect">
            <a:avLst/>
          </a:prstGeom>
          <a:noFill/>
        </p:spPr>
        <p:txBody>
          <a:bodyPr wrap="square" lIns="0" rIns="0" tIns="0" bIns="0" anchor="t">
            <a:noAutofit/>
          </a:bodyPr>
          <a:lstStyle/>
          <a:p>
            <a:pPr algn="ctr">
              <a:lnSpc>
                <a:spcPts val="2375"/>
              </a:lnSpc>
            </a:pPr>
            <a:r>
              <a:rPr sz="1900" b="0">
                <a:solidFill>
                  <a:srgbClr val="F3C8B5"/>
                </a:solidFill>
                <a:latin typeface="Open Sauce Medium"/>
              </a:rPr>
              <a:t>local analytical database</a:t>
            </a:r>
          </a:p>
        </p:txBody>
      </p:sp>
      <p:sp>
        <p:nvSpPr>
          <p:cNvPr id="19" name="TextBox 18"/>
          <p:cNvSpPr txBox="1"/>
          <p:nvPr/>
        </p:nvSpPr>
        <p:spPr>
          <a:xfrm>
            <a:off x="5141214" y="4370832"/>
            <a:ext cx="3703320" cy="320040"/>
          </a:xfrm>
          <a:prstGeom prst="rect">
            <a:avLst/>
          </a:prstGeom>
          <a:noFill/>
        </p:spPr>
        <p:txBody>
          <a:bodyPr wrap="square" lIns="0" rIns="0" tIns="0" bIns="0" anchor="t">
            <a:noAutofit/>
          </a:bodyPr>
          <a:lstStyle/>
          <a:p>
            <a:pPr algn="ctr">
              <a:lnSpc>
                <a:spcPts val="2210"/>
              </a:lnSpc>
            </a:pPr>
            <a:r>
              <a:rPr sz="1700" b="0">
                <a:solidFill>
                  <a:srgbClr val="6E6863"/>
                </a:solidFill>
                <a:latin typeface="Open Sauce Semi-Bold"/>
              </a:rPr>
              <a:t>load_duckdb.py</a:t>
            </a:r>
          </a:p>
        </p:txBody>
      </p:sp>
      <p:cxnSp>
        <p:nvCxnSpPr>
          <p:cNvPr id="20" name="Connector 19"/>
          <p:cNvCxnSpPr/>
          <p:nvPr/>
        </p:nvCxnSpPr>
        <p:spPr>
          <a:xfrm>
            <a:off x="8917686" y="3200400"/>
            <a:ext cx="434340" cy="0"/>
          </a:xfrm>
          <a:prstGeom prst="line">
            <a:avLst/>
          </a:prstGeom>
          <a:ln w="28575">
            <a:solidFill>
              <a:srgbClr val="C9785A"/>
            </a:solidFill>
            <a:tailEnd type="triangle" w="med" len="med"/>
          </a:ln>
        </p:spPr>
      </p:cxnSp>
      <p:sp>
        <p:nvSpPr>
          <p:cNvPr id="21" name="Rounded Rectangle 20"/>
          <p:cNvSpPr/>
          <p:nvPr/>
        </p:nvSpPr>
        <p:spPr>
          <a:xfrm>
            <a:off x="9425178" y="2194560"/>
            <a:ext cx="3703320" cy="2011680"/>
          </a:xfrm>
          <a:prstGeom prst="roundRect">
            <a:avLst>
              <a:gd name="adj" fmla="val 6363"/>
            </a:avLst>
          </a:prstGeom>
          <a:solidFill>
            <a:srgbClr val="24252F"/>
          </a:solidFill>
          <a:ln>
            <a:noFill/>
          </a:ln>
        </p:spPr>
        <p:txBody>
          <a:bodyPr rtlCol="0" anchor="ctr"/>
          <a:lstStyle/>
          <a:p>
            <a:pPr algn="ctr"/>
          </a:p>
        </p:txBody>
      </p:sp>
      <p:sp>
        <p:nvSpPr>
          <p:cNvPr id="22" name="TextBox 21"/>
          <p:cNvSpPr txBox="1"/>
          <p:nvPr/>
        </p:nvSpPr>
        <p:spPr>
          <a:xfrm>
            <a:off x="9699498" y="2331720"/>
            <a:ext cx="731520" cy="365760"/>
          </a:xfrm>
          <a:prstGeom prst="rect">
            <a:avLst/>
          </a:prstGeom>
          <a:noFill/>
        </p:spPr>
        <p:txBody>
          <a:bodyPr wrap="square" lIns="0" rIns="0" tIns="0" bIns="0" anchor="t">
            <a:noAutofit/>
          </a:bodyPr>
          <a:lstStyle/>
          <a:p>
            <a:pPr algn="l">
              <a:lnSpc>
                <a:spcPts val="2520"/>
              </a:lnSpc>
            </a:pPr>
            <a:r>
              <a:rPr sz="1800" b="1">
                <a:solidFill>
                  <a:srgbClr val="F3C8B5"/>
                </a:solidFill>
                <a:latin typeface="Open Sauce Bold"/>
              </a:rPr>
              <a:t>03</a:t>
            </a:r>
          </a:p>
        </p:txBody>
      </p:sp>
      <p:sp>
        <p:nvSpPr>
          <p:cNvPr id="23" name="TextBox 22"/>
          <p:cNvSpPr txBox="1"/>
          <p:nvPr/>
        </p:nvSpPr>
        <p:spPr>
          <a:xfrm>
            <a:off x="9608058" y="2834640"/>
            <a:ext cx="3337560" cy="457200"/>
          </a:xfrm>
          <a:prstGeom prst="rect">
            <a:avLst/>
          </a:prstGeom>
          <a:noFill/>
        </p:spPr>
        <p:txBody>
          <a:bodyPr wrap="square" lIns="0" rIns="0" tIns="0" bIns="0" anchor="t">
            <a:noAutofit/>
          </a:bodyPr>
          <a:lstStyle/>
          <a:p>
            <a:pPr algn="ctr">
              <a:lnSpc>
                <a:spcPts val="3510"/>
              </a:lnSpc>
            </a:pPr>
            <a:r>
              <a:rPr sz="2700" b="1">
                <a:solidFill>
                  <a:srgbClr val="FFFFFF"/>
                </a:solidFill>
                <a:latin typeface="Open Sauce Bold"/>
              </a:rPr>
              <a:t>SODA CORE</a:t>
            </a:r>
          </a:p>
        </p:txBody>
      </p:sp>
      <p:sp>
        <p:nvSpPr>
          <p:cNvPr id="24" name="TextBox 23"/>
          <p:cNvSpPr txBox="1"/>
          <p:nvPr/>
        </p:nvSpPr>
        <p:spPr>
          <a:xfrm>
            <a:off x="9608058" y="3401568"/>
            <a:ext cx="3337560" cy="566928"/>
          </a:xfrm>
          <a:prstGeom prst="rect">
            <a:avLst/>
          </a:prstGeom>
          <a:noFill/>
        </p:spPr>
        <p:txBody>
          <a:bodyPr wrap="square" lIns="0" rIns="0" tIns="0" bIns="0" anchor="t">
            <a:noAutofit/>
          </a:bodyPr>
          <a:lstStyle/>
          <a:p>
            <a:pPr algn="ctr">
              <a:lnSpc>
                <a:spcPts val="2375"/>
              </a:lnSpc>
            </a:pPr>
            <a:r>
              <a:rPr sz="1900" b="0">
                <a:solidFill>
                  <a:srgbClr val="F3C8B5"/>
                </a:solidFill>
                <a:latin typeface="Open Sauce Medium"/>
              </a:rPr>
              <a:t>runs the quality checks</a:t>
            </a:r>
          </a:p>
        </p:txBody>
      </p:sp>
      <p:sp>
        <p:nvSpPr>
          <p:cNvPr id="25" name="TextBox 24"/>
          <p:cNvSpPr txBox="1"/>
          <p:nvPr/>
        </p:nvSpPr>
        <p:spPr>
          <a:xfrm>
            <a:off x="9425178" y="4370832"/>
            <a:ext cx="3703320" cy="320040"/>
          </a:xfrm>
          <a:prstGeom prst="rect">
            <a:avLst/>
          </a:prstGeom>
          <a:noFill/>
        </p:spPr>
        <p:txBody>
          <a:bodyPr wrap="square" lIns="0" rIns="0" tIns="0" bIns="0" anchor="t">
            <a:noAutofit/>
          </a:bodyPr>
          <a:lstStyle/>
          <a:p>
            <a:pPr algn="ctr">
              <a:lnSpc>
                <a:spcPts val="2210"/>
              </a:lnSpc>
            </a:pPr>
            <a:r>
              <a:rPr sz="1700" b="0">
                <a:solidFill>
                  <a:srgbClr val="6E6863"/>
                </a:solidFill>
                <a:latin typeface="Open Sauce Semi-Bold"/>
              </a:rPr>
              <a:t>checks.yml + soda scan</a:t>
            </a:r>
          </a:p>
        </p:txBody>
      </p:sp>
      <p:cxnSp>
        <p:nvCxnSpPr>
          <p:cNvPr id="26" name="Connector 25"/>
          <p:cNvCxnSpPr/>
          <p:nvPr/>
        </p:nvCxnSpPr>
        <p:spPr>
          <a:xfrm>
            <a:off x="13201650" y="3200400"/>
            <a:ext cx="434340" cy="0"/>
          </a:xfrm>
          <a:prstGeom prst="line">
            <a:avLst/>
          </a:prstGeom>
          <a:ln w="28575">
            <a:solidFill>
              <a:srgbClr val="C9785A"/>
            </a:solidFill>
            <a:tailEnd type="triangle" w="med" len="med"/>
          </a:ln>
        </p:spPr>
      </p:cxnSp>
      <p:sp>
        <p:nvSpPr>
          <p:cNvPr id="27" name="Rounded Rectangle 26"/>
          <p:cNvSpPr/>
          <p:nvPr/>
        </p:nvSpPr>
        <p:spPr>
          <a:xfrm>
            <a:off x="13709142" y="2194560"/>
            <a:ext cx="3703320" cy="2011680"/>
          </a:xfrm>
          <a:prstGeom prst="roundRect">
            <a:avLst>
              <a:gd name="adj" fmla="val 6363"/>
            </a:avLst>
          </a:prstGeom>
          <a:solidFill>
            <a:srgbClr val="D98A6A"/>
          </a:solidFill>
          <a:ln>
            <a:noFill/>
          </a:ln>
        </p:spPr>
        <p:txBody>
          <a:bodyPr rtlCol="0" anchor="ctr"/>
          <a:lstStyle/>
          <a:p>
            <a:pPr algn="ctr"/>
          </a:p>
        </p:txBody>
      </p:sp>
      <p:sp>
        <p:nvSpPr>
          <p:cNvPr id="28" name="TextBox 27"/>
          <p:cNvSpPr txBox="1"/>
          <p:nvPr/>
        </p:nvSpPr>
        <p:spPr>
          <a:xfrm>
            <a:off x="13983462" y="2331720"/>
            <a:ext cx="731520" cy="365760"/>
          </a:xfrm>
          <a:prstGeom prst="rect">
            <a:avLst/>
          </a:prstGeom>
          <a:noFill/>
        </p:spPr>
        <p:txBody>
          <a:bodyPr wrap="square" lIns="0" rIns="0" tIns="0" bIns="0" anchor="t">
            <a:noAutofit/>
          </a:bodyPr>
          <a:lstStyle/>
          <a:p>
            <a:pPr algn="l">
              <a:lnSpc>
                <a:spcPts val="2520"/>
              </a:lnSpc>
            </a:pPr>
            <a:r>
              <a:rPr sz="1800" b="1">
                <a:solidFill>
                  <a:srgbClr val="FFFFFF"/>
                </a:solidFill>
                <a:latin typeface="Open Sauce Bold"/>
              </a:rPr>
              <a:t>04</a:t>
            </a:r>
          </a:p>
        </p:txBody>
      </p:sp>
      <p:sp>
        <p:nvSpPr>
          <p:cNvPr id="29" name="TextBox 28"/>
          <p:cNvSpPr txBox="1"/>
          <p:nvPr/>
        </p:nvSpPr>
        <p:spPr>
          <a:xfrm>
            <a:off x="13892022" y="2834640"/>
            <a:ext cx="3337560" cy="457200"/>
          </a:xfrm>
          <a:prstGeom prst="rect">
            <a:avLst/>
          </a:prstGeom>
          <a:noFill/>
        </p:spPr>
        <p:txBody>
          <a:bodyPr wrap="square" lIns="0" rIns="0" tIns="0" bIns="0" anchor="t">
            <a:noAutofit/>
          </a:bodyPr>
          <a:lstStyle/>
          <a:p>
            <a:pPr algn="ctr">
              <a:lnSpc>
                <a:spcPts val="3510"/>
              </a:lnSpc>
            </a:pPr>
            <a:r>
              <a:rPr sz="2700" b="1">
                <a:solidFill>
                  <a:srgbClr val="FFFFFF"/>
                </a:solidFill>
                <a:latin typeface="Open Sauce Bold"/>
              </a:rPr>
              <a:t>REPORT</a:t>
            </a:r>
          </a:p>
        </p:txBody>
      </p:sp>
      <p:sp>
        <p:nvSpPr>
          <p:cNvPr id="30" name="TextBox 29"/>
          <p:cNvSpPr txBox="1"/>
          <p:nvPr/>
        </p:nvSpPr>
        <p:spPr>
          <a:xfrm>
            <a:off x="13892022" y="3401568"/>
            <a:ext cx="3337560" cy="566928"/>
          </a:xfrm>
          <a:prstGeom prst="rect">
            <a:avLst/>
          </a:prstGeom>
          <a:noFill/>
        </p:spPr>
        <p:txBody>
          <a:bodyPr wrap="square" lIns="0" rIns="0" tIns="0" bIns="0" anchor="t">
            <a:noAutofit/>
          </a:bodyPr>
          <a:lstStyle/>
          <a:p>
            <a:pPr algn="ctr">
              <a:lnSpc>
                <a:spcPts val="2375"/>
              </a:lnSpc>
            </a:pPr>
            <a:r>
              <a:rPr sz="1900" b="0">
                <a:solidFill>
                  <a:srgbClr val="FFFFFF"/>
                </a:solidFill>
                <a:latin typeface="Open Sauce Medium"/>
              </a:rPr>
              <a:t>PASS / FAIL results</a:t>
            </a:r>
          </a:p>
        </p:txBody>
      </p:sp>
      <p:sp>
        <p:nvSpPr>
          <p:cNvPr id="31" name="TextBox 30"/>
          <p:cNvSpPr txBox="1"/>
          <p:nvPr/>
        </p:nvSpPr>
        <p:spPr>
          <a:xfrm>
            <a:off x="13709142" y="4370832"/>
            <a:ext cx="3703320" cy="320040"/>
          </a:xfrm>
          <a:prstGeom prst="rect">
            <a:avLst/>
          </a:prstGeom>
          <a:noFill/>
        </p:spPr>
        <p:txBody>
          <a:bodyPr wrap="square" lIns="0" rIns="0" tIns="0" bIns="0" anchor="t">
            <a:noAutofit/>
          </a:bodyPr>
          <a:lstStyle/>
          <a:p>
            <a:pPr algn="ctr">
              <a:lnSpc>
                <a:spcPts val="2210"/>
              </a:lnSpc>
            </a:pPr>
            <a:r>
              <a:rPr sz="1700" b="0">
                <a:solidFill>
                  <a:srgbClr val="6E6863"/>
                </a:solidFill>
                <a:latin typeface="Open Sauce Semi-Bold"/>
              </a:rPr>
              <a:t>generate_report.py</a:t>
            </a:r>
          </a:p>
        </p:txBody>
      </p:sp>
      <p:sp>
        <p:nvSpPr>
          <p:cNvPr id="32" name="TextBox 31"/>
          <p:cNvSpPr txBox="1"/>
          <p:nvPr/>
        </p:nvSpPr>
        <p:spPr>
          <a:xfrm>
            <a:off x="857250" y="5166360"/>
            <a:ext cx="731520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TOOLS USED</a:t>
            </a:r>
          </a:p>
        </p:txBody>
      </p:sp>
      <p:sp>
        <p:nvSpPr>
          <p:cNvPr id="33" name="Rounded Rectangle 32"/>
          <p:cNvSpPr/>
          <p:nvPr/>
        </p:nvSpPr>
        <p:spPr>
          <a:xfrm>
            <a:off x="857250" y="5532120"/>
            <a:ext cx="3131820" cy="1783080"/>
          </a:xfrm>
          <a:prstGeom prst="roundRect">
            <a:avLst>
              <a:gd name="adj" fmla="val 7179"/>
            </a:avLst>
          </a:prstGeom>
          <a:solidFill>
            <a:srgbClr val="E8E2DC"/>
          </a:solidFill>
          <a:ln w="19050">
            <a:solidFill>
              <a:srgbClr val="D8B58F"/>
            </a:solidFill>
          </a:ln>
        </p:spPr>
        <p:txBody>
          <a:bodyPr rtlCol="0" anchor="ctr"/>
          <a:lstStyle/>
          <a:p>
            <a:pPr algn="ctr"/>
          </a:p>
        </p:txBody>
      </p:sp>
      <p:sp>
        <p:nvSpPr>
          <p:cNvPr id="34" name="TextBox 33"/>
          <p:cNvSpPr txBox="1"/>
          <p:nvPr/>
        </p:nvSpPr>
        <p:spPr>
          <a:xfrm>
            <a:off x="1131570" y="5742432"/>
            <a:ext cx="2583180" cy="411480"/>
          </a:xfrm>
          <a:prstGeom prst="rect">
            <a:avLst/>
          </a:prstGeom>
          <a:noFill/>
        </p:spPr>
        <p:txBody>
          <a:bodyPr wrap="square" lIns="0" rIns="0" tIns="0" bIns="0" anchor="t">
            <a:noAutofit/>
          </a:bodyPr>
          <a:lstStyle/>
          <a:p>
            <a:pPr algn="l">
              <a:lnSpc>
                <a:spcPts val="3250"/>
              </a:lnSpc>
            </a:pPr>
            <a:r>
              <a:rPr sz="2500" b="1">
                <a:solidFill>
                  <a:srgbClr val="C9785A"/>
                </a:solidFill>
                <a:latin typeface="Open Sauce Bold"/>
              </a:rPr>
              <a:t>Python</a:t>
            </a:r>
          </a:p>
        </p:txBody>
      </p:sp>
      <p:sp>
        <p:nvSpPr>
          <p:cNvPr id="35" name="TextBox 34"/>
          <p:cNvSpPr txBox="1"/>
          <p:nvPr/>
        </p:nvSpPr>
        <p:spPr>
          <a:xfrm>
            <a:off x="1131570" y="6309360"/>
            <a:ext cx="2583180" cy="868680"/>
          </a:xfrm>
          <a:prstGeom prst="rect">
            <a:avLst/>
          </a:prstGeom>
          <a:noFill/>
        </p:spPr>
        <p:txBody>
          <a:bodyPr wrap="square" lIns="0" rIns="0" tIns="0" bIns="0" anchor="t">
            <a:noAutofit/>
          </a:bodyPr>
          <a:lstStyle/>
          <a:p>
            <a:pPr algn="l">
              <a:lnSpc>
                <a:spcPts val="2470"/>
              </a:lnSpc>
            </a:pPr>
            <a:r>
              <a:rPr sz="1900" b="0">
                <a:solidFill>
                  <a:srgbClr val="24252F"/>
                </a:solidFill>
                <a:latin typeface="Open Sauce Semi-Bold"/>
              </a:rPr>
              <a:t>generates and prepares the data</a:t>
            </a:r>
          </a:p>
        </p:txBody>
      </p:sp>
      <p:sp>
        <p:nvSpPr>
          <p:cNvPr id="36" name="Rounded Rectangle 35"/>
          <p:cNvSpPr/>
          <p:nvPr/>
        </p:nvSpPr>
        <p:spPr>
          <a:xfrm>
            <a:off x="4217670" y="5532120"/>
            <a:ext cx="3131820" cy="1783080"/>
          </a:xfrm>
          <a:prstGeom prst="roundRect">
            <a:avLst>
              <a:gd name="adj" fmla="val 7179"/>
            </a:avLst>
          </a:prstGeom>
          <a:solidFill>
            <a:srgbClr val="E8E2DC"/>
          </a:solidFill>
          <a:ln w="19050">
            <a:solidFill>
              <a:srgbClr val="D8B58F"/>
            </a:solidFill>
          </a:ln>
        </p:spPr>
        <p:txBody>
          <a:bodyPr rtlCol="0" anchor="ctr"/>
          <a:lstStyle/>
          <a:p>
            <a:pPr algn="ctr"/>
          </a:p>
        </p:txBody>
      </p:sp>
      <p:sp>
        <p:nvSpPr>
          <p:cNvPr id="37" name="TextBox 36"/>
          <p:cNvSpPr txBox="1"/>
          <p:nvPr/>
        </p:nvSpPr>
        <p:spPr>
          <a:xfrm>
            <a:off x="4491990" y="5742432"/>
            <a:ext cx="2583180" cy="411480"/>
          </a:xfrm>
          <a:prstGeom prst="rect">
            <a:avLst/>
          </a:prstGeom>
          <a:noFill/>
        </p:spPr>
        <p:txBody>
          <a:bodyPr wrap="square" lIns="0" rIns="0" tIns="0" bIns="0" anchor="t">
            <a:noAutofit/>
          </a:bodyPr>
          <a:lstStyle/>
          <a:p>
            <a:pPr algn="l">
              <a:lnSpc>
                <a:spcPts val="3250"/>
              </a:lnSpc>
            </a:pPr>
            <a:r>
              <a:rPr sz="2500" b="1">
                <a:solidFill>
                  <a:srgbClr val="C9785A"/>
                </a:solidFill>
                <a:latin typeface="Open Sauce Bold"/>
              </a:rPr>
              <a:t>CSV</a:t>
            </a:r>
          </a:p>
        </p:txBody>
      </p:sp>
      <p:sp>
        <p:nvSpPr>
          <p:cNvPr id="38" name="TextBox 37"/>
          <p:cNvSpPr txBox="1"/>
          <p:nvPr/>
        </p:nvSpPr>
        <p:spPr>
          <a:xfrm>
            <a:off x="4491990" y="6309360"/>
            <a:ext cx="2583180" cy="868680"/>
          </a:xfrm>
          <a:prstGeom prst="rect">
            <a:avLst/>
          </a:prstGeom>
          <a:noFill/>
        </p:spPr>
        <p:txBody>
          <a:bodyPr wrap="square" lIns="0" rIns="0" tIns="0" bIns="0" anchor="t">
            <a:noAutofit/>
          </a:bodyPr>
          <a:lstStyle/>
          <a:p>
            <a:pPr algn="l">
              <a:lnSpc>
                <a:spcPts val="2470"/>
              </a:lnSpc>
            </a:pPr>
            <a:r>
              <a:rPr sz="1900" b="0">
                <a:solidFill>
                  <a:srgbClr val="24252F"/>
                </a:solidFill>
                <a:latin typeface="Open Sauce Semi-Bold"/>
              </a:rPr>
              <a:t>stands in for incoming orders</a:t>
            </a:r>
          </a:p>
        </p:txBody>
      </p:sp>
      <p:sp>
        <p:nvSpPr>
          <p:cNvPr id="39" name="Rounded Rectangle 38"/>
          <p:cNvSpPr/>
          <p:nvPr/>
        </p:nvSpPr>
        <p:spPr>
          <a:xfrm>
            <a:off x="7578090" y="5532120"/>
            <a:ext cx="3131820" cy="1783080"/>
          </a:xfrm>
          <a:prstGeom prst="roundRect">
            <a:avLst>
              <a:gd name="adj" fmla="val 7179"/>
            </a:avLst>
          </a:prstGeom>
          <a:solidFill>
            <a:srgbClr val="E8E2DC"/>
          </a:solidFill>
          <a:ln w="19050">
            <a:solidFill>
              <a:srgbClr val="D8B58F"/>
            </a:solidFill>
          </a:ln>
        </p:spPr>
        <p:txBody>
          <a:bodyPr rtlCol="0" anchor="ctr"/>
          <a:lstStyle/>
          <a:p>
            <a:pPr algn="ctr"/>
          </a:p>
        </p:txBody>
      </p:sp>
      <p:sp>
        <p:nvSpPr>
          <p:cNvPr id="40" name="TextBox 39"/>
          <p:cNvSpPr txBox="1"/>
          <p:nvPr/>
        </p:nvSpPr>
        <p:spPr>
          <a:xfrm>
            <a:off x="7852410" y="5742432"/>
            <a:ext cx="2583180" cy="411480"/>
          </a:xfrm>
          <a:prstGeom prst="rect">
            <a:avLst/>
          </a:prstGeom>
          <a:noFill/>
        </p:spPr>
        <p:txBody>
          <a:bodyPr wrap="square" lIns="0" rIns="0" tIns="0" bIns="0" anchor="t">
            <a:noAutofit/>
          </a:bodyPr>
          <a:lstStyle/>
          <a:p>
            <a:pPr algn="l">
              <a:lnSpc>
                <a:spcPts val="3250"/>
              </a:lnSpc>
            </a:pPr>
            <a:r>
              <a:rPr sz="2500" b="1">
                <a:solidFill>
                  <a:srgbClr val="C9785A"/>
                </a:solidFill>
                <a:latin typeface="Open Sauce Bold"/>
              </a:rPr>
              <a:t>DuckDB</a:t>
            </a:r>
          </a:p>
        </p:txBody>
      </p:sp>
      <p:sp>
        <p:nvSpPr>
          <p:cNvPr id="41" name="TextBox 40"/>
          <p:cNvSpPr txBox="1"/>
          <p:nvPr/>
        </p:nvSpPr>
        <p:spPr>
          <a:xfrm>
            <a:off x="7852410" y="6309360"/>
            <a:ext cx="2583180" cy="868680"/>
          </a:xfrm>
          <a:prstGeom prst="rect">
            <a:avLst/>
          </a:prstGeom>
          <a:noFill/>
        </p:spPr>
        <p:txBody>
          <a:bodyPr wrap="square" lIns="0" rIns="0" tIns="0" bIns="0" anchor="t">
            <a:noAutofit/>
          </a:bodyPr>
          <a:lstStyle/>
          <a:p>
            <a:pPr algn="l">
              <a:lnSpc>
                <a:spcPts val="2470"/>
              </a:lnSpc>
            </a:pPr>
            <a:r>
              <a:rPr sz="1900" b="0">
                <a:solidFill>
                  <a:srgbClr val="24252F"/>
                </a:solidFill>
                <a:latin typeface="Open Sauce Semi-Bold"/>
              </a:rPr>
              <a:t>lightweight local database</a:t>
            </a:r>
          </a:p>
        </p:txBody>
      </p:sp>
      <p:sp>
        <p:nvSpPr>
          <p:cNvPr id="42" name="Rounded Rectangle 41"/>
          <p:cNvSpPr/>
          <p:nvPr/>
        </p:nvSpPr>
        <p:spPr>
          <a:xfrm>
            <a:off x="10938510" y="5532120"/>
            <a:ext cx="3131820" cy="1783080"/>
          </a:xfrm>
          <a:prstGeom prst="roundRect">
            <a:avLst>
              <a:gd name="adj" fmla="val 7179"/>
            </a:avLst>
          </a:prstGeom>
          <a:solidFill>
            <a:srgbClr val="E8E2DC"/>
          </a:solidFill>
          <a:ln w="19050">
            <a:solidFill>
              <a:srgbClr val="D8B58F"/>
            </a:solidFill>
          </a:ln>
        </p:spPr>
        <p:txBody>
          <a:bodyPr rtlCol="0" anchor="ctr"/>
          <a:lstStyle/>
          <a:p>
            <a:pPr algn="ctr"/>
          </a:p>
        </p:txBody>
      </p:sp>
      <p:sp>
        <p:nvSpPr>
          <p:cNvPr id="43" name="TextBox 42"/>
          <p:cNvSpPr txBox="1"/>
          <p:nvPr/>
        </p:nvSpPr>
        <p:spPr>
          <a:xfrm>
            <a:off x="11212830" y="5742432"/>
            <a:ext cx="2583180" cy="411480"/>
          </a:xfrm>
          <a:prstGeom prst="rect">
            <a:avLst/>
          </a:prstGeom>
          <a:noFill/>
        </p:spPr>
        <p:txBody>
          <a:bodyPr wrap="square" lIns="0" rIns="0" tIns="0" bIns="0" anchor="t">
            <a:noAutofit/>
          </a:bodyPr>
          <a:lstStyle/>
          <a:p>
            <a:pPr algn="l">
              <a:lnSpc>
                <a:spcPts val="3250"/>
              </a:lnSpc>
            </a:pPr>
            <a:r>
              <a:rPr sz="2500" b="1">
                <a:solidFill>
                  <a:srgbClr val="C9785A"/>
                </a:solidFill>
                <a:latin typeface="Open Sauce Bold"/>
              </a:rPr>
              <a:t>Soda Core</a:t>
            </a:r>
          </a:p>
        </p:txBody>
      </p:sp>
      <p:sp>
        <p:nvSpPr>
          <p:cNvPr id="44" name="TextBox 43"/>
          <p:cNvSpPr txBox="1"/>
          <p:nvPr/>
        </p:nvSpPr>
        <p:spPr>
          <a:xfrm>
            <a:off x="11212830" y="6309360"/>
            <a:ext cx="2583180" cy="868680"/>
          </a:xfrm>
          <a:prstGeom prst="rect">
            <a:avLst/>
          </a:prstGeom>
          <a:noFill/>
        </p:spPr>
        <p:txBody>
          <a:bodyPr wrap="square" lIns="0" rIns="0" tIns="0" bIns="0" anchor="t">
            <a:noAutofit/>
          </a:bodyPr>
          <a:lstStyle/>
          <a:p>
            <a:pPr algn="l">
              <a:lnSpc>
                <a:spcPts val="2470"/>
              </a:lnSpc>
            </a:pPr>
            <a:r>
              <a:rPr sz="1900" b="0">
                <a:solidFill>
                  <a:srgbClr val="24252F"/>
                </a:solidFill>
                <a:latin typeface="Open Sauce Semi-Bold"/>
              </a:rPr>
              <a:t>executes the data quality checks</a:t>
            </a:r>
          </a:p>
        </p:txBody>
      </p:sp>
      <p:sp>
        <p:nvSpPr>
          <p:cNvPr id="45" name="Rounded Rectangle 44"/>
          <p:cNvSpPr/>
          <p:nvPr/>
        </p:nvSpPr>
        <p:spPr>
          <a:xfrm>
            <a:off x="14298930" y="5532120"/>
            <a:ext cx="3131820" cy="1783080"/>
          </a:xfrm>
          <a:prstGeom prst="roundRect">
            <a:avLst>
              <a:gd name="adj" fmla="val 7179"/>
            </a:avLst>
          </a:prstGeom>
          <a:solidFill>
            <a:srgbClr val="E8E2DC"/>
          </a:solidFill>
          <a:ln w="19050">
            <a:solidFill>
              <a:srgbClr val="D8B58F"/>
            </a:solidFill>
          </a:ln>
        </p:spPr>
        <p:txBody>
          <a:bodyPr rtlCol="0" anchor="ctr"/>
          <a:lstStyle/>
          <a:p>
            <a:pPr algn="ctr"/>
          </a:p>
        </p:txBody>
      </p:sp>
      <p:sp>
        <p:nvSpPr>
          <p:cNvPr id="46" name="TextBox 45"/>
          <p:cNvSpPr txBox="1"/>
          <p:nvPr/>
        </p:nvSpPr>
        <p:spPr>
          <a:xfrm>
            <a:off x="14573250" y="5742432"/>
            <a:ext cx="2583180" cy="411480"/>
          </a:xfrm>
          <a:prstGeom prst="rect">
            <a:avLst/>
          </a:prstGeom>
          <a:noFill/>
        </p:spPr>
        <p:txBody>
          <a:bodyPr wrap="square" lIns="0" rIns="0" tIns="0" bIns="0" anchor="t">
            <a:noAutofit/>
          </a:bodyPr>
          <a:lstStyle/>
          <a:p>
            <a:pPr algn="l">
              <a:lnSpc>
                <a:spcPts val="3250"/>
              </a:lnSpc>
            </a:pPr>
            <a:r>
              <a:rPr sz="2500" b="1">
                <a:solidFill>
                  <a:srgbClr val="C9785A"/>
                </a:solidFill>
                <a:latin typeface="Open Sauce Bold"/>
              </a:rPr>
              <a:t>YAML</a:t>
            </a:r>
          </a:p>
        </p:txBody>
      </p:sp>
      <p:sp>
        <p:nvSpPr>
          <p:cNvPr id="47" name="TextBox 46"/>
          <p:cNvSpPr txBox="1"/>
          <p:nvPr/>
        </p:nvSpPr>
        <p:spPr>
          <a:xfrm>
            <a:off x="14573250" y="6309360"/>
            <a:ext cx="2583180" cy="868680"/>
          </a:xfrm>
          <a:prstGeom prst="rect">
            <a:avLst/>
          </a:prstGeom>
          <a:noFill/>
        </p:spPr>
        <p:txBody>
          <a:bodyPr wrap="square" lIns="0" rIns="0" tIns="0" bIns="0" anchor="t">
            <a:noAutofit/>
          </a:bodyPr>
          <a:lstStyle/>
          <a:p>
            <a:pPr algn="l">
              <a:lnSpc>
                <a:spcPts val="2470"/>
              </a:lnSpc>
            </a:pPr>
            <a:r>
              <a:rPr sz="1900" b="0">
                <a:solidFill>
                  <a:srgbClr val="24252F"/>
                </a:solidFill>
                <a:latin typeface="Open Sauce Semi-Bold"/>
              </a:rPr>
              <a:t>defines the validation rules</a:t>
            </a:r>
          </a:p>
        </p:txBody>
      </p:sp>
      <p:sp>
        <p:nvSpPr>
          <p:cNvPr id="48" name="TextBox 47"/>
          <p:cNvSpPr txBox="1"/>
          <p:nvPr/>
        </p:nvSpPr>
        <p:spPr>
          <a:xfrm>
            <a:off x="857250" y="7726680"/>
            <a:ext cx="16573500" cy="292608"/>
          </a:xfrm>
          <a:prstGeom prst="rect">
            <a:avLst/>
          </a:prstGeom>
          <a:noFill/>
        </p:spPr>
        <p:txBody>
          <a:bodyPr wrap="square" lIns="0" rIns="0" tIns="0" bIns="0" anchor="t">
            <a:noAutofit/>
          </a:bodyPr>
          <a:lstStyle/>
          <a:p>
            <a:pPr algn="ctr">
              <a:lnSpc>
                <a:spcPts val="2100"/>
              </a:lnSpc>
            </a:pPr>
            <a:r>
              <a:rPr sz="1500" b="1">
                <a:solidFill>
                  <a:srgbClr val="C9785A"/>
                </a:solidFill>
                <a:latin typeface="Open Sauce Bold"/>
              </a:rPr>
              <a:t>KEY POINT</a:t>
            </a:r>
          </a:p>
        </p:txBody>
      </p:sp>
      <p:sp>
        <p:nvSpPr>
          <p:cNvPr id="49" name="Rounded Rectangle 48"/>
          <p:cNvSpPr/>
          <p:nvPr/>
        </p:nvSpPr>
        <p:spPr>
          <a:xfrm>
            <a:off x="857250" y="8092440"/>
            <a:ext cx="16573500" cy="1234440"/>
          </a:xfrm>
          <a:prstGeom prst="roundRect">
            <a:avLst>
              <a:gd name="adj" fmla="val 11851"/>
            </a:avLst>
          </a:prstGeom>
          <a:solidFill>
            <a:srgbClr val="24252F"/>
          </a:solidFill>
          <a:ln>
            <a:noFill/>
          </a:ln>
        </p:spPr>
        <p:txBody>
          <a:bodyPr rtlCol="0" anchor="ctr"/>
          <a:lstStyle/>
          <a:p>
            <a:pPr algn="ctr"/>
          </a:p>
        </p:txBody>
      </p:sp>
      <p:sp>
        <p:nvSpPr>
          <p:cNvPr id="50" name="TextBox 49"/>
          <p:cNvSpPr txBox="1"/>
          <p:nvPr/>
        </p:nvSpPr>
        <p:spPr>
          <a:xfrm>
            <a:off x="1223010" y="8247888"/>
            <a:ext cx="15841980" cy="502920"/>
          </a:xfrm>
          <a:prstGeom prst="rect">
            <a:avLst/>
          </a:prstGeom>
          <a:noFill/>
        </p:spPr>
        <p:txBody>
          <a:bodyPr wrap="square" lIns="0" rIns="0" tIns="0" bIns="0" anchor="t">
            <a:noAutofit/>
          </a:bodyPr>
          <a:lstStyle/>
          <a:p>
            <a:pPr algn="ctr">
              <a:lnSpc>
                <a:spcPts val="3919"/>
              </a:lnSpc>
            </a:pPr>
            <a:r>
              <a:rPr sz="2800" b="1">
                <a:solidFill>
                  <a:srgbClr val="FFFFFF"/>
                </a:solidFill>
                <a:latin typeface="Open Sauce Bold"/>
              </a:rPr>
              <a:t>Everything runs locally</a:t>
            </a:r>
          </a:p>
        </p:txBody>
      </p:sp>
      <p:sp>
        <p:nvSpPr>
          <p:cNvPr id="51" name="TextBox 50"/>
          <p:cNvSpPr txBox="1"/>
          <p:nvPr/>
        </p:nvSpPr>
        <p:spPr>
          <a:xfrm>
            <a:off x="1223010" y="8823960"/>
            <a:ext cx="15841980" cy="365760"/>
          </a:xfrm>
          <a:prstGeom prst="rect">
            <a:avLst/>
          </a:prstGeom>
          <a:noFill/>
        </p:spPr>
        <p:txBody>
          <a:bodyPr wrap="square" lIns="0" rIns="0" tIns="0" bIns="0" anchor="t">
            <a:noAutofit/>
          </a:bodyPr>
          <a:lstStyle/>
          <a:p>
            <a:pPr algn="ctr">
              <a:lnSpc>
                <a:spcPts val="2660"/>
              </a:lnSpc>
            </a:pPr>
            <a:r>
              <a:rPr sz="1900" b="0">
                <a:solidFill>
                  <a:srgbClr val="F3C8B5"/>
                </a:solidFill>
                <a:latin typeface="Open Sauce Medium"/>
              </a:rPr>
              <a:t>No cloud account and no Soda Cloud needed for this implementation.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Title"/>
          <p:cNvSpPr txBox="1"/>
          <p:nvPr/>
        </p:nvSpPr>
        <p:spPr>
          <a:xfrm>
            <a:off x="857250" y="428854"/>
            <a:ext cx="15727680" cy="786384"/>
          </a:xfrm>
          <a:prstGeom prst="rect">
            <a:avLst/>
          </a:prstGeom>
          <a:noFill/>
        </p:spPr>
        <p:txBody>
          <a:bodyPr wrap="square" lIns="0" rIns="0" tIns="0" bIns="0" anchor="t">
            <a:noAutofit/>
          </a:bodyPr>
          <a:lstStyle/>
          <a:p>
            <a:pPr algn="l">
              <a:lnSpc>
                <a:spcPts val="6439"/>
              </a:lnSpc>
            </a:pPr>
            <a:r>
              <a:rPr sz="4600" b="1">
                <a:solidFill>
                  <a:srgbClr val="24252F"/>
                </a:solidFill>
                <a:latin typeface="Open Sauce Bold"/>
              </a:rPr>
              <a:t>Case Study — Implementation: The Dataset</a:t>
            </a:r>
          </a:p>
        </p:txBody>
      </p:sp>
      <p:sp>
        <p:nvSpPr>
          <p:cNvPr id="3" name="Eyebrow"/>
          <p:cNvSpPr txBox="1"/>
          <p:nvPr/>
        </p:nvSpPr>
        <p:spPr>
          <a:xfrm>
            <a:off x="857250" y="1228954"/>
            <a:ext cx="10972800" cy="283464"/>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SAMPLE ORDERS WITH PLANTED DEFECTS</a:t>
            </a:r>
          </a:p>
        </p:txBody>
      </p:sp>
      <p:cxnSp>
        <p:nvCxnSpPr>
          <p:cNvPr id="4" name="Connector 3"/>
          <p:cNvCxnSpPr/>
          <p:nvPr/>
        </p:nvCxnSpPr>
        <p:spPr>
          <a:xfrm>
            <a:off x="857250" y="1524305"/>
            <a:ext cx="16573500" cy="0"/>
          </a:xfrm>
          <a:prstGeom prst="line">
            <a:avLst/>
          </a:prstGeom>
          <a:ln w="19050">
            <a:solidFill>
              <a:srgbClr val="D8B58F"/>
            </a:solidFill>
          </a:ln>
        </p:spPr>
      </p:cxnSp>
      <p:cxnSp>
        <p:nvCxnSpPr>
          <p:cNvPr id="5" name="Connector 4"/>
          <p:cNvCxnSpPr/>
          <p:nvPr/>
        </p:nvCxnSpPr>
        <p:spPr>
          <a:xfrm>
            <a:off x="857250" y="9601200"/>
            <a:ext cx="16573500" cy="0"/>
          </a:xfrm>
          <a:prstGeom prst="line">
            <a:avLst/>
          </a:prstGeom>
          <a:ln w="19050">
            <a:solidFill>
              <a:srgbClr val="D8B58F"/>
            </a:solidFill>
          </a:ln>
        </p:spPr>
      </p:cxnSp>
      <p:sp>
        <p:nvSpPr>
          <p:cNvPr id="6" name="Footer"/>
          <p:cNvSpPr txBox="1"/>
          <p:nvPr/>
        </p:nvSpPr>
        <p:spPr>
          <a:xfrm>
            <a:off x="857250" y="9765792"/>
            <a:ext cx="2377440" cy="237744"/>
          </a:xfrm>
          <a:prstGeom prst="rect">
            <a:avLst/>
          </a:prstGeom>
          <a:noFill/>
        </p:spPr>
        <p:txBody>
          <a:bodyPr wrap="square" lIns="0" rIns="0" tIns="0" bIns="0" anchor="t">
            <a:noAutofit/>
          </a:bodyPr>
          <a:lstStyle/>
          <a:p>
            <a:pPr algn="l">
              <a:lnSpc>
                <a:spcPts val="1959"/>
              </a:lnSpc>
            </a:pPr>
            <a:r>
              <a:rPr sz="1400" b="0">
                <a:solidFill>
                  <a:srgbClr val="6E6863"/>
                </a:solidFill>
                <a:latin typeface="Open Sauce Medium"/>
              </a:rPr>
              <a:t>ISE Activity 2</a:t>
            </a:r>
          </a:p>
        </p:txBody>
      </p:sp>
      <p:sp>
        <p:nvSpPr>
          <p:cNvPr id="7" name="Page number"/>
          <p:cNvSpPr txBox="1"/>
          <p:nvPr/>
        </p:nvSpPr>
        <p:spPr>
          <a:xfrm>
            <a:off x="17049902" y="9765792"/>
            <a:ext cx="381305" cy="237744"/>
          </a:xfrm>
          <a:prstGeom prst="rect">
            <a:avLst/>
          </a:prstGeom>
          <a:noFill/>
        </p:spPr>
        <p:txBody>
          <a:bodyPr wrap="square" lIns="0" rIns="0" tIns="0" bIns="0" anchor="t">
            <a:noAutofit/>
          </a:bodyPr>
          <a:lstStyle/>
          <a:p>
            <a:pPr algn="r">
              <a:lnSpc>
                <a:spcPts val="1959"/>
              </a:lnSpc>
            </a:pPr>
            <a:r>
              <a:rPr sz="1400" b="0">
                <a:solidFill>
                  <a:srgbClr val="6E6863"/>
                </a:solidFill>
                <a:latin typeface="Open Sauce Medium"/>
              </a:rPr>
              <a:t>9</a:t>
            </a:r>
          </a:p>
        </p:txBody>
      </p:sp>
      <p:sp>
        <p:nvSpPr>
          <p:cNvPr id="8" name="TextBox 7"/>
          <p:cNvSpPr txBox="1"/>
          <p:nvPr/>
        </p:nvSpPr>
        <p:spPr>
          <a:xfrm>
            <a:off x="857250" y="1783080"/>
            <a:ext cx="1097280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SAMPLE ROWS FROM orders.csv  (6 OF 9 COLUMNS SHOWN)</a:t>
            </a:r>
          </a:p>
        </p:txBody>
      </p:sp>
      <p:sp>
        <p:nvSpPr>
          <p:cNvPr id="9" name="Rectangle 8"/>
          <p:cNvSpPr/>
          <p:nvPr/>
        </p:nvSpPr>
        <p:spPr>
          <a:xfrm>
            <a:off x="857250" y="2194560"/>
            <a:ext cx="11338560" cy="576072"/>
          </a:xfrm>
          <a:prstGeom prst="rect">
            <a:avLst/>
          </a:prstGeom>
          <a:solidFill>
            <a:srgbClr val="24252F"/>
          </a:solidFill>
          <a:ln>
            <a:noFill/>
          </a:ln>
        </p:spPr>
        <p:txBody>
          <a:bodyPr rtlCol="0" anchor="ctr"/>
          <a:lstStyle/>
          <a:p>
            <a:pPr algn="ctr"/>
          </a:p>
        </p:txBody>
      </p:sp>
      <p:sp>
        <p:nvSpPr>
          <p:cNvPr id="10" name="TextBox 9"/>
          <p:cNvSpPr txBox="1"/>
          <p:nvPr/>
        </p:nvSpPr>
        <p:spPr>
          <a:xfrm>
            <a:off x="1040130" y="2194560"/>
            <a:ext cx="1463040" cy="576072"/>
          </a:xfrm>
          <a:prstGeom prst="rect">
            <a:avLst/>
          </a:prstGeom>
          <a:noFill/>
        </p:spPr>
        <p:txBody>
          <a:bodyPr wrap="square" lIns="0" rIns="0" tIns="0" bIns="0" anchor="ctr">
            <a:noAutofit/>
          </a:bodyPr>
          <a:lstStyle/>
          <a:p>
            <a:pPr algn="l">
              <a:lnSpc>
                <a:spcPts val="2039"/>
              </a:lnSpc>
            </a:pPr>
            <a:r>
              <a:rPr sz="1700" b="1">
                <a:solidFill>
                  <a:srgbClr val="FFFFFF"/>
                </a:solidFill>
                <a:latin typeface="Open Sauce Bold"/>
              </a:rPr>
              <a:t>order_id</a:t>
            </a:r>
          </a:p>
        </p:txBody>
      </p:sp>
      <p:sp>
        <p:nvSpPr>
          <p:cNvPr id="11" name="TextBox 10"/>
          <p:cNvSpPr txBox="1"/>
          <p:nvPr/>
        </p:nvSpPr>
        <p:spPr>
          <a:xfrm>
            <a:off x="2777490" y="2194560"/>
            <a:ext cx="1737360" cy="576072"/>
          </a:xfrm>
          <a:prstGeom prst="rect">
            <a:avLst/>
          </a:prstGeom>
          <a:noFill/>
        </p:spPr>
        <p:txBody>
          <a:bodyPr wrap="square" lIns="0" rIns="0" tIns="0" bIns="0" anchor="ctr">
            <a:noAutofit/>
          </a:bodyPr>
          <a:lstStyle/>
          <a:p>
            <a:pPr algn="l">
              <a:lnSpc>
                <a:spcPts val="2039"/>
              </a:lnSpc>
            </a:pPr>
            <a:r>
              <a:rPr sz="1700" b="1">
                <a:solidFill>
                  <a:srgbClr val="FFFFFF"/>
                </a:solidFill>
                <a:latin typeface="Open Sauce Bold"/>
              </a:rPr>
              <a:t>customer_id</a:t>
            </a:r>
          </a:p>
        </p:txBody>
      </p:sp>
      <p:sp>
        <p:nvSpPr>
          <p:cNvPr id="12" name="TextBox 11"/>
          <p:cNvSpPr txBox="1"/>
          <p:nvPr/>
        </p:nvSpPr>
        <p:spPr>
          <a:xfrm>
            <a:off x="4789170" y="2194560"/>
            <a:ext cx="1828800" cy="576072"/>
          </a:xfrm>
          <a:prstGeom prst="rect">
            <a:avLst/>
          </a:prstGeom>
          <a:noFill/>
        </p:spPr>
        <p:txBody>
          <a:bodyPr wrap="square" lIns="0" rIns="0" tIns="0" bIns="0" anchor="ctr">
            <a:noAutofit/>
          </a:bodyPr>
          <a:lstStyle/>
          <a:p>
            <a:pPr algn="l">
              <a:lnSpc>
                <a:spcPts val="2039"/>
              </a:lnSpc>
            </a:pPr>
            <a:r>
              <a:rPr sz="1700" b="1">
                <a:solidFill>
                  <a:srgbClr val="FFFFFF"/>
                </a:solidFill>
                <a:latin typeface="Open Sauce Bold"/>
              </a:rPr>
              <a:t>product</a:t>
            </a:r>
          </a:p>
        </p:txBody>
      </p:sp>
      <p:sp>
        <p:nvSpPr>
          <p:cNvPr id="13" name="TextBox 12"/>
          <p:cNvSpPr txBox="1"/>
          <p:nvPr/>
        </p:nvSpPr>
        <p:spPr>
          <a:xfrm>
            <a:off x="6892290" y="2194560"/>
            <a:ext cx="1463040" cy="576072"/>
          </a:xfrm>
          <a:prstGeom prst="rect">
            <a:avLst/>
          </a:prstGeom>
          <a:noFill/>
        </p:spPr>
        <p:txBody>
          <a:bodyPr wrap="square" lIns="0" rIns="0" tIns="0" bIns="0" anchor="ctr">
            <a:noAutofit/>
          </a:bodyPr>
          <a:lstStyle/>
          <a:p>
            <a:pPr algn="l">
              <a:lnSpc>
                <a:spcPts val="2039"/>
              </a:lnSpc>
            </a:pPr>
            <a:r>
              <a:rPr sz="1700" b="1">
                <a:solidFill>
                  <a:srgbClr val="FFFFFF"/>
                </a:solidFill>
                <a:latin typeface="Open Sauce Bold"/>
              </a:rPr>
              <a:t>unit_price</a:t>
            </a:r>
          </a:p>
        </p:txBody>
      </p:sp>
      <p:sp>
        <p:nvSpPr>
          <p:cNvPr id="14" name="TextBox 13"/>
          <p:cNvSpPr txBox="1"/>
          <p:nvPr/>
        </p:nvSpPr>
        <p:spPr>
          <a:xfrm>
            <a:off x="8629650" y="2194560"/>
            <a:ext cx="1188720" cy="576072"/>
          </a:xfrm>
          <a:prstGeom prst="rect">
            <a:avLst/>
          </a:prstGeom>
          <a:noFill/>
        </p:spPr>
        <p:txBody>
          <a:bodyPr wrap="square" lIns="0" rIns="0" tIns="0" bIns="0" anchor="ctr">
            <a:noAutofit/>
          </a:bodyPr>
          <a:lstStyle/>
          <a:p>
            <a:pPr algn="l">
              <a:lnSpc>
                <a:spcPts val="2039"/>
              </a:lnSpc>
            </a:pPr>
            <a:r>
              <a:rPr sz="1700" b="1">
                <a:solidFill>
                  <a:srgbClr val="FFFFFF"/>
                </a:solidFill>
                <a:latin typeface="Open Sauce Bold"/>
              </a:rPr>
              <a:t>quantity</a:t>
            </a:r>
          </a:p>
        </p:txBody>
      </p:sp>
      <p:sp>
        <p:nvSpPr>
          <p:cNvPr id="15" name="TextBox 14"/>
          <p:cNvSpPr txBox="1"/>
          <p:nvPr/>
        </p:nvSpPr>
        <p:spPr>
          <a:xfrm>
            <a:off x="10092690" y="2194560"/>
            <a:ext cx="2011680" cy="576072"/>
          </a:xfrm>
          <a:prstGeom prst="rect">
            <a:avLst/>
          </a:prstGeom>
          <a:noFill/>
        </p:spPr>
        <p:txBody>
          <a:bodyPr wrap="square" lIns="0" rIns="0" tIns="0" bIns="0" anchor="ctr">
            <a:noAutofit/>
          </a:bodyPr>
          <a:lstStyle/>
          <a:p>
            <a:pPr algn="l">
              <a:lnSpc>
                <a:spcPts val="2039"/>
              </a:lnSpc>
            </a:pPr>
            <a:r>
              <a:rPr sz="1700" b="1">
                <a:solidFill>
                  <a:srgbClr val="FFFFFF"/>
                </a:solidFill>
                <a:latin typeface="Open Sauce Bold"/>
              </a:rPr>
              <a:t>status</a:t>
            </a:r>
          </a:p>
        </p:txBody>
      </p:sp>
      <p:sp>
        <p:nvSpPr>
          <p:cNvPr id="16" name="Rectangle 15"/>
          <p:cNvSpPr/>
          <p:nvPr/>
        </p:nvSpPr>
        <p:spPr>
          <a:xfrm>
            <a:off x="857250" y="2770632"/>
            <a:ext cx="11338560" cy="576072"/>
          </a:xfrm>
          <a:prstGeom prst="rect">
            <a:avLst/>
          </a:prstGeom>
          <a:solidFill>
            <a:srgbClr val="FCFAF8"/>
          </a:solidFill>
          <a:ln w="9525">
            <a:solidFill>
              <a:srgbClr val="D8B58F"/>
            </a:solidFill>
          </a:ln>
        </p:spPr>
        <p:txBody>
          <a:bodyPr rtlCol="0" anchor="ctr"/>
          <a:lstStyle/>
          <a:p>
            <a:pPr algn="ctr"/>
          </a:p>
        </p:txBody>
      </p:sp>
      <p:sp>
        <p:nvSpPr>
          <p:cNvPr id="17" name="TextBox 16"/>
          <p:cNvSpPr txBox="1"/>
          <p:nvPr/>
        </p:nvSpPr>
        <p:spPr>
          <a:xfrm>
            <a:off x="1040130" y="2770632"/>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O0001</a:t>
            </a:r>
          </a:p>
        </p:txBody>
      </p:sp>
      <p:sp>
        <p:nvSpPr>
          <p:cNvPr id="18" name="TextBox 17"/>
          <p:cNvSpPr txBox="1"/>
          <p:nvPr/>
        </p:nvSpPr>
        <p:spPr>
          <a:xfrm>
            <a:off x="2777490" y="2770632"/>
            <a:ext cx="173736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C002</a:t>
            </a:r>
          </a:p>
        </p:txBody>
      </p:sp>
      <p:sp>
        <p:nvSpPr>
          <p:cNvPr id="19" name="TextBox 18"/>
          <p:cNvSpPr txBox="1"/>
          <p:nvPr/>
        </p:nvSpPr>
        <p:spPr>
          <a:xfrm>
            <a:off x="4789170" y="2770632"/>
            <a:ext cx="182880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Webcam</a:t>
            </a:r>
          </a:p>
        </p:txBody>
      </p:sp>
      <p:sp>
        <p:nvSpPr>
          <p:cNvPr id="20" name="TextBox 19"/>
          <p:cNvSpPr txBox="1"/>
          <p:nvPr/>
        </p:nvSpPr>
        <p:spPr>
          <a:xfrm>
            <a:off x="6892290" y="2770632"/>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1800</a:t>
            </a:r>
          </a:p>
        </p:txBody>
      </p:sp>
      <p:sp>
        <p:nvSpPr>
          <p:cNvPr id="21" name="TextBox 20"/>
          <p:cNvSpPr txBox="1"/>
          <p:nvPr/>
        </p:nvSpPr>
        <p:spPr>
          <a:xfrm>
            <a:off x="8629650" y="2770632"/>
            <a:ext cx="118872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a:t>
            </a:r>
          </a:p>
        </p:txBody>
      </p:sp>
      <p:sp>
        <p:nvSpPr>
          <p:cNvPr id="22" name="TextBox 21"/>
          <p:cNvSpPr txBox="1"/>
          <p:nvPr/>
        </p:nvSpPr>
        <p:spPr>
          <a:xfrm>
            <a:off x="10092690" y="2770632"/>
            <a:ext cx="201168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Shipped</a:t>
            </a:r>
          </a:p>
        </p:txBody>
      </p:sp>
      <p:sp>
        <p:nvSpPr>
          <p:cNvPr id="23" name="Rectangle 22"/>
          <p:cNvSpPr/>
          <p:nvPr/>
        </p:nvSpPr>
        <p:spPr>
          <a:xfrm>
            <a:off x="857250" y="3346704"/>
            <a:ext cx="11338560" cy="576072"/>
          </a:xfrm>
          <a:prstGeom prst="rect">
            <a:avLst/>
          </a:prstGeom>
          <a:solidFill>
            <a:srgbClr val="E8E2DC"/>
          </a:solidFill>
          <a:ln w="9525">
            <a:solidFill>
              <a:srgbClr val="D8B58F"/>
            </a:solidFill>
          </a:ln>
        </p:spPr>
        <p:txBody>
          <a:bodyPr rtlCol="0" anchor="ctr"/>
          <a:lstStyle/>
          <a:p>
            <a:pPr algn="ctr"/>
          </a:p>
        </p:txBody>
      </p:sp>
      <p:sp>
        <p:nvSpPr>
          <p:cNvPr id="24" name="TextBox 23"/>
          <p:cNvSpPr txBox="1"/>
          <p:nvPr/>
        </p:nvSpPr>
        <p:spPr>
          <a:xfrm>
            <a:off x="1040130" y="3346704"/>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O0002</a:t>
            </a:r>
          </a:p>
        </p:txBody>
      </p:sp>
      <p:sp>
        <p:nvSpPr>
          <p:cNvPr id="25" name="TextBox 24"/>
          <p:cNvSpPr txBox="1"/>
          <p:nvPr/>
        </p:nvSpPr>
        <p:spPr>
          <a:xfrm>
            <a:off x="2777490" y="3346704"/>
            <a:ext cx="173736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C048</a:t>
            </a:r>
          </a:p>
        </p:txBody>
      </p:sp>
      <p:sp>
        <p:nvSpPr>
          <p:cNvPr id="26" name="TextBox 25"/>
          <p:cNvSpPr txBox="1"/>
          <p:nvPr/>
        </p:nvSpPr>
        <p:spPr>
          <a:xfrm>
            <a:off x="4789170" y="3346704"/>
            <a:ext cx="182880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Mouse</a:t>
            </a:r>
          </a:p>
        </p:txBody>
      </p:sp>
      <p:sp>
        <p:nvSpPr>
          <p:cNvPr id="27" name="TextBox 26"/>
          <p:cNvSpPr txBox="1"/>
          <p:nvPr/>
        </p:nvSpPr>
        <p:spPr>
          <a:xfrm>
            <a:off x="6892290" y="3346704"/>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800</a:t>
            </a:r>
          </a:p>
        </p:txBody>
      </p:sp>
      <p:sp>
        <p:nvSpPr>
          <p:cNvPr id="28" name="TextBox 27"/>
          <p:cNvSpPr txBox="1"/>
          <p:nvPr/>
        </p:nvSpPr>
        <p:spPr>
          <a:xfrm>
            <a:off x="8629650" y="3346704"/>
            <a:ext cx="118872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a:t>
            </a:r>
          </a:p>
        </p:txBody>
      </p:sp>
      <p:sp>
        <p:nvSpPr>
          <p:cNvPr id="29" name="TextBox 28"/>
          <p:cNvSpPr txBox="1"/>
          <p:nvPr/>
        </p:nvSpPr>
        <p:spPr>
          <a:xfrm>
            <a:off x="10092690" y="3346704"/>
            <a:ext cx="201168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Pending</a:t>
            </a:r>
          </a:p>
        </p:txBody>
      </p:sp>
      <p:sp>
        <p:nvSpPr>
          <p:cNvPr id="30" name="Rectangle 29"/>
          <p:cNvSpPr/>
          <p:nvPr/>
        </p:nvSpPr>
        <p:spPr>
          <a:xfrm>
            <a:off x="857250" y="3922776"/>
            <a:ext cx="11338560" cy="576072"/>
          </a:xfrm>
          <a:prstGeom prst="rect">
            <a:avLst/>
          </a:prstGeom>
          <a:solidFill>
            <a:srgbClr val="FCFAF8"/>
          </a:solidFill>
          <a:ln w="9525">
            <a:solidFill>
              <a:srgbClr val="D8B58F"/>
            </a:solidFill>
          </a:ln>
        </p:spPr>
        <p:txBody>
          <a:bodyPr rtlCol="0" anchor="ctr"/>
          <a:lstStyle/>
          <a:p>
            <a:pPr algn="ctr"/>
          </a:p>
        </p:txBody>
      </p:sp>
      <p:sp>
        <p:nvSpPr>
          <p:cNvPr id="31" name="TextBox 30"/>
          <p:cNvSpPr txBox="1"/>
          <p:nvPr/>
        </p:nvSpPr>
        <p:spPr>
          <a:xfrm>
            <a:off x="1040130" y="3922776"/>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O0003</a:t>
            </a:r>
          </a:p>
        </p:txBody>
      </p:sp>
      <p:sp>
        <p:nvSpPr>
          <p:cNvPr id="32" name="TextBox 31"/>
          <p:cNvSpPr txBox="1"/>
          <p:nvPr/>
        </p:nvSpPr>
        <p:spPr>
          <a:xfrm>
            <a:off x="2777490" y="3922776"/>
            <a:ext cx="173736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C003</a:t>
            </a:r>
          </a:p>
        </p:txBody>
      </p:sp>
      <p:sp>
        <p:nvSpPr>
          <p:cNvPr id="33" name="TextBox 32"/>
          <p:cNvSpPr txBox="1"/>
          <p:nvPr/>
        </p:nvSpPr>
        <p:spPr>
          <a:xfrm>
            <a:off x="4789170" y="3922776"/>
            <a:ext cx="182880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Monitor</a:t>
            </a:r>
          </a:p>
        </p:txBody>
      </p:sp>
      <p:sp>
        <p:nvSpPr>
          <p:cNvPr id="34" name="TextBox 33"/>
          <p:cNvSpPr txBox="1"/>
          <p:nvPr/>
        </p:nvSpPr>
        <p:spPr>
          <a:xfrm>
            <a:off x="6892290" y="3922776"/>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12000</a:t>
            </a:r>
          </a:p>
        </p:txBody>
      </p:sp>
      <p:sp>
        <p:nvSpPr>
          <p:cNvPr id="35" name="TextBox 34"/>
          <p:cNvSpPr txBox="1"/>
          <p:nvPr/>
        </p:nvSpPr>
        <p:spPr>
          <a:xfrm>
            <a:off x="8629650" y="3922776"/>
            <a:ext cx="118872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2</a:t>
            </a:r>
          </a:p>
        </p:txBody>
      </p:sp>
      <p:sp>
        <p:nvSpPr>
          <p:cNvPr id="36" name="TextBox 35"/>
          <p:cNvSpPr txBox="1"/>
          <p:nvPr/>
        </p:nvSpPr>
        <p:spPr>
          <a:xfrm>
            <a:off x="10092690" y="3922776"/>
            <a:ext cx="201168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Pending</a:t>
            </a:r>
          </a:p>
        </p:txBody>
      </p:sp>
      <p:sp>
        <p:nvSpPr>
          <p:cNvPr id="37" name="Rectangle 36"/>
          <p:cNvSpPr/>
          <p:nvPr/>
        </p:nvSpPr>
        <p:spPr>
          <a:xfrm>
            <a:off x="857250" y="4498848"/>
            <a:ext cx="11338560" cy="576072"/>
          </a:xfrm>
          <a:prstGeom prst="rect">
            <a:avLst/>
          </a:prstGeom>
          <a:solidFill>
            <a:srgbClr val="F1D8CC"/>
          </a:solidFill>
          <a:ln w="9525">
            <a:solidFill>
              <a:srgbClr val="D8B58F"/>
            </a:solidFill>
          </a:ln>
        </p:spPr>
        <p:txBody>
          <a:bodyPr rtlCol="0" anchor="ctr"/>
          <a:lstStyle/>
          <a:p>
            <a:pPr algn="ctr"/>
          </a:p>
        </p:txBody>
      </p:sp>
      <p:sp>
        <p:nvSpPr>
          <p:cNvPr id="38" name="TextBox 37"/>
          <p:cNvSpPr txBox="1"/>
          <p:nvPr/>
        </p:nvSpPr>
        <p:spPr>
          <a:xfrm>
            <a:off x="1040130" y="4498848"/>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O9001</a:t>
            </a:r>
          </a:p>
        </p:txBody>
      </p:sp>
      <p:sp>
        <p:nvSpPr>
          <p:cNvPr id="39" name="TextBox 38"/>
          <p:cNvSpPr txBox="1"/>
          <p:nvPr/>
        </p:nvSpPr>
        <p:spPr>
          <a:xfrm>
            <a:off x="2777490" y="4498848"/>
            <a:ext cx="173736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C999</a:t>
            </a:r>
          </a:p>
        </p:txBody>
      </p:sp>
      <p:sp>
        <p:nvSpPr>
          <p:cNvPr id="40" name="TextBox 39"/>
          <p:cNvSpPr txBox="1"/>
          <p:nvPr/>
        </p:nvSpPr>
        <p:spPr>
          <a:xfrm>
            <a:off x="4789170" y="4498848"/>
            <a:ext cx="182880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Laptop</a:t>
            </a:r>
          </a:p>
        </p:txBody>
      </p:sp>
      <p:sp>
        <p:nvSpPr>
          <p:cNvPr id="41" name="Rounded Rectangle 40"/>
          <p:cNvSpPr/>
          <p:nvPr/>
        </p:nvSpPr>
        <p:spPr>
          <a:xfrm>
            <a:off x="6764274" y="4562856"/>
            <a:ext cx="1627632" cy="448056"/>
          </a:xfrm>
          <a:prstGeom prst="roundRect">
            <a:avLst>
              <a:gd name="adj" fmla="val 12244"/>
            </a:avLst>
          </a:prstGeom>
          <a:solidFill>
            <a:srgbClr val="C9785A"/>
          </a:solidFill>
          <a:ln>
            <a:noFill/>
          </a:ln>
        </p:spPr>
        <p:txBody>
          <a:bodyPr rtlCol="0" anchor="ctr"/>
          <a:lstStyle/>
          <a:p>
            <a:pPr algn="ctr"/>
          </a:p>
        </p:txBody>
      </p:sp>
      <p:sp>
        <p:nvSpPr>
          <p:cNvPr id="42" name="TextBox 41"/>
          <p:cNvSpPr txBox="1"/>
          <p:nvPr/>
        </p:nvSpPr>
        <p:spPr>
          <a:xfrm>
            <a:off x="6892290" y="4498848"/>
            <a:ext cx="1463040" cy="576072"/>
          </a:xfrm>
          <a:prstGeom prst="rect">
            <a:avLst/>
          </a:prstGeom>
          <a:noFill/>
        </p:spPr>
        <p:txBody>
          <a:bodyPr wrap="square" lIns="0" rIns="0" tIns="0" bIns="0" anchor="ctr">
            <a:noAutofit/>
          </a:bodyPr>
          <a:lstStyle/>
          <a:p>
            <a:pPr algn="l">
              <a:lnSpc>
                <a:spcPts val="2160"/>
              </a:lnSpc>
            </a:pPr>
            <a:r>
              <a:rPr sz="1800" b="1">
                <a:solidFill>
                  <a:srgbClr val="FFFFFF"/>
                </a:solidFill>
                <a:latin typeface="Open Sauce Bold"/>
              </a:rPr>
              <a:t>-65000</a:t>
            </a:r>
          </a:p>
        </p:txBody>
      </p:sp>
      <p:sp>
        <p:nvSpPr>
          <p:cNvPr id="43" name="TextBox 42"/>
          <p:cNvSpPr txBox="1"/>
          <p:nvPr/>
        </p:nvSpPr>
        <p:spPr>
          <a:xfrm>
            <a:off x="8629650" y="4498848"/>
            <a:ext cx="118872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a:t>
            </a:r>
          </a:p>
        </p:txBody>
      </p:sp>
      <p:sp>
        <p:nvSpPr>
          <p:cNvPr id="44" name="TextBox 43"/>
          <p:cNvSpPr txBox="1"/>
          <p:nvPr/>
        </p:nvSpPr>
        <p:spPr>
          <a:xfrm>
            <a:off x="10092690" y="4498848"/>
            <a:ext cx="201168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Delivered</a:t>
            </a:r>
          </a:p>
        </p:txBody>
      </p:sp>
      <p:sp>
        <p:nvSpPr>
          <p:cNvPr id="45" name="Rectangle 44"/>
          <p:cNvSpPr/>
          <p:nvPr/>
        </p:nvSpPr>
        <p:spPr>
          <a:xfrm>
            <a:off x="857250" y="5074920"/>
            <a:ext cx="11338560" cy="576072"/>
          </a:xfrm>
          <a:prstGeom prst="rect">
            <a:avLst/>
          </a:prstGeom>
          <a:solidFill>
            <a:srgbClr val="F1D8CC"/>
          </a:solidFill>
          <a:ln w="9525">
            <a:solidFill>
              <a:srgbClr val="D8B58F"/>
            </a:solidFill>
          </a:ln>
        </p:spPr>
        <p:txBody>
          <a:bodyPr rtlCol="0" anchor="ctr"/>
          <a:lstStyle/>
          <a:p>
            <a:pPr algn="ctr"/>
          </a:p>
        </p:txBody>
      </p:sp>
      <p:sp>
        <p:nvSpPr>
          <p:cNvPr id="46" name="TextBox 45"/>
          <p:cNvSpPr txBox="1"/>
          <p:nvPr/>
        </p:nvSpPr>
        <p:spPr>
          <a:xfrm>
            <a:off x="1040130" y="5074920"/>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O9002</a:t>
            </a:r>
          </a:p>
        </p:txBody>
      </p:sp>
      <p:sp>
        <p:nvSpPr>
          <p:cNvPr id="47" name="TextBox 46"/>
          <p:cNvSpPr txBox="1"/>
          <p:nvPr/>
        </p:nvSpPr>
        <p:spPr>
          <a:xfrm>
            <a:off x="2777490" y="5074920"/>
            <a:ext cx="173736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C998</a:t>
            </a:r>
          </a:p>
        </p:txBody>
      </p:sp>
      <p:sp>
        <p:nvSpPr>
          <p:cNvPr id="48" name="TextBox 47"/>
          <p:cNvSpPr txBox="1"/>
          <p:nvPr/>
        </p:nvSpPr>
        <p:spPr>
          <a:xfrm>
            <a:off x="4789170" y="5074920"/>
            <a:ext cx="182880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Mouse</a:t>
            </a:r>
          </a:p>
        </p:txBody>
      </p:sp>
      <p:sp>
        <p:nvSpPr>
          <p:cNvPr id="49" name="TextBox 48"/>
          <p:cNvSpPr txBox="1"/>
          <p:nvPr/>
        </p:nvSpPr>
        <p:spPr>
          <a:xfrm>
            <a:off x="6892290" y="5074920"/>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800</a:t>
            </a:r>
          </a:p>
        </p:txBody>
      </p:sp>
      <p:sp>
        <p:nvSpPr>
          <p:cNvPr id="50" name="Rounded Rectangle 49"/>
          <p:cNvSpPr/>
          <p:nvPr/>
        </p:nvSpPr>
        <p:spPr>
          <a:xfrm>
            <a:off x="8501634" y="5138928"/>
            <a:ext cx="1353312" cy="448056"/>
          </a:xfrm>
          <a:prstGeom prst="roundRect">
            <a:avLst>
              <a:gd name="adj" fmla="val 12244"/>
            </a:avLst>
          </a:prstGeom>
          <a:solidFill>
            <a:srgbClr val="C9785A"/>
          </a:solidFill>
          <a:ln>
            <a:noFill/>
          </a:ln>
        </p:spPr>
        <p:txBody>
          <a:bodyPr rtlCol="0" anchor="ctr"/>
          <a:lstStyle/>
          <a:p>
            <a:pPr algn="ctr"/>
          </a:p>
        </p:txBody>
      </p:sp>
      <p:sp>
        <p:nvSpPr>
          <p:cNvPr id="51" name="TextBox 50"/>
          <p:cNvSpPr txBox="1"/>
          <p:nvPr/>
        </p:nvSpPr>
        <p:spPr>
          <a:xfrm>
            <a:off x="8629650" y="5074920"/>
            <a:ext cx="1188720" cy="576072"/>
          </a:xfrm>
          <a:prstGeom prst="rect">
            <a:avLst/>
          </a:prstGeom>
          <a:noFill/>
        </p:spPr>
        <p:txBody>
          <a:bodyPr wrap="square" lIns="0" rIns="0" tIns="0" bIns="0" anchor="ctr">
            <a:noAutofit/>
          </a:bodyPr>
          <a:lstStyle/>
          <a:p>
            <a:pPr algn="l">
              <a:lnSpc>
                <a:spcPts val="2160"/>
              </a:lnSpc>
            </a:pPr>
            <a:r>
              <a:rPr sz="1800" b="1">
                <a:solidFill>
                  <a:srgbClr val="FFFFFF"/>
                </a:solidFill>
                <a:latin typeface="Open Sauce Bold"/>
              </a:rPr>
              <a:t>0</a:t>
            </a:r>
          </a:p>
        </p:txBody>
      </p:sp>
      <p:sp>
        <p:nvSpPr>
          <p:cNvPr id="52" name="TextBox 51"/>
          <p:cNvSpPr txBox="1"/>
          <p:nvPr/>
        </p:nvSpPr>
        <p:spPr>
          <a:xfrm>
            <a:off x="10092690" y="5074920"/>
            <a:ext cx="201168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Delivered</a:t>
            </a:r>
          </a:p>
        </p:txBody>
      </p:sp>
      <p:sp>
        <p:nvSpPr>
          <p:cNvPr id="53" name="Rectangle 52"/>
          <p:cNvSpPr/>
          <p:nvPr/>
        </p:nvSpPr>
        <p:spPr>
          <a:xfrm>
            <a:off x="857250" y="5650992"/>
            <a:ext cx="11338560" cy="576072"/>
          </a:xfrm>
          <a:prstGeom prst="rect">
            <a:avLst/>
          </a:prstGeom>
          <a:solidFill>
            <a:srgbClr val="F1D8CC"/>
          </a:solidFill>
          <a:ln w="9525">
            <a:solidFill>
              <a:srgbClr val="D8B58F"/>
            </a:solidFill>
          </a:ln>
        </p:spPr>
        <p:txBody>
          <a:bodyPr rtlCol="0" anchor="ctr"/>
          <a:lstStyle/>
          <a:p>
            <a:pPr algn="ctr"/>
          </a:p>
        </p:txBody>
      </p:sp>
      <p:sp>
        <p:nvSpPr>
          <p:cNvPr id="54" name="TextBox 53"/>
          <p:cNvSpPr txBox="1"/>
          <p:nvPr/>
        </p:nvSpPr>
        <p:spPr>
          <a:xfrm>
            <a:off x="1040130" y="5650992"/>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O9003</a:t>
            </a:r>
          </a:p>
        </p:txBody>
      </p:sp>
      <p:sp>
        <p:nvSpPr>
          <p:cNvPr id="55" name="Rounded Rectangle 54"/>
          <p:cNvSpPr/>
          <p:nvPr/>
        </p:nvSpPr>
        <p:spPr>
          <a:xfrm>
            <a:off x="2649474" y="5715000"/>
            <a:ext cx="1901952" cy="448056"/>
          </a:xfrm>
          <a:prstGeom prst="roundRect">
            <a:avLst>
              <a:gd name="adj" fmla="val 12244"/>
            </a:avLst>
          </a:prstGeom>
          <a:solidFill>
            <a:srgbClr val="C9785A"/>
          </a:solidFill>
          <a:ln>
            <a:noFill/>
          </a:ln>
        </p:spPr>
        <p:txBody>
          <a:bodyPr rtlCol="0" anchor="ctr"/>
          <a:lstStyle/>
          <a:p>
            <a:pPr algn="ctr"/>
          </a:p>
        </p:txBody>
      </p:sp>
      <p:sp>
        <p:nvSpPr>
          <p:cNvPr id="56" name="TextBox 55"/>
          <p:cNvSpPr txBox="1"/>
          <p:nvPr/>
        </p:nvSpPr>
        <p:spPr>
          <a:xfrm>
            <a:off x="2777490" y="5650992"/>
            <a:ext cx="1737360" cy="576072"/>
          </a:xfrm>
          <a:prstGeom prst="rect">
            <a:avLst/>
          </a:prstGeom>
          <a:noFill/>
        </p:spPr>
        <p:txBody>
          <a:bodyPr wrap="square" lIns="0" rIns="0" tIns="0" bIns="0" anchor="ctr">
            <a:noAutofit/>
          </a:bodyPr>
          <a:lstStyle/>
          <a:p>
            <a:pPr algn="l">
              <a:lnSpc>
                <a:spcPts val="2160"/>
              </a:lnSpc>
            </a:pPr>
            <a:r>
              <a:rPr sz="1800" b="1">
                <a:solidFill>
                  <a:srgbClr val="FFFFFF"/>
                </a:solidFill>
                <a:latin typeface="Open Sauce Bold"/>
              </a:rPr>
              <a:t>empty</a:t>
            </a:r>
          </a:p>
        </p:txBody>
      </p:sp>
      <p:sp>
        <p:nvSpPr>
          <p:cNvPr id="57" name="TextBox 56"/>
          <p:cNvSpPr txBox="1"/>
          <p:nvPr/>
        </p:nvSpPr>
        <p:spPr>
          <a:xfrm>
            <a:off x="4789170" y="5650992"/>
            <a:ext cx="182880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Keyboard</a:t>
            </a:r>
          </a:p>
        </p:txBody>
      </p:sp>
      <p:sp>
        <p:nvSpPr>
          <p:cNvPr id="58" name="TextBox 57"/>
          <p:cNvSpPr txBox="1"/>
          <p:nvPr/>
        </p:nvSpPr>
        <p:spPr>
          <a:xfrm>
            <a:off x="6892290" y="5650992"/>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1500</a:t>
            </a:r>
          </a:p>
        </p:txBody>
      </p:sp>
      <p:sp>
        <p:nvSpPr>
          <p:cNvPr id="59" name="TextBox 58"/>
          <p:cNvSpPr txBox="1"/>
          <p:nvPr/>
        </p:nvSpPr>
        <p:spPr>
          <a:xfrm>
            <a:off x="8629650" y="5650992"/>
            <a:ext cx="118872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a:t>
            </a:r>
          </a:p>
        </p:txBody>
      </p:sp>
      <p:sp>
        <p:nvSpPr>
          <p:cNvPr id="60" name="TextBox 59"/>
          <p:cNvSpPr txBox="1"/>
          <p:nvPr/>
        </p:nvSpPr>
        <p:spPr>
          <a:xfrm>
            <a:off x="10092690" y="5650992"/>
            <a:ext cx="201168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Delivered</a:t>
            </a:r>
          </a:p>
        </p:txBody>
      </p:sp>
      <p:sp>
        <p:nvSpPr>
          <p:cNvPr id="61" name="Rectangle 60"/>
          <p:cNvSpPr/>
          <p:nvPr/>
        </p:nvSpPr>
        <p:spPr>
          <a:xfrm>
            <a:off x="857250" y="6227064"/>
            <a:ext cx="11338560" cy="576072"/>
          </a:xfrm>
          <a:prstGeom prst="rect">
            <a:avLst/>
          </a:prstGeom>
          <a:solidFill>
            <a:srgbClr val="F1D8CC"/>
          </a:solidFill>
          <a:ln w="9525">
            <a:solidFill>
              <a:srgbClr val="D8B58F"/>
            </a:solidFill>
          </a:ln>
        </p:spPr>
        <p:txBody>
          <a:bodyPr rtlCol="0" anchor="ctr"/>
          <a:lstStyle/>
          <a:p>
            <a:pPr algn="ctr"/>
          </a:p>
        </p:txBody>
      </p:sp>
      <p:sp>
        <p:nvSpPr>
          <p:cNvPr id="62" name="TextBox 61"/>
          <p:cNvSpPr txBox="1"/>
          <p:nvPr/>
        </p:nvSpPr>
        <p:spPr>
          <a:xfrm>
            <a:off x="1040130" y="6227064"/>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O9004</a:t>
            </a:r>
          </a:p>
        </p:txBody>
      </p:sp>
      <p:sp>
        <p:nvSpPr>
          <p:cNvPr id="63" name="TextBox 62"/>
          <p:cNvSpPr txBox="1"/>
          <p:nvPr/>
        </p:nvSpPr>
        <p:spPr>
          <a:xfrm>
            <a:off x="2777490" y="6227064"/>
            <a:ext cx="173736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C997</a:t>
            </a:r>
          </a:p>
        </p:txBody>
      </p:sp>
      <p:sp>
        <p:nvSpPr>
          <p:cNvPr id="64" name="Rounded Rectangle 63"/>
          <p:cNvSpPr/>
          <p:nvPr/>
        </p:nvSpPr>
        <p:spPr>
          <a:xfrm>
            <a:off x="4661154" y="6291072"/>
            <a:ext cx="1993392" cy="448056"/>
          </a:xfrm>
          <a:prstGeom prst="roundRect">
            <a:avLst>
              <a:gd name="adj" fmla="val 12244"/>
            </a:avLst>
          </a:prstGeom>
          <a:solidFill>
            <a:srgbClr val="C9785A"/>
          </a:solidFill>
          <a:ln>
            <a:noFill/>
          </a:ln>
        </p:spPr>
        <p:txBody>
          <a:bodyPr rtlCol="0" anchor="ctr"/>
          <a:lstStyle/>
          <a:p>
            <a:pPr algn="ctr"/>
          </a:p>
        </p:txBody>
      </p:sp>
      <p:sp>
        <p:nvSpPr>
          <p:cNvPr id="65" name="TextBox 64"/>
          <p:cNvSpPr txBox="1"/>
          <p:nvPr/>
        </p:nvSpPr>
        <p:spPr>
          <a:xfrm>
            <a:off x="4789170" y="6227064"/>
            <a:ext cx="1828800" cy="576072"/>
          </a:xfrm>
          <a:prstGeom prst="rect">
            <a:avLst/>
          </a:prstGeom>
          <a:noFill/>
        </p:spPr>
        <p:txBody>
          <a:bodyPr wrap="square" lIns="0" rIns="0" tIns="0" bIns="0" anchor="ctr">
            <a:noAutofit/>
          </a:bodyPr>
          <a:lstStyle/>
          <a:p>
            <a:pPr algn="l">
              <a:lnSpc>
                <a:spcPts val="2160"/>
              </a:lnSpc>
            </a:pPr>
            <a:r>
              <a:rPr sz="1800" b="1">
                <a:solidFill>
                  <a:srgbClr val="FFFFFF"/>
                </a:solidFill>
                <a:latin typeface="Open Sauce Bold"/>
              </a:rPr>
              <a:t>empty</a:t>
            </a:r>
          </a:p>
        </p:txBody>
      </p:sp>
      <p:sp>
        <p:nvSpPr>
          <p:cNvPr id="66" name="TextBox 65"/>
          <p:cNvSpPr txBox="1"/>
          <p:nvPr/>
        </p:nvSpPr>
        <p:spPr>
          <a:xfrm>
            <a:off x="6892290" y="6227064"/>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900</a:t>
            </a:r>
          </a:p>
        </p:txBody>
      </p:sp>
      <p:sp>
        <p:nvSpPr>
          <p:cNvPr id="67" name="TextBox 66"/>
          <p:cNvSpPr txBox="1"/>
          <p:nvPr/>
        </p:nvSpPr>
        <p:spPr>
          <a:xfrm>
            <a:off x="8629650" y="6227064"/>
            <a:ext cx="118872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a:t>
            </a:r>
          </a:p>
        </p:txBody>
      </p:sp>
      <p:sp>
        <p:nvSpPr>
          <p:cNvPr id="68" name="TextBox 67"/>
          <p:cNvSpPr txBox="1"/>
          <p:nvPr/>
        </p:nvSpPr>
        <p:spPr>
          <a:xfrm>
            <a:off x="10092690" y="6227064"/>
            <a:ext cx="201168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Delivered</a:t>
            </a:r>
          </a:p>
        </p:txBody>
      </p:sp>
      <p:sp>
        <p:nvSpPr>
          <p:cNvPr id="69" name="Rectangle 68"/>
          <p:cNvSpPr/>
          <p:nvPr/>
        </p:nvSpPr>
        <p:spPr>
          <a:xfrm>
            <a:off x="857250" y="6803136"/>
            <a:ext cx="11338560" cy="576072"/>
          </a:xfrm>
          <a:prstGeom prst="rect">
            <a:avLst/>
          </a:prstGeom>
          <a:solidFill>
            <a:srgbClr val="F1D8CC"/>
          </a:solidFill>
          <a:ln w="9525">
            <a:solidFill>
              <a:srgbClr val="D8B58F"/>
            </a:solidFill>
          </a:ln>
        </p:spPr>
        <p:txBody>
          <a:bodyPr rtlCol="0" anchor="ctr"/>
          <a:lstStyle/>
          <a:p>
            <a:pPr algn="ctr"/>
          </a:p>
        </p:txBody>
      </p:sp>
      <p:sp>
        <p:nvSpPr>
          <p:cNvPr id="70" name="TextBox 69"/>
          <p:cNvSpPr txBox="1"/>
          <p:nvPr/>
        </p:nvSpPr>
        <p:spPr>
          <a:xfrm>
            <a:off x="1040130" y="6803136"/>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O9005</a:t>
            </a:r>
          </a:p>
        </p:txBody>
      </p:sp>
      <p:sp>
        <p:nvSpPr>
          <p:cNvPr id="71" name="TextBox 70"/>
          <p:cNvSpPr txBox="1"/>
          <p:nvPr/>
        </p:nvSpPr>
        <p:spPr>
          <a:xfrm>
            <a:off x="2777490" y="6803136"/>
            <a:ext cx="173736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C996</a:t>
            </a:r>
          </a:p>
        </p:txBody>
      </p:sp>
      <p:sp>
        <p:nvSpPr>
          <p:cNvPr id="72" name="TextBox 71"/>
          <p:cNvSpPr txBox="1"/>
          <p:nvPr/>
        </p:nvSpPr>
        <p:spPr>
          <a:xfrm>
            <a:off x="4789170" y="6803136"/>
            <a:ext cx="182880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Monitor</a:t>
            </a:r>
          </a:p>
        </p:txBody>
      </p:sp>
      <p:sp>
        <p:nvSpPr>
          <p:cNvPr id="73" name="TextBox 72"/>
          <p:cNvSpPr txBox="1"/>
          <p:nvPr/>
        </p:nvSpPr>
        <p:spPr>
          <a:xfrm>
            <a:off x="6892290" y="6803136"/>
            <a:ext cx="146304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12000</a:t>
            </a:r>
          </a:p>
        </p:txBody>
      </p:sp>
      <p:sp>
        <p:nvSpPr>
          <p:cNvPr id="74" name="TextBox 73"/>
          <p:cNvSpPr txBox="1"/>
          <p:nvPr/>
        </p:nvSpPr>
        <p:spPr>
          <a:xfrm>
            <a:off x="8629650" y="6803136"/>
            <a:ext cx="1188720" cy="57607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1</a:t>
            </a:r>
          </a:p>
        </p:txBody>
      </p:sp>
      <p:sp>
        <p:nvSpPr>
          <p:cNvPr id="75" name="Rounded Rectangle 74"/>
          <p:cNvSpPr/>
          <p:nvPr/>
        </p:nvSpPr>
        <p:spPr>
          <a:xfrm>
            <a:off x="9964674" y="6867144"/>
            <a:ext cx="2176272" cy="448056"/>
          </a:xfrm>
          <a:prstGeom prst="roundRect">
            <a:avLst>
              <a:gd name="adj" fmla="val 12244"/>
            </a:avLst>
          </a:prstGeom>
          <a:solidFill>
            <a:srgbClr val="C9785A"/>
          </a:solidFill>
          <a:ln>
            <a:noFill/>
          </a:ln>
        </p:spPr>
        <p:txBody>
          <a:bodyPr rtlCol="0" anchor="ctr"/>
          <a:lstStyle/>
          <a:p>
            <a:pPr algn="ctr"/>
          </a:p>
        </p:txBody>
      </p:sp>
      <p:sp>
        <p:nvSpPr>
          <p:cNvPr id="76" name="TextBox 75"/>
          <p:cNvSpPr txBox="1"/>
          <p:nvPr/>
        </p:nvSpPr>
        <p:spPr>
          <a:xfrm>
            <a:off x="10092690" y="6803136"/>
            <a:ext cx="2011680" cy="576072"/>
          </a:xfrm>
          <a:prstGeom prst="rect">
            <a:avLst/>
          </a:prstGeom>
          <a:noFill/>
        </p:spPr>
        <p:txBody>
          <a:bodyPr wrap="square" lIns="0" rIns="0" tIns="0" bIns="0" anchor="ctr">
            <a:noAutofit/>
          </a:bodyPr>
          <a:lstStyle/>
          <a:p>
            <a:pPr algn="l">
              <a:lnSpc>
                <a:spcPts val="2160"/>
              </a:lnSpc>
            </a:pPr>
            <a:r>
              <a:rPr sz="1800" b="1">
                <a:solidFill>
                  <a:srgbClr val="FFFFFF"/>
                </a:solidFill>
                <a:latin typeface="Open Sauce Bold"/>
              </a:rPr>
              <a:t>Unknown</a:t>
            </a:r>
          </a:p>
        </p:txBody>
      </p:sp>
      <p:sp>
        <p:nvSpPr>
          <p:cNvPr id="77" name="TextBox 76"/>
          <p:cNvSpPr txBox="1"/>
          <p:nvPr/>
        </p:nvSpPr>
        <p:spPr>
          <a:xfrm>
            <a:off x="12573000" y="1783080"/>
            <a:ext cx="485775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WHAT WE PLANTED</a:t>
            </a:r>
          </a:p>
        </p:txBody>
      </p:sp>
      <p:sp>
        <p:nvSpPr>
          <p:cNvPr id="78" name="Rounded Rectangle 77"/>
          <p:cNvSpPr/>
          <p:nvPr/>
        </p:nvSpPr>
        <p:spPr>
          <a:xfrm>
            <a:off x="12573000" y="2194560"/>
            <a:ext cx="4857750" cy="1737360"/>
          </a:xfrm>
          <a:prstGeom prst="roundRect">
            <a:avLst>
              <a:gd name="adj" fmla="val 7368"/>
            </a:avLst>
          </a:prstGeom>
          <a:solidFill>
            <a:srgbClr val="24252F"/>
          </a:solidFill>
          <a:ln>
            <a:noFill/>
          </a:ln>
        </p:spPr>
        <p:txBody>
          <a:bodyPr rtlCol="0" anchor="ctr"/>
          <a:lstStyle/>
          <a:p>
            <a:pPr algn="ctr"/>
          </a:p>
        </p:txBody>
      </p:sp>
      <p:sp>
        <p:nvSpPr>
          <p:cNvPr id="79" name="TextBox 78"/>
          <p:cNvSpPr txBox="1"/>
          <p:nvPr/>
        </p:nvSpPr>
        <p:spPr>
          <a:xfrm>
            <a:off x="12893040" y="2331720"/>
            <a:ext cx="2194560" cy="1463040"/>
          </a:xfrm>
          <a:prstGeom prst="rect">
            <a:avLst/>
          </a:prstGeom>
          <a:noFill/>
        </p:spPr>
        <p:txBody>
          <a:bodyPr wrap="square" lIns="0" rIns="0" tIns="0" bIns="0" anchor="ctr">
            <a:noAutofit/>
          </a:bodyPr>
          <a:lstStyle/>
          <a:p>
            <a:pPr algn="l">
              <a:lnSpc>
                <a:spcPts val="6600"/>
              </a:lnSpc>
            </a:pPr>
            <a:r>
              <a:rPr sz="6000" b="1">
                <a:solidFill>
                  <a:srgbClr val="FFFFFF"/>
                </a:solidFill>
                <a:latin typeface="Open Sauce Bold"/>
              </a:rPr>
              <a:t>107</a:t>
            </a:r>
          </a:p>
        </p:txBody>
      </p:sp>
      <p:sp>
        <p:nvSpPr>
          <p:cNvPr id="80" name="TextBox 79"/>
          <p:cNvSpPr txBox="1"/>
          <p:nvPr/>
        </p:nvSpPr>
        <p:spPr>
          <a:xfrm>
            <a:off x="15041880" y="2331720"/>
            <a:ext cx="2114550" cy="1463040"/>
          </a:xfrm>
          <a:prstGeom prst="rect">
            <a:avLst/>
          </a:prstGeom>
          <a:noFill/>
        </p:spPr>
        <p:txBody>
          <a:bodyPr wrap="square" lIns="0" rIns="0" tIns="0" bIns="0" anchor="ctr">
            <a:noAutofit/>
          </a:bodyPr>
          <a:lstStyle/>
          <a:p>
            <a:pPr algn="l">
              <a:lnSpc>
                <a:spcPts val="2600"/>
              </a:lnSpc>
            </a:pPr>
            <a:r>
              <a:rPr sz="2000" b="0">
                <a:solidFill>
                  <a:srgbClr val="F3C8B5"/>
                </a:solidFill>
                <a:latin typeface="Open Sauce Medium"/>
              </a:rPr>
              <a:t>order rows in the CSV</a:t>
            </a:r>
          </a:p>
        </p:txBody>
      </p:sp>
      <p:sp>
        <p:nvSpPr>
          <p:cNvPr id="81" name="Rounded Rectangle 80"/>
          <p:cNvSpPr/>
          <p:nvPr/>
        </p:nvSpPr>
        <p:spPr>
          <a:xfrm>
            <a:off x="12573000" y="4114800"/>
            <a:ext cx="4857750" cy="1417320"/>
          </a:xfrm>
          <a:prstGeom prst="roundRect">
            <a:avLst>
              <a:gd name="adj" fmla="val 9032"/>
            </a:avLst>
          </a:prstGeom>
          <a:solidFill>
            <a:srgbClr val="E8E2DC"/>
          </a:solidFill>
          <a:ln w="19050">
            <a:solidFill>
              <a:srgbClr val="D8B58F"/>
            </a:solidFill>
          </a:ln>
        </p:spPr>
        <p:txBody>
          <a:bodyPr rtlCol="0" anchor="ctr"/>
          <a:lstStyle/>
          <a:p>
            <a:pPr algn="ctr"/>
          </a:p>
        </p:txBody>
      </p:sp>
      <p:sp>
        <p:nvSpPr>
          <p:cNvPr id="82" name="TextBox 81"/>
          <p:cNvSpPr txBox="1"/>
          <p:nvPr/>
        </p:nvSpPr>
        <p:spPr>
          <a:xfrm>
            <a:off x="12893040" y="4206240"/>
            <a:ext cx="1645920" cy="1234440"/>
          </a:xfrm>
          <a:prstGeom prst="rect">
            <a:avLst/>
          </a:prstGeom>
          <a:noFill/>
        </p:spPr>
        <p:txBody>
          <a:bodyPr wrap="square" lIns="0" rIns="0" tIns="0" bIns="0" anchor="ctr">
            <a:noAutofit/>
          </a:bodyPr>
          <a:lstStyle/>
          <a:p>
            <a:pPr algn="l">
              <a:lnSpc>
                <a:spcPts val="4840"/>
              </a:lnSpc>
            </a:pPr>
            <a:r>
              <a:rPr sz="4400" b="1">
                <a:solidFill>
                  <a:srgbClr val="24252F"/>
                </a:solidFill>
                <a:latin typeface="Open Sauce Bold"/>
              </a:rPr>
              <a:t>100</a:t>
            </a:r>
          </a:p>
        </p:txBody>
      </p:sp>
      <p:sp>
        <p:nvSpPr>
          <p:cNvPr id="83" name="TextBox 82"/>
          <p:cNvSpPr txBox="1"/>
          <p:nvPr/>
        </p:nvSpPr>
        <p:spPr>
          <a:xfrm>
            <a:off x="14584680" y="4206240"/>
            <a:ext cx="2571750" cy="1234440"/>
          </a:xfrm>
          <a:prstGeom prst="rect">
            <a:avLst/>
          </a:prstGeom>
          <a:noFill/>
        </p:spPr>
        <p:txBody>
          <a:bodyPr wrap="square" lIns="0" rIns="0" tIns="0" bIns="0" anchor="ctr">
            <a:noAutofit/>
          </a:bodyPr>
          <a:lstStyle/>
          <a:p>
            <a:pPr algn="l">
              <a:lnSpc>
                <a:spcPts val="2600"/>
              </a:lnSpc>
            </a:pPr>
            <a:r>
              <a:rPr sz="2000" b="0">
                <a:solidFill>
                  <a:srgbClr val="24252F"/>
                </a:solidFill>
                <a:latin typeface="Open Sauce Semi-Bold"/>
              </a:rPr>
              <a:t>valid orders</a:t>
            </a:r>
          </a:p>
        </p:txBody>
      </p:sp>
      <p:sp>
        <p:nvSpPr>
          <p:cNvPr id="84" name="Rounded Rectangle 83"/>
          <p:cNvSpPr/>
          <p:nvPr/>
        </p:nvSpPr>
        <p:spPr>
          <a:xfrm>
            <a:off x="12573000" y="5715000"/>
            <a:ext cx="4857750" cy="1417320"/>
          </a:xfrm>
          <a:prstGeom prst="roundRect">
            <a:avLst>
              <a:gd name="adj" fmla="val 9032"/>
            </a:avLst>
          </a:prstGeom>
          <a:solidFill>
            <a:srgbClr val="F1D8CC"/>
          </a:solidFill>
          <a:ln w="19050">
            <a:solidFill>
              <a:srgbClr val="C9785A"/>
            </a:solidFill>
          </a:ln>
        </p:spPr>
        <p:txBody>
          <a:bodyPr rtlCol="0" anchor="ctr"/>
          <a:lstStyle/>
          <a:p>
            <a:pPr algn="ctr"/>
          </a:p>
        </p:txBody>
      </p:sp>
      <p:sp>
        <p:nvSpPr>
          <p:cNvPr id="85" name="TextBox 84"/>
          <p:cNvSpPr txBox="1"/>
          <p:nvPr/>
        </p:nvSpPr>
        <p:spPr>
          <a:xfrm>
            <a:off x="12893040" y="5806440"/>
            <a:ext cx="1645920" cy="1234440"/>
          </a:xfrm>
          <a:prstGeom prst="rect">
            <a:avLst/>
          </a:prstGeom>
          <a:noFill/>
        </p:spPr>
        <p:txBody>
          <a:bodyPr wrap="square" lIns="0" rIns="0" tIns="0" bIns="0" anchor="ctr">
            <a:noAutofit/>
          </a:bodyPr>
          <a:lstStyle/>
          <a:p>
            <a:pPr algn="l">
              <a:lnSpc>
                <a:spcPts val="4840"/>
              </a:lnSpc>
            </a:pPr>
            <a:r>
              <a:rPr sz="4400" b="1">
                <a:solidFill>
                  <a:srgbClr val="C9785A"/>
                </a:solidFill>
                <a:latin typeface="Open Sauce Bold"/>
              </a:rPr>
              <a:t>7</a:t>
            </a:r>
          </a:p>
        </p:txBody>
      </p:sp>
      <p:sp>
        <p:nvSpPr>
          <p:cNvPr id="86" name="TextBox 85"/>
          <p:cNvSpPr txBox="1"/>
          <p:nvPr/>
        </p:nvSpPr>
        <p:spPr>
          <a:xfrm>
            <a:off x="14584680" y="5806440"/>
            <a:ext cx="2571750" cy="1234440"/>
          </a:xfrm>
          <a:prstGeom prst="rect">
            <a:avLst/>
          </a:prstGeom>
          <a:noFill/>
        </p:spPr>
        <p:txBody>
          <a:bodyPr wrap="square" lIns="0" rIns="0" tIns="0" bIns="0" anchor="ctr">
            <a:noAutofit/>
          </a:bodyPr>
          <a:lstStyle/>
          <a:p>
            <a:pPr algn="l">
              <a:lnSpc>
                <a:spcPts val="2600"/>
              </a:lnSpc>
            </a:pPr>
            <a:r>
              <a:rPr sz="2000" b="0">
                <a:solidFill>
                  <a:srgbClr val="24252F"/>
                </a:solidFill>
                <a:latin typeface="Open Sauce Semi-Bold"/>
              </a:rPr>
              <a:t>planted bad rows</a:t>
            </a:r>
          </a:p>
        </p:txBody>
      </p:sp>
      <p:sp>
        <p:nvSpPr>
          <p:cNvPr id="87" name="TextBox 86"/>
          <p:cNvSpPr txBox="1"/>
          <p:nvPr/>
        </p:nvSpPr>
        <p:spPr>
          <a:xfrm>
            <a:off x="12573000" y="7315200"/>
            <a:ext cx="4857750" cy="640080"/>
          </a:xfrm>
          <a:prstGeom prst="rect">
            <a:avLst/>
          </a:prstGeom>
          <a:noFill/>
        </p:spPr>
        <p:txBody>
          <a:bodyPr wrap="square" lIns="0" rIns="0" tIns="0" bIns="0" anchor="t">
            <a:noAutofit/>
          </a:bodyPr>
          <a:lstStyle/>
          <a:p>
            <a:pPr algn="l">
              <a:lnSpc>
                <a:spcPts val="2210"/>
              </a:lnSpc>
            </a:pPr>
            <a:r>
              <a:rPr sz="1700" b="0">
                <a:solidFill>
                  <a:srgbClr val="6E6863"/>
                </a:solidFill>
                <a:latin typeface="Open Sauce Semi-Bold"/>
              </a:rPr>
              <a:t>5 field-level defects + 2 rows reusing order ID O0001</a:t>
            </a:r>
          </a:p>
        </p:txBody>
      </p:sp>
      <p:sp>
        <p:nvSpPr>
          <p:cNvPr id="88" name="TextBox 87"/>
          <p:cNvSpPr txBox="1"/>
          <p:nvPr/>
        </p:nvSpPr>
        <p:spPr>
          <a:xfrm>
            <a:off x="857250" y="7726680"/>
            <a:ext cx="16573500" cy="292608"/>
          </a:xfrm>
          <a:prstGeom prst="rect">
            <a:avLst/>
          </a:prstGeom>
          <a:noFill/>
        </p:spPr>
        <p:txBody>
          <a:bodyPr wrap="square" lIns="0" rIns="0" tIns="0" bIns="0" anchor="t">
            <a:noAutofit/>
          </a:bodyPr>
          <a:lstStyle/>
          <a:p>
            <a:pPr algn="ctr">
              <a:lnSpc>
                <a:spcPts val="2100"/>
              </a:lnSpc>
            </a:pPr>
            <a:r>
              <a:rPr sz="1500" b="1">
                <a:solidFill>
                  <a:srgbClr val="C9785A"/>
                </a:solidFill>
                <a:latin typeface="Open Sauce Bold"/>
              </a:rPr>
              <a:t>EVERY DEFECT SHOULD BE CAUGHT</a:t>
            </a:r>
          </a:p>
        </p:txBody>
      </p:sp>
      <p:sp>
        <p:nvSpPr>
          <p:cNvPr id="89" name="Rounded Rectangle 88"/>
          <p:cNvSpPr/>
          <p:nvPr/>
        </p:nvSpPr>
        <p:spPr>
          <a:xfrm>
            <a:off x="857250" y="8092440"/>
            <a:ext cx="16573500" cy="1234440"/>
          </a:xfrm>
          <a:prstGeom prst="roundRect">
            <a:avLst>
              <a:gd name="adj" fmla="val 11851"/>
            </a:avLst>
          </a:prstGeom>
          <a:solidFill>
            <a:srgbClr val="24252F"/>
          </a:solidFill>
          <a:ln>
            <a:noFill/>
          </a:ln>
        </p:spPr>
        <p:txBody>
          <a:bodyPr rtlCol="0" anchor="ctr"/>
          <a:lstStyle/>
          <a:p>
            <a:pPr algn="ctr"/>
          </a:p>
        </p:txBody>
      </p:sp>
      <p:sp>
        <p:nvSpPr>
          <p:cNvPr id="90" name="TextBox 89"/>
          <p:cNvSpPr txBox="1"/>
          <p:nvPr/>
        </p:nvSpPr>
        <p:spPr>
          <a:xfrm>
            <a:off x="1223010" y="8247888"/>
            <a:ext cx="15841980" cy="502920"/>
          </a:xfrm>
          <a:prstGeom prst="rect">
            <a:avLst/>
          </a:prstGeom>
          <a:noFill/>
        </p:spPr>
        <p:txBody>
          <a:bodyPr wrap="square" lIns="0" rIns="0" tIns="0" bIns="0" anchor="t">
            <a:noAutofit/>
          </a:bodyPr>
          <a:lstStyle/>
          <a:p>
            <a:pPr algn="ctr">
              <a:lnSpc>
                <a:spcPts val="3919"/>
              </a:lnSpc>
            </a:pPr>
            <a:r>
              <a:rPr sz="2800" b="1">
                <a:solidFill>
                  <a:srgbClr val="FFFFFF"/>
                </a:solidFill>
                <a:latin typeface="Open Sauce Bold"/>
              </a:rPr>
              <a:t>Each planted defect maps to a rule in checks.yml</a:t>
            </a:r>
          </a:p>
        </p:txBody>
      </p:sp>
      <p:sp>
        <p:nvSpPr>
          <p:cNvPr id="91" name="TextBox 90"/>
          <p:cNvSpPr txBox="1"/>
          <p:nvPr/>
        </p:nvSpPr>
        <p:spPr>
          <a:xfrm>
            <a:off x="1223010" y="8823960"/>
            <a:ext cx="15841980" cy="365760"/>
          </a:xfrm>
          <a:prstGeom prst="rect">
            <a:avLst/>
          </a:prstGeom>
          <a:noFill/>
        </p:spPr>
        <p:txBody>
          <a:bodyPr wrap="square" lIns="0" rIns="0" tIns="0" bIns="0" anchor="t">
            <a:noAutofit/>
          </a:bodyPr>
          <a:lstStyle/>
          <a:p>
            <a:pPr algn="ctr">
              <a:lnSpc>
                <a:spcPts val="2660"/>
              </a:lnSpc>
            </a:pPr>
            <a:r>
              <a:rPr sz="1900" b="0">
                <a:solidFill>
                  <a:srgbClr val="F3C8B5"/>
                </a:solidFill>
                <a:latin typeface="Open Sauce Medium"/>
              </a:rPr>
              <a:t>Next: how those rules are written.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Title"/>
          <p:cNvSpPr txBox="1"/>
          <p:nvPr/>
        </p:nvSpPr>
        <p:spPr>
          <a:xfrm>
            <a:off x="857250" y="428854"/>
            <a:ext cx="15727680" cy="786384"/>
          </a:xfrm>
          <a:prstGeom prst="rect">
            <a:avLst/>
          </a:prstGeom>
          <a:noFill/>
        </p:spPr>
        <p:txBody>
          <a:bodyPr wrap="square" lIns="0" rIns="0" tIns="0" bIns="0" anchor="t">
            <a:noAutofit/>
          </a:bodyPr>
          <a:lstStyle/>
          <a:p>
            <a:pPr algn="l">
              <a:lnSpc>
                <a:spcPts val="6439"/>
              </a:lnSpc>
            </a:pPr>
            <a:r>
              <a:rPr sz="4600" b="1">
                <a:solidFill>
                  <a:srgbClr val="24252F"/>
                </a:solidFill>
                <a:latin typeface="Open Sauce Bold"/>
              </a:rPr>
              <a:t>Case Study — Implementation: Defining Rules</a:t>
            </a:r>
          </a:p>
        </p:txBody>
      </p:sp>
      <p:sp>
        <p:nvSpPr>
          <p:cNvPr id="3" name="Eyebrow"/>
          <p:cNvSpPr txBox="1"/>
          <p:nvPr/>
        </p:nvSpPr>
        <p:spPr>
          <a:xfrm>
            <a:off x="857250" y="1228954"/>
            <a:ext cx="10972800" cy="283464"/>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CHECKS.YML — DATA QUALITY AS CODE</a:t>
            </a:r>
          </a:p>
        </p:txBody>
      </p:sp>
      <p:cxnSp>
        <p:nvCxnSpPr>
          <p:cNvPr id="4" name="Connector 3"/>
          <p:cNvCxnSpPr/>
          <p:nvPr/>
        </p:nvCxnSpPr>
        <p:spPr>
          <a:xfrm>
            <a:off x="857250" y="1524305"/>
            <a:ext cx="16573500" cy="0"/>
          </a:xfrm>
          <a:prstGeom prst="line">
            <a:avLst/>
          </a:prstGeom>
          <a:ln w="19050">
            <a:solidFill>
              <a:srgbClr val="D8B58F"/>
            </a:solidFill>
          </a:ln>
        </p:spPr>
      </p:cxnSp>
      <p:cxnSp>
        <p:nvCxnSpPr>
          <p:cNvPr id="5" name="Connector 4"/>
          <p:cNvCxnSpPr/>
          <p:nvPr/>
        </p:nvCxnSpPr>
        <p:spPr>
          <a:xfrm>
            <a:off x="857250" y="9601200"/>
            <a:ext cx="16573500" cy="0"/>
          </a:xfrm>
          <a:prstGeom prst="line">
            <a:avLst/>
          </a:prstGeom>
          <a:ln w="19050">
            <a:solidFill>
              <a:srgbClr val="D8B58F"/>
            </a:solidFill>
          </a:ln>
        </p:spPr>
      </p:cxnSp>
      <p:sp>
        <p:nvSpPr>
          <p:cNvPr id="6" name="Footer"/>
          <p:cNvSpPr txBox="1"/>
          <p:nvPr/>
        </p:nvSpPr>
        <p:spPr>
          <a:xfrm>
            <a:off x="857250" y="9765792"/>
            <a:ext cx="2377440" cy="237744"/>
          </a:xfrm>
          <a:prstGeom prst="rect">
            <a:avLst/>
          </a:prstGeom>
          <a:noFill/>
        </p:spPr>
        <p:txBody>
          <a:bodyPr wrap="square" lIns="0" rIns="0" tIns="0" bIns="0" anchor="t">
            <a:noAutofit/>
          </a:bodyPr>
          <a:lstStyle/>
          <a:p>
            <a:pPr algn="l">
              <a:lnSpc>
                <a:spcPts val="1959"/>
              </a:lnSpc>
            </a:pPr>
            <a:r>
              <a:rPr sz="1400" b="0">
                <a:solidFill>
                  <a:srgbClr val="6E6863"/>
                </a:solidFill>
                <a:latin typeface="Open Sauce Medium"/>
              </a:rPr>
              <a:t>ISE Activity 2</a:t>
            </a:r>
          </a:p>
        </p:txBody>
      </p:sp>
      <p:sp>
        <p:nvSpPr>
          <p:cNvPr id="7" name="Page number"/>
          <p:cNvSpPr txBox="1"/>
          <p:nvPr/>
        </p:nvSpPr>
        <p:spPr>
          <a:xfrm>
            <a:off x="17049902" y="9765792"/>
            <a:ext cx="381305" cy="237744"/>
          </a:xfrm>
          <a:prstGeom prst="rect">
            <a:avLst/>
          </a:prstGeom>
          <a:noFill/>
        </p:spPr>
        <p:txBody>
          <a:bodyPr wrap="square" lIns="0" rIns="0" tIns="0" bIns="0" anchor="t">
            <a:noAutofit/>
          </a:bodyPr>
          <a:lstStyle/>
          <a:p>
            <a:pPr algn="r">
              <a:lnSpc>
                <a:spcPts val="1959"/>
              </a:lnSpc>
            </a:pPr>
            <a:r>
              <a:rPr sz="1400" b="0">
                <a:solidFill>
                  <a:srgbClr val="6E6863"/>
                </a:solidFill>
                <a:latin typeface="Open Sauce Medium"/>
              </a:rPr>
              <a:t>10</a:t>
            </a:r>
          </a:p>
        </p:txBody>
      </p:sp>
      <p:sp>
        <p:nvSpPr>
          <p:cNvPr id="8" name="TextBox 7"/>
          <p:cNvSpPr txBox="1"/>
          <p:nvPr/>
        </p:nvSpPr>
        <p:spPr>
          <a:xfrm>
            <a:off x="857250" y="1783080"/>
            <a:ext cx="822960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checks.yml</a:t>
            </a:r>
          </a:p>
        </p:txBody>
      </p:sp>
      <p:sp>
        <p:nvSpPr>
          <p:cNvPr id="9" name="Rounded Rectangle 8"/>
          <p:cNvSpPr/>
          <p:nvPr/>
        </p:nvSpPr>
        <p:spPr>
          <a:xfrm>
            <a:off x="857250" y="2194560"/>
            <a:ext cx="8778240" cy="5303520"/>
          </a:xfrm>
          <a:prstGeom prst="roundRect">
            <a:avLst>
              <a:gd name="adj" fmla="val 2413"/>
            </a:avLst>
          </a:prstGeom>
          <a:solidFill>
            <a:srgbClr val="24252F"/>
          </a:solidFill>
          <a:ln>
            <a:noFill/>
          </a:ln>
        </p:spPr>
        <p:txBody>
          <a:bodyPr rtlCol="0" anchor="ctr"/>
          <a:lstStyle/>
          <a:p>
            <a:pPr algn="ctr"/>
          </a:p>
        </p:txBody>
      </p:sp>
      <p:sp>
        <p:nvSpPr>
          <p:cNvPr id="10" name="checks.yml"/>
          <p:cNvSpPr txBox="1"/>
          <p:nvPr/>
        </p:nvSpPr>
        <p:spPr>
          <a:xfrm>
            <a:off x="1223010" y="2468880"/>
            <a:ext cx="8138160" cy="4846320"/>
          </a:xfrm>
          <a:prstGeom prst="rect">
            <a:avLst/>
          </a:prstGeom>
          <a:noFill/>
        </p:spPr>
        <p:txBody>
          <a:bodyPr wrap="square" lIns="0" rIns="0" tIns="0" bIns="0" anchor="t">
            <a:noAutofit/>
          </a:bodyPr>
          <a:lstStyle/>
          <a:p>
            <a:pPr algn="l">
              <a:lnSpc>
                <a:spcPts val="2804"/>
              </a:lnSpc>
            </a:pPr>
            <a:r>
              <a:rPr sz="1700" b="0">
                <a:solidFill>
                  <a:srgbClr val="F3C8B5"/>
                </a:solidFill>
                <a:latin typeface="Consolas"/>
              </a:rPr>
              <a:t>checks for orders:</a:t>
            </a:r>
          </a:p>
          <a:p>
            <a:pPr algn="l">
              <a:lnSpc>
                <a:spcPts val="2804"/>
              </a:lnSpc>
            </a:pPr>
            <a:r>
              <a:rPr sz="1700" b="0">
                <a:solidFill>
                  <a:srgbClr val="FFFFFF"/>
                </a:solidFill>
                <a:latin typeface="Consolas"/>
              </a:rPr>
              <a:t>  - row_count &gt; 0</a:t>
            </a:r>
          </a:p>
          <a:p>
            <a:pPr algn="l">
              <a:lnSpc>
                <a:spcPts val="2804"/>
              </a:lnSpc>
            </a:pPr>
            <a:r>
              <a:rPr sz="1700" b="0">
                <a:solidFill>
                  <a:srgbClr val="FFFFFF"/>
                </a:solidFill>
                <a:latin typeface="Consolas"/>
              </a:rPr>
              <a:t>  - missing_count(order_id) = 0</a:t>
            </a:r>
          </a:p>
          <a:p>
            <a:pPr algn="l">
              <a:lnSpc>
                <a:spcPts val="2804"/>
              </a:lnSpc>
            </a:pPr>
            <a:r>
              <a:rPr sz="1700" b="0">
                <a:solidFill>
                  <a:srgbClr val="FFFFFF"/>
                </a:solidFill>
                <a:latin typeface="Consolas"/>
              </a:rPr>
              <a:t>  - duplicate_count(order_id) = 0</a:t>
            </a:r>
          </a:p>
          <a:p>
            <a:pPr algn="l">
              <a:lnSpc>
                <a:spcPts val="2804"/>
              </a:lnSpc>
            </a:pPr>
            <a:r>
              <a:rPr sz="1700" b="0">
                <a:solidFill>
                  <a:srgbClr val="FFFFFF"/>
                </a:solidFill>
                <a:latin typeface="Consolas"/>
              </a:rPr>
              <a:t>  - missing_count(customer_id) = 0</a:t>
            </a:r>
          </a:p>
          <a:p>
            <a:pPr algn="l">
              <a:lnSpc>
                <a:spcPts val="2804"/>
              </a:lnSpc>
            </a:pPr>
            <a:r>
              <a:rPr sz="1700" b="0">
                <a:solidFill>
                  <a:srgbClr val="FFFFFF"/>
                </a:solidFill>
                <a:latin typeface="Consolas"/>
              </a:rPr>
              <a:t>  - missing_count(product) = 0</a:t>
            </a:r>
          </a:p>
          <a:p>
            <a:pPr algn="l">
              <a:lnSpc>
                <a:spcPts val="2804"/>
              </a:lnSpc>
            </a:pPr>
            <a:r>
              <a:rPr sz="1700" b="0">
                <a:solidFill>
                  <a:srgbClr val="FFFFFF"/>
                </a:solidFill>
                <a:latin typeface="Consolas"/>
              </a:rPr>
              <a:t>  - missing_count(order_date) = 0</a:t>
            </a:r>
          </a:p>
          <a:p>
            <a:pPr algn="l">
              <a:lnSpc>
                <a:spcPts val="2804"/>
              </a:lnSpc>
            </a:pPr>
            <a:r>
              <a:rPr sz="1700" b="0">
                <a:solidFill>
                  <a:srgbClr val="FFFFFF"/>
                </a:solidFill>
                <a:latin typeface="Consolas"/>
              </a:rPr>
              <a:t>  - invalid_count(status) = 0:</a:t>
            </a:r>
          </a:p>
          <a:p>
            <a:pPr algn="l">
              <a:lnSpc>
                <a:spcPts val="2804"/>
              </a:lnSpc>
            </a:pPr>
            <a:r>
              <a:rPr sz="1700" b="0">
                <a:solidFill>
                  <a:srgbClr val="F3C8B5"/>
                </a:solidFill>
                <a:latin typeface="Consolas"/>
              </a:rPr>
              <a:t>      valid values: ["Pending", "Shipped", "Delivered", "Cancelled"]</a:t>
            </a:r>
          </a:p>
          <a:p>
            <a:pPr algn="l">
              <a:lnSpc>
                <a:spcPts val="2804"/>
              </a:lnSpc>
            </a:pPr>
            <a:r>
              <a:rPr sz="1700" b="0">
                <a:solidFill>
                  <a:srgbClr val="FFFFFF"/>
                </a:solidFill>
                <a:latin typeface="Consolas"/>
              </a:rPr>
              <a:t>  - invalid_count(unit_price) = 0:</a:t>
            </a:r>
          </a:p>
          <a:p>
            <a:pPr algn="l">
              <a:lnSpc>
                <a:spcPts val="2804"/>
              </a:lnSpc>
            </a:pPr>
            <a:r>
              <a:rPr sz="1700" b="0">
                <a:solidFill>
                  <a:srgbClr val="F3C8B5"/>
                </a:solidFill>
                <a:latin typeface="Consolas"/>
              </a:rPr>
              <a:t>      valid min: 0.01</a:t>
            </a:r>
          </a:p>
          <a:p>
            <a:pPr algn="l">
              <a:lnSpc>
                <a:spcPts val="2804"/>
              </a:lnSpc>
            </a:pPr>
            <a:r>
              <a:rPr sz="1700" b="0">
                <a:solidFill>
                  <a:srgbClr val="FFFFFF"/>
                </a:solidFill>
                <a:latin typeface="Consolas"/>
              </a:rPr>
              <a:t>  - invalid_count(quantity) = 0:</a:t>
            </a:r>
          </a:p>
          <a:p>
            <a:pPr algn="l">
              <a:lnSpc>
                <a:spcPts val="2804"/>
              </a:lnSpc>
            </a:pPr>
            <a:r>
              <a:rPr sz="1700" b="0">
                <a:solidFill>
                  <a:srgbClr val="F3C8B5"/>
                </a:solidFill>
                <a:latin typeface="Consolas"/>
              </a:rPr>
              <a:t>      valid min: 1</a:t>
            </a:r>
          </a:p>
        </p:txBody>
      </p:sp>
      <p:sp>
        <p:nvSpPr>
          <p:cNvPr id="11" name="TextBox 10"/>
          <p:cNvSpPr txBox="1"/>
          <p:nvPr/>
        </p:nvSpPr>
        <p:spPr>
          <a:xfrm>
            <a:off x="9966960" y="1783080"/>
            <a:ext cx="746379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WHAT THE 9 RULES GUARD</a:t>
            </a:r>
          </a:p>
        </p:txBody>
      </p:sp>
      <p:sp>
        <p:nvSpPr>
          <p:cNvPr id="12" name="Rounded Rectangle 11"/>
          <p:cNvSpPr/>
          <p:nvPr/>
        </p:nvSpPr>
        <p:spPr>
          <a:xfrm>
            <a:off x="9966960" y="2194560"/>
            <a:ext cx="7463790" cy="914400"/>
          </a:xfrm>
          <a:prstGeom prst="roundRect">
            <a:avLst>
              <a:gd name="adj" fmla="val 14000"/>
            </a:avLst>
          </a:prstGeom>
          <a:solidFill>
            <a:srgbClr val="E8E2DC"/>
          </a:solidFill>
          <a:ln w="19050">
            <a:solidFill>
              <a:srgbClr val="D8B58F"/>
            </a:solidFill>
          </a:ln>
        </p:spPr>
        <p:txBody>
          <a:bodyPr rtlCol="0" anchor="ctr"/>
          <a:lstStyle/>
          <a:p>
            <a:pPr algn="ctr"/>
          </a:p>
        </p:txBody>
      </p:sp>
      <p:sp>
        <p:nvSpPr>
          <p:cNvPr id="13" name="Oval 12"/>
          <p:cNvSpPr/>
          <p:nvPr/>
        </p:nvSpPr>
        <p:spPr>
          <a:xfrm>
            <a:off x="10195560" y="2377440"/>
            <a:ext cx="548640" cy="548640"/>
          </a:xfrm>
          <a:prstGeom prst="ellipse">
            <a:avLst/>
          </a:prstGeom>
          <a:solidFill>
            <a:srgbClr val="C9785A"/>
          </a:solidFill>
          <a:ln>
            <a:noFill/>
          </a:ln>
        </p:spPr>
        <p:txBody>
          <a:bodyPr rtlCol="0" anchor="ctr"/>
          <a:lstStyle/>
          <a:p>
            <a:pPr algn="ctr"/>
          </a:p>
        </p:txBody>
      </p:sp>
      <p:sp>
        <p:nvSpPr>
          <p:cNvPr id="14" name="TextBox 13"/>
          <p:cNvSpPr txBox="1"/>
          <p:nvPr/>
        </p:nvSpPr>
        <p:spPr>
          <a:xfrm>
            <a:off x="10195560" y="2377440"/>
            <a:ext cx="548640" cy="548640"/>
          </a:xfrm>
          <a:prstGeom prst="rect">
            <a:avLst/>
          </a:prstGeom>
          <a:noFill/>
        </p:spPr>
        <p:txBody>
          <a:bodyPr wrap="square" lIns="0" rIns="0" tIns="0" bIns="0" anchor="ctr">
            <a:noAutofit/>
          </a:bodyPr>
          <a:lstStyle/>
          <a:p>
            <a:pPr algn="ctr">
              <a:lnSpc>
                <a:spcPts val="2420"/>
              </a:lnSpc>
            </a:pPr>
            <a:r>
              <a:rPr sz="2200" b="1">
                <a:solidFill>
                  <a:srgbClr val="FFFFFF"/>
                </a:solidFill>
                <a:latin typeface="Open Sauce Bold"/>
              </a:rPr>
              <a:t>4</a:t>
            </a:r>
          </a:p>
        </p:txBody>
      </p:sp>
      <p:sp>
        <p:nvSpPr>
          <p:cNvPr id="15" name="TextBox 14"/>
          <p:cNvSpPr txBox="1"/>
          <p:nvPr/>
        </p:nvSpPr>
        <p:spPr>
          <a:xfrm>
            <a:off x="11018520" y="2286000"/>
            <a:ext cx="6183630" cy="365760"/>
          </a:xfrm>
          <a:prstGeom prst="rect">
            <a:avLst/>
          </a:prstGeom>
          <a:noFill/>
        </p:spPr>
        <p:txBody>
          <a:bodyPr wrap="square" lIns="0" rIns="0" tIns="0" bIns="0" anchor="t">
            <a:noAutofit/>
          </a:bodyPr>
          <a:lstStyle/>
          <a:p>
            <a:pPr algn="l">
              <a:lnSpc>
                <a:spcPts val="2730"/>
              </a:lnSpc>
            </a:pPr>
            <a:r>
              <a:rPr sz="2100" b="1">
                <a:solidFill>
                  <a:srgbClr val="24252F"/>
                </a:solidFill>
                <a:latin typeface="Open Sauce Bold"/>
              </a:rPr>
              <a:t>COMPLETENESS</a:t>
            </a:r>
          </a:p>
        </p:txBody>
      </p:sp>
      <p:sp>
        <p:nvSpPr>
          <p:cNvPr id="16" name="TextBox 15"/>
          <p:cNvSpPr txBox="1"/>
          <p:nvPr/>
        </p:nvSpPr>
        <p:spPr>
          <a:xfrm>
            <a:off x="11018520" y="2670048"/>
            <a:ext cx="6183630" cy="365760"/>
          </a:xfrm>
          <a:prstGeom prst="rect">
            <a:avLst/>
          </a:prstGeom>
          <a:noFill/>
        </p:spPr>
        <p:txBody>
          <a:bodyPr wrap="square" lIns="0" rIns="0" tIns="0" bIns="0" anchor="t">
            <a:noAutofit/>
          </a:bodyPr>
          <a:lstStyle/>
          <a:p>
            <a:pPr algn="l">
              <a:lnSpc>
                <a:spcPts val="2340"/>
              </a:lnSpc>
            </a:pPr>
            <a:r>
              <a:rPr sz="1800" b="0">
                <a:solidFill>
                  <a:srgbClr val="6E6863"/>
                </a:solidFill>
                <a:latin typeface="Open Sauce Semi-Bold"/>
              </a:rPr>
              <a:t>order_id, customer_id, product, order_date</a:t>
            </a:r>
          </a:p>
        </p:txBody>
      </p:sp>
      <p:sp>
        <p:nvSpPr>
          <p:cNvPr id="17" name="Rounded Rectangle 16"/>
          <p:cNvSpPr/>
          <p:nvPr/>
        </p:nvSpPr>
        <p:spPr>
          <a:xfrm>
            <a:off x="9966960" y="3291840"/>
            <a:ext cx="7463790" cy="914400"/>
          </a:xfrm>
          <a:prstGeom prst="roundRect">
            <a:avLst>
              <a:gd name="adj" fmla="val 14000"/>
            </a:avLst>
          </a:prstGeom>
          <a:solidFill>
            <a:srgbClr val="E8E2DC"/>
          </a:solidFill>
          <a:ln w="19050">
            <a:solidFill>
              <a:srgbClr val="D8B58F"/>
            </a:solidFill>
          </a:ln>
        </p:spPr>
        <p:txBody>
          <a:bodyPr rtlCol="0" anchor="ctr"/>
          <a:lstStyle/>
          <a:p>
            <a:pPr algn="ctr"/>
          </a:p>
        </p:txBody>
      </p:sp>
      <p:sp>
        <p:nvSpPr>
          <p:cNvPr id="18" name="Oval 17"/>
          <p:cNvSpPr/>
          <p:nvPr/>
        </p:nvSpPr>
        <p:spPr>
          <a:xfrm>
            <a:off x="10195560" y="3474720"/>
            <a:ext cx="548640" cy="548640"/>
          </a:xfrm>
          <a:prstGeom prst="ellipse">
            <a:avLst/>
          </a:prstGeom>
          <a:solidFill>
            <a:srgbClr val="24252F"/>
          </a:solidFill>
          <a:ln>
            <a:noFill/>
          </a:ln>
        </p:spPr>
        <p:txBody>
          <a:bodyPr rtlCol="0" anchor="ctr"/>
          <a:lstStyle/>
          <a:p>
            <a:pPr algn="ctr"/>
          </a:p>
        </p:txBody>
      </p:sp>
      <p:sp>
        <p:nvSpPr>
          <p:cNvPr id="19" name="TextBox 18"/>
          <p:cNvSpPr txBox="1"/>
          <p:nvPr/>
        </p:nvSpPr>
        <p:spPr>
          <a:xfrm>
            <a:off x="10195560" y="3474720"/>
            <a:ext cx="548640" cy="548640"/>
          </a:xfrm>
          <a:prstGeom prst="rect">
            <a:avLst/>
          </a:prstGeom>
          <a:noFill/>
        </p:spPr>
        <p:txBody>
          <a:bodyPr wrap="square" lIns="0" rIns="0" tIns="0" bIns="0" anchor="ctr">
            <a:noAutofit/>
          </a:bodyPr>
          <a:lstStyle/>
          <a:p>
            <a:pPr algn="ctr">
              <a:lnSpc>
                <a:spcPts val="2420"/>
              </a:lnSpc>
            </a:pPr>
            <a:r>
              <a:rPr sz="2200" b="1">
                <a:solidFill>
                  <a:srgbClr val="FFFFFF"/>
                </a:solidFill>
                <a:latin typeface="Open Sauce Bold"/>
              </a:rPr>
              <a:t>1</a:t>
            </a:r>
          </a:p>
        </p:txBody>
      </p:sp>
      <p:sp>
        <p:nvSpPr>
          <p:cNvPr id="20" name="TextBox 19"/>
          <p:cNvSpPr txBox="1"/>
          <p:nvPr/>
        </p:nvSpPr>
        <p:spPr>
          <a:xfrm>
            <a:off x="11018520" y="3383280"/>
            <a:ext cx="6183630" cy="365760"/>
          </a:xfrm>
          <a:prstGeom prst="rect">
            <a:avLst/>
          </a:prstGeom>
          <a:noFill/>
        </p:spPr>
        <p:txBody>
          <a:bodyPr wrap="square" lIns="0" rIns="0" tIns="0" bIns="0" anchor="t">
            <a:noAutofit/>
          </a:bodyPr>
          <a:lstStyle/>
          <a:p>
            <a:pPr algn="l">
              <a:lnSpc>
                <a:spcPts val="2730"/>
              </a:lnSpc>
            </a:pPr>
            <a:r>
              <a:rPr sz="2100" b="1">
                <a:solidFill>
                  <a:srgbClr val="24252F"/>
                </a:solidFill>
                <a:latin typeface="Open Sauce Bold"/>
              </a:rPr>
              <a:t>UNIQUENESS</a:t>
            </a:r>
          </a:p>
        </p:txBody>
      </p:sp>
      <p:sp>
        <p:nvSpPr>
          <p:cNvPr id="21" name="TextBox 20"/>
          <p:cNvSpPr txBox="1"/>
          <p:nvPr/>
        </p:nvSpPr>
        <p:spPr>
          <a:xfrm>
            <a:off x="11018520" y="3767328"/>
            <a:ext cx="6183630" cy="365760"/>
          </a:xfrm>
          <a:prstGeom prst="rect">
            <a:avLst/>
          </a:prstGeom>
          <a:noFill/>
        </p:spPr>
        <p:txBody>
          <a:bodyPr wrap="square" lIns="0" rIns="0" tIns="0" bIns="0" anchor="t">
            <a:noAutofit/>
          </a:bodyPr>
          <a:lstStyle/>
          <a:p>
            <a:pPr algn="l">
              <a:lnSpc>
                <a:spcPts val="2340"/>
              </a:lnSpc>
            </a:pPr>
            <a:r>
              <a:rPr sz="1800" b="0">
                <a:solidFill>
                  <a:srgbClr val="6E6863"/>
                </a:solidFill>
                <a:latin typeface="Open Sauce Semi-Bold"/>
              </a:rPr>
              <a:t>order_id must not repeat</a:t>
            </a:r>
          </a:p>
        </p:txBody>
      </p:sp>
      <p:sp>
        <p:nvSpPr>
          <p:cNvPr id="22" name="Rounded Rectangle 21"/>
          <p:cNvSpPr/>
          <p:nvPr/>
        </p:nvSpPr>
        <p:spPr>
          <a:xfrm>
            <a:off x="9966960" y="4389120"/>
            <a:ext cx="7463790" cy="914400"/>
          </a:xfrm>
          <a:prstGeom prst="roundRect">
            <a:avLst>
              <a:gd name="adj" fmla="val 14000"/>
            </a:avLst>
          </a:prstGeom>
          <a:solidFill>
            <a:srgbClr val="E8E2DC"/>
          </a:solidFill>
          <a:ln w="19050">
            <a:solidFill>
              <a:srgbClr val="D8B58F"/>
            </a:solidFill>
          </a:ln>
        </p:spPr>
        <p:txBody>
          <a:bodyPr rtlCol="0" anchor="ctr"/>
          <a:lstStyle/>
          <a:p>
            <a:pPr algn="ctr"/>
          </a:p>
        </p:txBody>
      </p:sp>
      <p:sp>
        <p:nvSpPr>
          <p:cNvPr id="23" name="Oval 22"/>
          <p:cNvSpPr/>
          <p:nvPr/>
        </p:nvSpPr>
        <p:spPr>
          <a:xfrm>
            <a:off x="10195560" y="4572000"/>
            <a:ext cx="548640" cy="548640"/>
          </a:xfrm>
          <a:prstGeom prst="ellipse">
            <a:avLst/>
          </a:prstGeom>
          <a:solidFill>
            <a:srgbClr val="C9785A"/>
          </a:solidFill>
          <a:ln>
            <a:noFill/>
          </a:ln>
        </p:spPr>
        <p:txBody>
          <a:bodyPr rtlCol="0" anchor="ctr"/>
          <a:lstStyle/>
          <a:p>
            <a:pPr algn="ctr"/>
          </a:p>
        </p:txBody>
      </p:sp>
      <p:sp>
        <p:nvSpPr>
          <p:cNvPr id="24" name="TextBox 23"/>
          <p:cNvSpPr txBox="1"/>
          <p:nvPr/>
        </p:nvSpPr>
        <p:spPr>
          <a:xfrm>
            <a:off x="10195560" y="4572000"/>
            <a:ext cx="548640" cy="548640"/>
          </a:xfrm>
          <a:prstGeom prst="rect">
            <a:avLst/>
          </a:prstGeom>
          <a:noFill/>
        </p:spPr>
        <p:txBody>
          <a:bodyPr wrap="square" lIns="0" rIns="0" tIns="0" bIns="0" anchor="ctr">
            <a:noAutofit/>
          </a:bodyPr>
          <a:lstStyle/>
          <a:p>
            <a:pPr algn="ctr">
              <a:lnSpc>
                <a:spcPts val="2420"/>
              </a:lnSpc>
            </a:pPr>
            <a:r>
              <a:rPr sz="2200" b="1">
                <a:solidFill>
                  <a:srgbClr val="FFFFFF"/>
                </a:solidFill>
                <a:latin typeface="Open Sauce Bold"/>
              </a:rPr>
              <a:t>1</a:t>
            </a:r>
          </a:p>
        </p:txBody>
      </p:sp>
      <p:sp>
        <p:nvSpPr>
          <p:cNvPr id="25" name="TextBox 24"/>
          <p:cNvSpPr txBox="1"/>
          <p:nvPr/>
        </p:nvSpPr>
        <p:spPr>
          <a:xfrm>
            <a:off x="11018520" y="4480560"/>
            <a:ext cx="6183630" cy="365760"/>
          </a:xfrm>
          <a:prstGeom prst="rect">
            <a:avLst/>
          </a:prstGeom>
          <a:noFill/>
        </p:spPr>
        <p:txBody>
          <a:bodyPr wrap="square" lIns="0" rIns="0" tIns="0" bIns="0" anchor="t">
            <a:noAutofit/>
          </a:bodyPr>
          <a:lstStyle/>
          <a:p>
            <a:pPr algn="l">
              <a:lnSpc>
                <a:spcPts val="2730"/>
              </a:lnSpc>
            </a:pPr>
            <a:r>
              <a:rPr sz="2100" b="1">
                <a:solidFill>
                  <a:srgbClr val="24252F"/>
                </a:solidFill>
                <a:latin typeface="Open Sauce Bold"/>
              </a:rPr>
              <a:t>VALIDITY</a:t>
            </a:r>
          </a:p>
        </p:txBody>
      </p:sp>
      <p:sp>
        <p:nvSpPr>
          <p:cNvPr id="26" name="TextBox 25"/>
          <p:cNvSpPr txBox="1"/>
          <p:nvPr/>
        </p:nvSpPr>
        <p:spPr>
          <a:xfrm>
            <a:off x="11018520" y="4864608"/>
            <a:ext cx="6183630" cy="365760"/>
          </a:xfrm>
          <a:prstGeom prst="rect">
            <a:avLst/>
          </a:prstGeom>
          <a:noFill/>
        </p:spPr>
        <p:txBody>
          <a:bodyPr wrap="square" lIns="0" rIns="0" tIns="0" bIns="0" anchor="t">
            <a:noAutofit/>
          </a:bodyPr>
          <a:lstStyle/>
          <a:p>
            <a:pPr algn="l">
              <a:lnSpc>
                <a:spcPts val="2340"/>
              </a:lnSpc>
            </a:pPr>
            <a:r>
              <a:rPr sz="1800" b="0">
                <a:solidFill>
                  <a:srgbClr val="6E6863"/>
                </a:solidFill>
                <a:latin typeface="Open Sauce Semi-Bold"/>
              </a:rPr>
              <a:t>status must be an approved value</a:t>
            </a:r>
          </a:p>
        </p:txBody>
      </p:sp>
      <p:sp>
        <p:nvSpPr>
          <p:cNvPr id="27" name="Rounded Rectangle 26"/>
          <p:cNvSpPr/>
          <p:nvPr/>
        </p:nvSpPr>
        <p:spPr>
          <a:xfrm>
            <a:off x="9966960" y="5486400"/>
            <a:ext cx="7463790" cy="914400"/>
          </a:xfrm>
          <a:prstGeom prst="roundRect">
            <a:avLst>
              <a:gd name="adj" fmla="val 14000"/>
            </a:avLst>
          </a:prstGeom>
          <a:solidFill>
            <a:srgbClr val="E8E2DC"/>
          </a:solidFill>
          <a:ln w="19050">
            <a:solidFill>
              <a:srgbClr val="D8B58F"/>
            </a:solidFill>
          </a:ln>
        </p:spPr>
        <p:txBody>
          <a:bodyPr rtlCol="0" anchor="ctr"/>
          <a:lstStyle/>
          <a:p>
            <a:pPr algn="ctr"/>
          </a:p>
        </p:txBody>
      </p:sp>
      <p:sp>
        <p:nvSpPr>
          <p:cNvPr id="28" name="Oval 27"/>
          <p:cNvSpPr/>
          <p:nvPr/>
        </p:nvSpPr>
        <p:spPr>
          <a:xfrm>
            <a:off x="10195560" y="5669280"/>
            <a:ext cx="548640" cy="548640"/>
          </a:xfrm>
          <a:prstGeom prst="ellipse">
            <a:avLst/>
          </a:prstGeom>
          <a:solidFill>
            <a:srgbClr val="24252F"/>
          </a:solidFill>
          <a:ln>
            <a:noFill/>
          </a:ln>
        </p:spPr>
        <p:txBody>
          <a:bodyPr rtlCol="0" anchor="ctr"/>
          <a:lstStyle/>
          <a:p>
            <a:pPr algn="ctr"/>
          </a:p>
        </p:txBody>
      </p:sp>
      <p:sp>
        <p:nvSpPr>
          <p:cNvPr id="29" name="TextBox 28"/>
          <p:cNvSpPr txBox="1"/>
          <p:nvPr/>
        </p:nvSpPr>
        <p:spPr>
          <a:xfrm>
            <a:off x="10195560" y="5669280"/>
            <a:ext cx="548640" cy="548640"/>
          </a:xfrm>
          <a:prstGeom prst="rect">
            <a:avLst/>
          </a:prstGeom>
          <a:noFill/>
        </p:spPr>
        <p:txBody>
          <a:bodyPr wrap="square" lIns="0" rIns="0" tIns="0" bIns="0" anchor="ctr">
            <a:noAutofit/>
          </a:bodyPr>
          <a:lstStyle/>
          <a:p>
            <a:pPr algn="ctr">
              <a:lnSpc>
                <a:spcPts val="2420"/>
              </a:lnSpc>
            </a:pPr>
            <a:r>
              <a:rPr sz="2200" b="1">
                <a:solidFill>
                  <a:srgbClr val="FFFFFF"/>
                </a:solidFill>
                <a:latin typeface="Open Sauce Bold"/>
              </a:rPr>
              <a:t>2</a:t>
            </a:r>
          </a:p>
        </p:txBody>
      </p:sp>
      <p:sp>
        <p:nvSpPr>
          <p:cNvPr id="30" name="TextBox 29"/>
          <p:cNvSpPr txBox="1"/>
          <p:nvPr/>
        </p:nvSpPr>
        <p:spPr>
          <a:xfrm>
            <a:off x="11018520" y="5577840"/>
            <a:ext cx="6183630" cy="365760"/>
          </a:xfrm>
          <a:prstGeom prst="rect">
            <a:avLst/>
          </a:prstGeom>
          <a:noFill/>
        </p:spPr>
        <p:txBody>
          <a:bodyPr wrap="square" lIns="0" rIns="0" tIns="0" bIns="0" anchor="t">
            <a:noAutofit/>
          </a:bodyPr>
          <a:lstStyle/>
          <a:p>
            <a:pPr algn="l">
              <a:lnSpc>
                <a:spcPts val="2730"/>
              </a:lnSpc>
            </a:pPr>
            <a:r>
              <a:rPr sz="2100" b="1">
                <a:solidFill>
                  <a:srgbClr val="24252F"/>
                </a:solidFill>
                <a:latin typeface="Open Sauce Bold"/>
              </a:rPr>
              <a:t>RANGE</a:t>
            </a:r>
          </a:p>
        </p:txBody>
      </p:sp>
      <p:sp>
        <p:nvSpPr>
          <p:cNvPr id="31" name="TextBox 30"/>
          <p:cNvSpPr txBox="1"/>
          <p:nvPr/>
        </p:nvSpPr>
        <p:spPr>
          <a:xfrm>
            <a:off x="11018520" y="5961888"/>
            <a:ext cx="6183630" cy="365760"/>
          </a:xfrm>
          <a:prstGeom prst="rect">
            <a:avLst/>
          </a:prstGeom>
          <a:noFill/>
        </p:spPr>
        <p:txBody>
          <a:bodyPr wrap="square" lIns="0" rIns="0" tIns="0" bIns="0" anchor="t">
            <a:noAutofit/>
          </a:bodyPr>
          <a:lstStyle/>
          <a:p>
            <a:pPr algn="l">
              <a:lnSpc>
                <a:spcPts val="2340"/>
              </a:lnSpc>
            </a:pPr>
            <a:r>
              <a:rPr sz="1800" b="0">
                <a:solidFill>
                  <a:srgbClr val="6E6863"/>
                </a:solidFill>
                <a:latin typeface="Open Sauce Semi-Bold"/>
              </a:rPr>
              <a:t>unit_price &gt;= 0.01 and quantity &gt;= 1</a:t>
            </a:r>
          </a:p>
        </p:txBody>
      </p:sp>
      <p:sp>
        <p:nvSpPr>
          <p:cNvPr id="32" name="Rounded Rectangle 31"/>
          <p:cNvSpPr/>
          <p:nvPr/>
        </p:nvSpPr>
        <p:spPr>
          <a:xfrm>
            <a:off x="9966960" y="6583680"/>
            <a:ext cx="7463790" cy="914400"/>
          </a:xfrm>
          <a:prstGeom prst="roundRect">
            <a:avLst>
              <a:gd name="adj" fmla="val 14000"/>
            </a:avLst>
          </a:prstGeom>
          <a:solidFill>
            <a:srgbClr val="E8E2DC"/>
          </a:solidFill>
          <a:ln w="19050">
            <a:solidFill>
              <a:srgbClr val="D8B58F"/>
            </a:solidFill>
          </a:ln>
        </p:spPr>
        <p:txBody>
          <a:bodyPr rtlCol="0" anchor="ctr"/>
          <a:lstStyle/>
          <a:p>
            <a:pPr algn="ctr"/>
          </a:p>
        </p:txBody>
      </p:sp>
      <p:sp>
        <p:nvSpPr>
          <p:cNvPr id="33" name="Oval 32"/>
          <p:cNvSpPr/>
          <p:nvPr/>
        </p:nvSpPr>
        <p:spPr>
          <a:xfrm>
            <a:off x="10195560" y="6766560"/>
            <a:ext cx="548640" cy="548640"/>
          </a:xfrm>
          <a:prstGeom prst="ellipse">
            <a:avLst/>
          </a:prstGeom>
          <a:solidFill>
            <a:srgbClr val="C9785A"/>
          </a:solidFill>
          <a:ln>
            <a:noFill/>
          </a:ln>
        </p:spPr>
        <p:txBody>
          <a:bodyPr rtlCol="0" anchor="ctr"/>
          <a:lstStyle/>
          <a:p>
            <a:pPr algn="ctr"/>
          </a:p>
        </p:txBody>
      </p:sp>
      <p:sp>
        <p:nvSpPr>
          <p:cNvPr id="34" name="TextBox 33"/>
          <p:cNvSpPr txBox="1"/>
          <p:nvPr/>
        </p:nvSpPr>
        <p:spPr>
          <a:xfrm>
            <a:off x="10195560" y="6766560"/>
            <a:ext cx="548640" cy="548640"/>
          </a:xfrm>
          <a:prstGeom prst="rect">
            <a:avLst/>
          </a:prstGeom>
          <a:noFill/>
        </p:spPr>
        <p:txBody>
          <a:bodyPr wrap="square" lIns="0" rIns="0" tIns="0" bIns="0" anchor="ctr">
            <a:noAutofit/>
          </a:bodyPr>
          <a:lstStyle/>
          <a:p>
            <a:pPr algn="ctr">
              <a:lnSpc>
                <a:spcPts val="2420"/>
              </a:lnSpc>
            </a:pPr>
            <a:r>
              <a:rPr sz="2200" b="1">
                <a:solidFill>
                  <a:srgbClr val="FFFFFF"/>
                </a:solidFill>
                <a:latin typeface="Open Sauce Bold"/>
              </a:rPr>
              <a:t>1</a:t>
            </a:r>
          </a:p>
        </p:txBody>
      </p:sp>
      <p:sp>
        <p:nvSpPr>
          <p:cNvPr id="35" name="TextBox 34"/>
          <p:cNvSpPr txBox="1"/>
          <p:nvPr/>
        </p:nvSpPr>
        <p:spPr>
          <a:xfrm>
            <a:off x="11018520" y="6675120"/>
            <a:ext cx="6183630" cy="365760"/>
          </a:xfrm>
          <a:prstGeom prst="rect">
            <a:avLst/>
          </a:prstGeom>
          <a:noFill/>
        </p:spPr>
        <p:txBody>
          <a:bodyPr wrap="square" lIns="0" rIns="0" tIns="0" bIns="0" anchor="t">
            <a:noAutofit/>
          </a:bodyPr>
          <a:lstStyle/>
          <a:p>
            <a:pPr algn="l">
              <a:lnSpc>
                <a:spcPts val="2730"/>
              </a:lnSpc>
            </a:pPr>
            <a:r>
              <a:rPr sz="2100" b="1">
                <a:solidFill>
                  <a:srgbClr val="24252F"/>
                </a:solidFill>
                <a:latin typeface="Open Sauce Bold"/>
              </a:rPr>
              <a:t>VOLUME</a:t>
            </a:r>
          </a:p>
        </p:txBody>
      </p:sp>
      <p:sp>
        <p:nvSpPr>
          <p:cNvPr id="36" name="TextBox 35"/>
          <p:cNvSpPr txBox="1"/>
          <p:nvPr/>
        </p:nvSpPr>
        <p:spPr>
          <a:xfrm>
            <a:off x="11018520" y="7059168"/>
            <a:ext cx="6183630" cy="365760"/>
          </a:xfrm>
          <a:prstGeom prst="rect">
            <a:avLst/>
          </a:prstGeom>
          <a:noFill/>
        </p:spPr>
        <p:txBody>
          <a:bodyPr wrap="square" lIns="0" rIns="0" tIns="0" bIns="0" anchor="t">
            <a:noAutofit/>
          </a:bodyPr>
          <a:lstStyle/>
          <a:p>
            <a:pPr algn="l">
              <a:lnSpc>
                <a:spcPts val="2340"/>
              </a:lnSpc>
            </a:pPr>
            <a:r>
              <a:rPr sz="1800" b="0">
                <a:solidFill>
                  <a:srgbClr val="6E6863"/>
                </a:solidFill>
                <a:latin typeface="Open Sauce Semi-Bold"/>
              </a:rPr>
              <a:t>the orders table must not be empty</a:t>
            </a:r>
          </a:p>
        </p:txBody>
      </p:sp>
      <p:sp>
        <p:nvSpPr>
          <p:cNvPr id="37" name="TextBox 36"/>
          <p:cNvSpPr txBox="1"/>
          <p:nvPr/>
        </p:nvSpPr>
        <p:spPr>
          <a:xfrm>
            <a:off x="857250" y="7726680"/>
            <a:ext cx="16573500" cy="292608"/>
          </a:xfrm>
          <a:prstGeom prst="rect">
            <a:avLst/>
          </a:prstGeom>
          <a:noFill/>
        </p:spPr>
        <p:txBody>
          <a:bodyPr wrap="square" lIns="0" rIns="0" tIns="0" bIns="0" anchor="t">
            <a:noAutofit/>
          </a:bodyPr>
          <a:lstStyle/>
          <a:p>
            <a:pPr algn="ctr">
              <a:lnSpc>
                <a:spcPts val="2100"/>
              </a:lnSpc>
            </a:pPr>
            <a:r>
              <a:rPr sz="1500" b="1">
                <a:solidFill>
                  <a:srgbClr val="C9785A"/>
                </a:solidFill>
                <a:latin typeface="Open Sauce Bold"/>
              </a:rPr>
              <a:t>WHY YAML</a:t>
            </a:r>
          </a:p>
        </p:txBody>
      </p:sp>
      <p:sp>
        <p:nvSpPr>
          <p:cNvPr id="38" name="Rounded Rectangle 37"/>
          <p:cNvSpPr/>
          <p:nvPr/>
        </p:nvSpPr>
        <p:spPr>
          <a:xfrm>
            <a:off x="857250" y="8092440"/>
            <a:ext cx="16573500" cy="1234440"/>
          </a:xfrm>
          <a:prstGeom prst="roundRect">
            <a:avLst>
              <a:gd name="adj" fmla="val 11851"/>
            </a:avLst>
          </a:prstGeom>
          <a:solidFill>
            <a:srgbClr val="24252F"/>
          </a:solidFill>
          <a:ln>
            <a:noFill/>
          </a:ln>
        </p:spPr>
        <p:txBody>
          <a:bodyPr rtlCol="0" anchor="ctr"/>
          <a:lstStyle/>
          <a:p>
            <a:pPr algn="ctr"/>
          </a:p>
        </p:txBody>
      </p:sp>
      <p:sp>
        <p:nvSpPr>
          <p:cNvPr id="39" name="TextBox 38"/>
          <p:cNvSpPr txBox="1"/>
          <p:nvPr/>
        </p:nvSpPr>
        <p:spPr>
          <a:xfrm>
            <a:off x="1223010" y="8247888"/>
            <a:ext cx="15841980" cy="502920"/>
          </a:xfrm>
          <a:prstGeom prst="rect">
            <a:avLst/>
          </a:prstGeom>
          <a:noFill/>
        </p:spPr>
        <p:txBody>
          <a:bodyPr wrap="square" lIns="0" rIns="0" tIns="0" bIns="0" anchor="t">
            <a:noAutofit/>
          </a:bodyPr>
          <a:lstStyle/>
          <a:p>
            <a:pPr algn="ctr">
              <a:lnSpc>
                <a:spcPts val="3919"/>
              </a:lnSpc>
            </a:pPr>
            <a:r>
              <a:rPr sz="2800" b="1">
                <a:solidFill>
                  <a:srgbClr val="FFFFFF"/>
                </a:solidFill>
                <a:latin typeface="Open Sauce Bold"/>
              </a:rPr>
              <a:t>Rules live in a readable file, not buried in code</a:t>
            </a:r>
          </a:p>
        </p:txBody>
      </p:sp>
      <p:sp>
        <p:nvSpPr>
          <p:cNvPr id="40" name="TextBox 39"/>
          <p:cNvSpPr txBox="1"/>
          <p:nvPr/>
        </p:nvSpPr>
        <p:spPr>
          <a:xfrm>
            <a:off x="1223010" y="8823960"/>
            <a:ext cx="15841980" cy="365760"/>
          </a:xfrm>
          <a:prstGeom prst="rect">
            <a:avLst/>
          </a:prstGeom>
          <a:noFill/>
        </p:spPr>
        <p:txBody>
          <a:bodyPr wrap="square" lIns="0" rIns="0" tIns="0" bIns="0" anchor="t">
            <a:noAutofit/>
          </a:bodyPr>
          <a:lstStyle/>
          <a:p>
            <a:pPr algn="ctr">
              <a:lnSpc>
                <a:spcPts val="2660"/>
              </a:lnSpc>
            </a:pPr>
            <a:r>
              <a:rPr sz="1900" b="0">
                <a:solidFill>
                  <a:srgbClr val="F3C8B5"/>
                </a:solidFill>
                <a:latin typeface="Open Sauce Medium"/>
              </a:rPr>
              <a:t>Anyone on the team can read, review and change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Title"/>
          <p:cNvSpPr txBox="1"/>
          <p:nvPr/>
        </p:nvSpPr>
        <p:spPr>
          <a:xfrm>
            <a:off x="857250" y="428854"/>
            <a:ext cx="15727680" cy="786384"/>
          </a:xfrm>
          <a:prstGeom prst="rect">
            <a:avLst/>
          </a:prstGeom>
          <a:noFill/>
        </p:spPr>
        <p:txBody>
          <a:bodyPr wrap="square" lIns="0" rIns="0" tIns="0" bIns="0" anchor="t">
            <a:noAutofit/>
          </a:bodyPr>
          <a:lstStyle/>
          <a:p>
            <a:pPr algn="l">
              <a:lnSpc>
                <a:spcPts val="6439"/>
              </a:lnSpc>
            </a:pPr>
            <a:r>
              <a:rPr sz="4600" b="1">
                <a:solidFill>
                  <a:srgbClr val="24252F"/>
                </a:solidFill>
                <a:latin typeface="Open Sauce Bold"/>
              </a:rPr>
              <a:t>Case Study — Implementation: Running Soda</a:t>
            </a:r>
          </a:p>
        </p:txBody>
      </p:sp>
      <p:sp>
        <p:nvSpPr>
          <p:cNvPr id="3" name="Eyebrow"/>
          <p:cNvSpPr txBox="1"/>
          <p:nvPr/>
        </p:nvSpPr>
        <p:spPr>
          <a:xfrm>
            <a:off x="857250" y="1228954"/>
            <a:ext cx="10972800" cy="283464"/>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SODA SCAN — RESULTS</a:t>
            </a:r>
          </a:p>
        </p:txBody>
      </p:sp>
      <p:cxnSp>
        <p:nvCxnSpPr>
          <p:cNvPr id="4" name="Connector 3"/>
          <p:cNvCxnSpPr/>
          <p:nvPr/>
        </p:nvCxnSpPr>
        <p:spPr>
          <a:xfrm>
            <a:off x="857250" y="1524305"/>
            <a:ext cx="16573500" cy="0"/>
          </a:xfrm>
          <a:prstGeom prst="line">
            <a:avLst/>
          </a:prstGeom>
          <a:ln w="19050">
            <a:solidFill>
              <a:srgbClr val="D8B58F"/>
            </a:solidFill>
          </a:ln>
        </p:spPr>
      </p:cxnSp>
      <p:cxnSp>
        <p:nvCxnSpPr>
          <p:cNvPr id="5" name="Connector 4"/>
          <p:cNvCxnSpPr/>
          <p:nvPr/>
        </p:nvCxnSpPr>
        <p:spPr>
          <a:xfrm>
            <a:off x="857250" y="9601200"/>
            <a:ext cx="16573500" cy="0"/>
          </a:xfrm>
          <a:prstGeom prst="line">
            <a:avLst/>
          </a:prstGeom>
          <a:ln w="19050">
            <a:solidFill>
              <a:srgbClr val="D8B58F"/>
            </a:solidFill>
          </a:ln>
        </p:spPr>
      </p:cxnSp>
      <p:sp>
        <p:nvSpPr>
          <p:cNvPr id="6" name="Footer"/>
          <p:cNvSpPr txBox="1"/>
          <p:nvPr/>
        </p:nvSpPr>
        <p:spPr>
          <a:xfrm>
            <a:off x="857250" y="9765792"/>
            <a:ext cx="2377440" cy="237744"/>
          </a:xfrm>
          <a:prstGeom prst="rect">
            <a:avLst/>
          </a:prstGeom>
          <a:noFill/>
        </p:spPr>
        <p:txBody>
          <a:bodyPr wrap="square" lIns="0" rIns="0" tIns="0" bIns="0" anchor="t">
            <a:noAutofit/>
          </a:bodyPr>
          <a:lstStyle/>
          <a:p>
            <a:pPr algn="l">
              <a:lnSpc>
                <a:spcPts val="1959"/>
              </a:lnSpc>
            </a:pPr>
            <a:r>
              <a:rPr sz="1400" b="0">
                <a:solidFill>
                  <a:srgbClr val="6E6863"/>
                </a:solidFill>
                <a:latin typeface="Open Sauce Medium"/>
              </a:rPr>
              <a:t>ISE Activity 2</a:t>
            </a:r>
          </a:p>
        </p:txBody>
      </p:sp>
      <p:sp>
        <p:nvSpPr>
          <p:cNvPr id="7" name="Page number"/>
          <p:cNvSpPr txBox="1"/>
          <p:nvPr/>
        </p:nvSpPr>
        <p:spPr>
          <a:xfrm>
            <a:off x="17049902" y="9765792"/>
            <a:ext cx="381305" cy="237744"/>
          </a:xfrm>
          <a:prstGeom prst="rect">
            <a:avLst/>
          </a:prstGeom>
          <a:noFill/>
        </p:spPr>
        <p:txBody>
          <a:bodyPr wrap="square" lIns="0" rIns="0" tIns="0" bIns="0" anchor="t">
            <a:noAutofit/>
          </a:bodyPr>
          <a:lstStyle/>
          <a:p>
            <a:pPr algn="r">
              <a:lnSpc>
                <a:spcPts val="1959"/>
              </a:lnSpc>
            </a:pPr>
            <a:r>
              <a:rPr sz="1400" b="0">
                <a:solidFill>
                  <a:srgbClr val="6E6863"/>
                </a:solidFill>
                <a:latin typeface="Open Sauce Medium"/>
              </a:rPr>
              <a:t>11</a:t>
            </a:r>
          </a:p>
        </p:txBody>
      </p:sp>
      <p:sp>
        <p:nvSpPr>
          <p:cNvPr id="8" name="TextBox 7"/>
          <p:cNvSpPr txBox="1"/>
          <p:nvPr/>
        </p:nvSpPr>
        <p:spPr>
          <a:xfrm>
            <a:off x="857250" y="1783080"/>
            <a:ext cx="914400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ALL 9 CHECKS</a:t>
            </a:r>
          </a:p>
        </p:txBody>
      </p:sp>
      <p:sp>
        <p:nvSpPr>
          <p:cNvPr id="9" name="Rounded Rectangle 8"/>
          <p:cNvSpPr/>
          <p:nvPr/>
        </p:nvSpPr>
        <p:spPr>
          <a:xfrm>
            <a:off x="857250" y="2194560"/>
            <a:ext cx="10698480" cy="621792"/>
          </a:xfrm>
          <a:prstGeom prst="roundRect">
            <a:avLst>
              <a:gd name="adj" fmla="val 14705"/>
            </a:avLst>
          </a:prstGeom>
          <a:solidFill>
            <a:srgbClr val="E8E2DC"/>
          </a:solidFill>
          <a:ln w="15875">
            <a:solidFill>
              <a:srgbClr val="D8B58F"/>
            </a:solidFill>
          </a:ln>
        </p:spPr>
        <p:txBody>
          <a:bodyPr rtlCol="0" anchor="ctr"/>
          <a:lstStyle/>
          <a:p>
            <a:pPr algn="ctr"/>
          </a:p>
        </p:txBody>
      </p:sp>
      <p:sp>
        <p:nvSpPr>
          <p:cNvPr id="10" name="Rounded Rectangle 9"/>
          <p:cNvSpPr/>
          <p:nvPr/>
        </p:nvSpPr>
        <p:spPr>
          <a:xfrm>
            <a:off x="1040130" y="2295144"/>
            <a:ext cx="1143000" cy="420624"/>
          </a:xfrm>
          <a:prstGeom prst="roundRect">
            <a:avLst>
              <a:gd name="adj" fmla="val 50000"/>
            </a:avLst>
          </a:prstGeom>
          <a:solidFill>
            <a:srgbClr val="24252F"/>
          </a:solidFill>
          <a:ln>
            <a:noFill/>
          </a:ln>
        </p:spPr>
        <p:txBody>
          <a:bodyPr rtlCol="0" anchor="ctr"/>
          <a:lstStyle/>
          <a:p>
            <a:pPr algn="ctr"/>
          </a:p>
        </p:txBody>
      </p:sp>
      <p:sp>
        <p:nvSpPr>
          <p:cNvPr id="11" name="TextBox 10"/>
          <p:cNvSpPr txBox="1"/>
          <p:nvPr/>
        </p:nvSpPr>
        <p:spPr>
          <a:xfrm>
            <a:off x="1040130" y="2295144"/>
            <a:ext cx="1143000" cy="420624"/>
          </a:xfrm>
          <a:prstGeom prst="rect">
            <a:avLst/>
          </a:prstGeom>
          <a:noFill/>
        </p:spPr>
        <p:txBody>
          <a:bodyPr wrap="square" lIns="0" rIns="0" tIns="0" bIns="0" anchor="ctr">
            <a:noAutofit/>
          </a:bodyPr>
          <a:lstStyle/>
          <a:p>
            <a:pPr algn="ctr">
              <a:lnSpc>
                <a:spcPts val="1760"/>
              </a:lnSpc>
            </a:pPr>
            <a:r>
              <a:rPr sz="1600" b="1">
                <a:solidFill>
                  <a:srgbClr val="FFFFFF"/>
                </a:solidFill>
                <a:latin typeface="Open Sauce Bold"/>
              </a:rPr>
              <a:t>PASS</a:t>
            </a:r>
          </a:p>
        </p:txBody>
      </p:sp>
      <p:sp>
        <p:nvSpPr>
          <p:cNvPr id="12" name="TextBox 11"/>
          <p:cNvSpPr txBox="1"/>
          <p:nvPr/>
        </p:nvSpPr>
        <p:spPr>
          <a:xfrm>
            <a:off x="2457450" y="2194560"/>
            <a:ext cx="5029200" cy="621792"/>
          </a:xfrm>
          <a:prstGeom prst="rect">
            <a:avLst/>
          </a:prstGeom>
          <a:noFill/>
        </p:spPr>
        <p:txBody>
          <a:bodyPr wrap="square" lIns="0" rIns="0" tIns="0" bIns="0" anchor="ctr">
            <a:noAutofit/>
          </a:bodyPr>
          <a:lstStyle/>
          <a:p>
            <a:pPr algn="l">
              <a:lnSpc>
                <a:spcPts val="2280"/>
              </a:lnSpc>
            </a:pPr>
            <a:r>
              <a:rPr sz="1900" b="0">
                <a:solidFill>
                  <a:srgbClr val="24252F"/>
                </a:solidFill>
                <a:latin typeface="Open Sauce Semi-Bold"/>
              </a:rPr>
              <a:t>row_count &gt; 0</a:t>
            </a:r>
          </a:p>
        </p:txBody>
      </p:sp>
      <p:sp>
        <p:nvSpPr>
          <p:cNvPr id="13" name="TextBox 12"/>
          <p:cNvSpPr txBox="1"/>
          <p:nvPr/>
        </p:nvSpPr>
        <p:spPr>
          <a:xfrm>
            <a:off x="7578090" y="2194560"/>
            <a:ext cx="2194560" cy="621792"/>
          </a:xfrm>
          <a:prstGeom prst="rect">
            <a:avLst/>
          </a:prstGeom>
          <a:noFill/>
        </p:spPr>
        <p:txBody>
          <a:bodyPr wrap="square" lIns="0" rIns="0" tIns="0" bIns="0" anchor="ctr">
            <a:noAutofit/>
          </a:bodyPr>
          <a:lstStyle/>
          <a:p>
            <a:pPr algn="l">
              <a:lnSpc>
                <a:spcPts val="2039"/>
              </a:lnSpc>
            </a:pPr>
            <a:r>
              <a:rPr sz="1700" b="0">
                <a:solidFill>
                  <a:srgbClr val="6E6863"/>
                </a:solidFill>
                <a:latin typeface="Open Sauce Semi-Bold"/>
              </a:rPr>
              <a:t>Volume</a:t>
            </a:r>
          </a:p>
        </p:txBody>
      </p:sp>
      <p:sp>
        <p:nvSpPr>
          <p:cNvPr id="14" name="TextBox 13"/>
          <p:cNvSpPr txBox="1"/>
          <p:nvPr/>
        </p:nvSpPr>
        <p:spPr>
          <a:xfrm>
            <a:off x="9818370" y="2194560"/>
            <a:ext cx="1554480" cy="621792"/>
          </a:xfrm>
          <a:prstGeom prst="rect">
            <a:avLst/>
          </a:prstGeom>
          <a:noFill/>
        </p:spPr>
        <p:txBody>
          <a:bodyPr wrap="square" lIns="0" rIns="0" tIns="0" bIns="0" anchor="ctr">
            <a:noAutofit/>
          </a:bodyPr>
          <a:lstStyle/>
          <a:p>
            <a:pPr algn="r">
              <a:lnSpc>
                <a:spcPts val="2280"/>
              </a:lnSpc>
            </a:pPr>
            <a:r>
              <a:rPr sz="1900" b="1">
                <a:solidFill>
                  <a:srgbClr val="C9785A"/>
                </a:solidFill>
                <a:latin typeface="Open Sauce Bold"/>
              </a:rPr>
              <a:t/>
            </a:r>
          </a:p>
        </p:txBody>
      </p:sp>
      <p:sp>
        <p:nvSpPr>
          <p:cNvPr id="15" name="Rounded Rectangle 14"/>
          <p:cNvSpPr/>
          <p:nvPr/>
        </p:nvSpPr>
        <p:spPr>
          <a:xfrm>
            <a:off x="857250" y="2907792"/>
            <a:ext cx="10698480" cy="621792"/>
          </a:xfrm>
          <a:prstGeom prst="roundRect">
            <a:avLst>
              <a:gd name="adj" fmla="val 14705"/>
            </a:avLst>
          </a:prstGeom>
          <a:solidFill>
            <a:srgbClr val="E8E2DC"/>
          </a:solidFill>
          <a:ln w="15875">
            <a:solidFill>
              <a:srgbClr val="D8B58F"/>
            </a:solidFill>
          </a:ln>
        </p:spPr>
        <p:txBody>
          <a:bodyPr rtlCol="0" anchor="ctr"/>
          <a:lstStyle/>
          <a:p>
            <a:pPr algn="ctr"/>
          </a:p>
        </p:txBody>
      </p:sp>
      <p:sp>
        <p:nvSpPr>
          <p:cNvPr id="16" name="Rounded Rectangle 15"/>
          <p:cNvSpPr/>
          <p:nvPr/>
        </p:nvSpPr>
        <p:spPr>
          <a:xfrm>
            <a:off x="1040130" y="3008376"/>
            <a:ext cx="1143000" cy="420624"/>
          </a:xfrm>
          <a:prstGeom prst="roundRect">
            <a:avLst>
              <a:gd name="adj" fmla="val 50000"/>
            </a:avLst>
          </a:prstGeom>
          <a:solidFill>
            <a:srgbClr val="24252F"/>
          </a:solidFill>
          <a:ln>
            <a:noFill/>
          </a:ln>
        </p:spPr>
        <p:txBody>
          <a:bodyPr rtlCol="0" anchor="ctr"/>
          <a:lstStyle/>
          <a:p>
            <a:pPr algn="ctr"/>
          </a:p>
        </p:txBody>
      </p:sp>
      <p:sp>
        <p:nvSpPr>
          <p:cNvPr id="17" name="TextBox 16"/>
          <p:cNvSpPr txBox="1"/>
          <p:nvPr/>
        </p:nvSpPr>
        <p:spPr>
          <a:xfrm>
            <a:off x="1040130" y="3008376"/>
            <a:ext cx="1143000" cy="420624"/>
          </a:xfrm>
          <a:prstGeom prst="rect">
            <a:avLst/>
          </a:prstGeom>
          <a:noFill/>
        </p:spPr>
        <p:txBody>
          <a:bodyPr wrap="square" lIns="0" rIns="0" tIns="0" bIns="0" anchor="ctr">
            <a:noAutofit/>
          </a:bodyPr>
          <a:lstStyle/>
          <a:p>
            <a:pPr algn="ctr">
              <a:lnSpc>
                <a:spcPts val="1760"/>
              </a:lnSpc>
            </a:pPr>
            <a:r>
              <a:rPr sz="1600" b="1">
                <a:solidFill>
                  <a:srgbClr val="FFFFFF"/>
                </a:solidFill>
                <a:latin typeface="Open Sauce Bold"/>
              </a:rPr>
              <a:t>PASS</a:t>
            </a:r>
          </a:p>
        </p:txBody>
      </p:sp>
      <p:sp>
        <p:nvSpPr>
          <p:cNvPr id="18" name="TextBox 17"/>
          <p:cNvSpPr txBox="1"/>
          <p:nvPr/>
        </p:nvSpPr>
        <p:spPr>
          <a:xfrm>
            <a:off x="2457450" y="2907792"/>
            <a:ext cx="5029200" cy="621792"/>
          </a:xfrm>
          <a:prstGeom prst="rect">
            <a:avLst/>
          </a:prstGeom>
          <a:noFill/>
        </p:spPr>
        <p:txBody>
          <a:bodyPr wrap="square" lIns="0" rIns="0" tIns="0" bIns="0" anchor="ctr">
            <a:noAutofit/>
          </a:bodyPr>
          <a:lstStyle/>
          <a:p>
            <a:pPr algn="l">
              <a:lnSpc>
                <a:spcPts val="2280"/>
              </a:lnSpc>
            </a:pPr>
            <a:r>
              <a:rPr sz="1900" b="0">
                <a:solidFill>
                  <a:srgbClr val="24252F"/>
                </a:solidFill>
                <a:latin typeface="Open Sauce Semi-Bold"/>
              </a:rPr>
              <a:t>missing_count(order_id) = 0</a:t>
            </a:r>
          </a:p>
        </p:txBody>
      </p:sp>
      <p:sp>
        <p:nvSpPr>
          <p:cNvPr id="19" name="TextBox 18"/>
          <p:cNvSpPr txBox="1"/>
          <p:nvPr/>
        </p:nvSpPr>
        <p:spPr>
          <a:xfrm>
            <a:off x="7578090" y="2907792"/>
            <a:ext cx="2194560" cy="621792"/>
          </a:xfrm>
          <a:prstGeom prst="rect">
            <a:avLst/>
          </a:prstGeom>
          <a:noFill/>
        </p:spPr>
        <p:txBody>
          <a:bodyPr wrap="square" lIns="0" rIns="0" tIns="0" bIns="0" anchor="ctr">
            <a:noAutofit/>
          </a:bodyPr>
          <a:lstStyle/>
          <a:p>
            <a:pPr algn="l">
              <a:lnSpc>
                <a:spcPts val="2039"/>
              </a:lnSpc>
            </a:pPr>
            <a:r>
              <a:rPr sz="1700" b="0">
                <a:solidFill>
                  <a:srgbClr val="6E6863"/>
                </a:solidFill>
                <a:latin typeface="Open Sauce Semi-Bold"/>
              </a:rPr>
              <a:t>Completeness</a:t>
            </a:r>
          </a:p>
        </p:txBody>
      </p:sp>
      <p:sp>
        <p:nvSpPr>
          <p:cNvPr id="20" name="TextBox 19"/>
          <p:cNvSpPr txBox="1"/>
          <p:nvPr/>
        </p:nvSpPr>
        <p:spPr>
          <a:xfrm>
            <a:off x="9818370" y="2907792"/>
            <a:ext cx="1554480" cy="621792"/>
          </a:xfrm>
          <a:prstGeom prst="rect">
            <a:avLst/>
          </a:prstGeom>
          <a:noFill/>
        </p:spPr>
        <p:txBody>
          <a:bodyPr wrap="square" lIns="0" rIns="0" tIns="0" bIns="0" anchor="ctr">
            <a:noAutofit/>
          </a:bodyPr>
          <a:lstStyle/>
          <a:p>
            <a:pPr algn="r">
              <a:lnSpc>
                <a:spcPts val="2280"/>
              </a:lnSpc>
            </a:pPr>
            <a:r>
              <a:rPr sz="1900" b="1">
                <a:solidFill>
                  <a:srgbClr val="C9785A"/>
                </a:solidFill>
                <a:latin typeface="Open Sauce Bold"/>
              </a:rPr>
              <a:t/>
            </a:r>
          </a:p>
        </p:txBody>
      </p:sp>
      <p:sp>
        <p:nvSpPr>
          <p:cNvPr id="21" name="Rounded Rectangle 20"/>
          <p:cNvSpPr/>
          <p:nvPr/>
        </p:nvSpPr>
        <p:spPr>
          <a:xfrm>
            <a:off x="857250" y="3621024"/>
            <a:ext cx="10698480" cy="621792"/>
          </a:xfrm>
          <a:prstGeom prst="roundRect">
            <a:avLst>
              <a:gd name="adj" fmla="val 14705"/>
            </a:avLst>
          </a:prstGeom>
          <a:solidFill>
            <a:srgbClr val="F1D8CC"/>
          </a:solidFill>
          <a:ln w="15875">
            <a:solidFill>
              <a:srgbClr val="C9785A"/>
            </a:solidFill>
          </a:ln>
        </p:spPr>
        <p:txBody>
          <a:bodyPr rtlCol="0" anchor="ctr"/>
          <a:lstStyle/>
          <a:p>
            <a:pPr algn="ctr"/>
          </a:p>
        </p:txBody>
      </p:sp>
      <p:sp>
        <p:nvSpPr>
          <p:cNvPr id="22" name="Rounded Rectangle 21"/>
          <p:cNvSpPr/>
          <p:nvPr/>
        </p:nvSpPr>
        <p:spPr>
          <a:xfrm>
            <a:off x="1040130" y="3721608"/>
            <a:ext cx="1143000" cy="420624"/>
          </a:xfrm>
          <a:prstGeom prst="roundRect">
            <a:avLst>
              <a:gd name="adj" fmla="val 50000"/>
            </a:avLst>
          </a:prstGeom>
          <a:solidFill>
            <a:srgbClr val="C9785A"/>
          </a:solidFill>
          <a:ln>
            <a:noFill/>
          </a:ln>
        </p:spPr>
        <p:txBody>
          <a:bodyPr rtlCol="0" anchor="ctr"/>
          <a:lstStyle/>
          <a:p>
            <a:pPr algn="ctr"/>
          </a:p>
        </p:txBody>
      </p:sp>
      <p:sp>
        <p:nvSpPr>
          <p:cNvPr id="23" name="TextBox 22"/>
          <p:cNvSpPr txBox="1"/>
          <p:nvPr/>
        </p:nvSpPr>
        <p:spPr>
          <a:xfrm>
            <a:off x="1040130" y="3721608"/>
            <a:ext cx="1143000" cy="420624"/>
          </a:xfrm>
          <a:prstGeom prst="rect">
            <a:avLst/>
          </a:prstGeom>
          <a:noFill/>
        </p:spPr>
        <p:txBody>
          <a:bodyPr wrap="square" lIns="0" rIns="0" tIns="0" bIns="0" anchor="ctr">
            <a:noAutofit/>
          </a:bodyPr>
          <a:lstStyle/>
          <a:p>
            <a:pPr algn="ctr">
              <a:lnSpc>
                <a:spcPts val="1760"/>
              </a:lnSpc>
            </a:pPr>
            <a:r>
              <a:rPr sz="1600" b="1">
                <a:solidFill>
                  <a:srgbClr val="FFFFFF"/>
                </a:solidFill>
                <a:latin typeface="Open Sauce Bold"/>
              </a:rPr>
              <a:t>FAIL</a:t>
            </a:r>
          </a:p>
        </p:txBody>
      </p:sp>
      <p:sp>
        <p:nvSpPr>
          <p:cNvPr id="24" name="TextBox 23"/>
          <p:cNvSpPr txBox="1"/>
          <p:nvPr/>
        </p:nvSpPr>
        <p:spPr>
          <a:xfrm>
            <a:off x="2457450" y="3621024"/>
            <a:ext cx="5029200" cy="621792"/>
          </a:xfrm>
          <a:prstGeom prst="rect">
            <a:avLst/>
          </a:prstGeom>
          <a:noFill/>
        </p:spPr>
        <p:txBody>
          <a:bodyPr wrap="square" lIns="0" rIns="0" tIns="0" bIns="0" anchor="ctr">
            <a:noAutofit/>
          </a:bodyPr>
          <a:lstStyle/>
          <a:p>
            <a:pPr algn="l">
              <a:lnSpc>
                <a:spcPts val="2280"/>
              </a:lnSpc>
            </a:pPr>
            <a:r>
              <a:rPr sz="1900" b="0">
                <a:solidFill>
                  <a:srgbClr val="24252F"/>
                </a:solidFill>
                <a:latin typeface="Open Sauce Semi-Bold"/>
              </a:rPr>
              <a:t>duplicate_count(order_id) = 0</a:t>
            </a:r>
          </a:p>
        </p:txBody>
      </p:sp>
      <p:sp>
        <p:nvSpPr>
          <p:cNvPr id="25" name="TextBox 24"/>
          <p:cNvSpPr txBox="1"/>
          <p:nvPr/>
        </p:nvSpPr>
        <p:spPr>
          <a:xfrm>
            <a:off x="7578090" y="3621024"/>
            <a:ext cx="2194560" cy="621792"/>
          </a:xfrm>
          <a:prstGeom prst="rect">
            <a:avLst/>
          </a:prstGeom>
          <a:noFill/>
        </p:spPr>
        <p:txBody>
          <a:bodyPr wrap="square" lIns="0" rIns="0" tIns="0" bIns="0" anchor="ctr">
            <a:noAutofit/>
          </a:bodyPr>
          <a:lstStyle/>
          <a:p>
            <a:pPr algn="l">
              <a:lnSpc>
                <a:spcPts val="2039"/>
              </a:lnSpc>
            </a:pPr>
            <a:r>
              <a:rPr sz="1700" b="0">
                <a:solidFill>
                  <a:srgbClr val="6E6863"/>
                </a:solidFill>
                <a:latin typeface="Open Sauce Semi-Bold"/>
              </a:rPr>
              <a:t>Uniqueness</a:t>
            </a:r>
          </a:p>
        </p:txBody>
      </p:sp>
      <p:sp>
        <p:nvSpPr>
          <p:cNvPr id="26" name="TextBox 25"/>
          <p:cNvSpPr txBox="1"/>
          <p:nvPr/>
        </p:nvSpPr>
        <p:spPr>
          <a:xfrm>
            <a:off x="9818370" y="3621024"/>
            <a:ext cx="1554480" cy="621792"/>
          </a:xfrm>
          <a:prstGeom prst="rect">
            <a:avLst/>
          </a:prstGeom>
          <a:noFill/>
        </p:spPr>
        <p:txBody>
          <a:bodyPr wrap="square" lIns="0" rIns="0" tIns="0" bIns="0" anchor="ctr">
            <a:noAutofit/>
          </a:bodyPr>
          <a:lstStyle/>
          <a:p>
            <a:pPr algn="r">
              <a:lnSpc>
                <a:spcPts val="2280"/>
              </a:lnSpc>
            </a:pPr>
            <a:r>
              <a:rPr sz="1900" b="1">
                <a:solidFill>
                  <a:srgbClr val="C9785A"/>
                </a:solidFill>
                <a:latin typeface="Open Sauce Bold"/>
              </a:rPr>
              <a:t>3 rows</a:t>
            </a:r>
          </a:p>
        </p:txBody>
      </p:sp>
      <p:sp>
        <p:nvSpPr>
          <p:cNvPr id="27" name="Rounded Rectangle 26"/>
          <p:cNvSpPr/>
          <p:nvPr/>
        </p:nvSpPr>
        <p:spPr>
          <a:xfrm>
            <a:off x="857250" y="4334256"/>
            <a:ext cx="10698480" cy="621792"/>
          </a:xfrm>
          <a:prstGeom prst="roundRect">
            <a:avLst>
              <a:gd name="adj" fmla="val 14705"/>
            </a:avLst>
          </a:prstGeom>
          <a:solidFill>
            <a:srgbClr val="F1D8CC"/>
          </a:solidFill>
          <a:ln w="15875">
            <a:solidFill>
              <a:srgbClr val="C9785A"/>
            </a:solidFill>
          </a:ln>
        </p:spPr>
        <p:txBody>
          <a:bodyPr rtlCol="0" anchor="ctr"/>
          <a:lstStyle/>
          <a:p>
            <a:pPr algn="ctr"/>
          </a:p>
        </p:txBody>
      </p:sp>
      <p:sp>
        <p:nvSpPr>
          <p:cNvPr id="28" name="Rounded Rectangle 27"/>
          <p:cNvSpPr/>
          <p:nvPr/>
        </p:nvSpPr>
        <p:spPr>
          <a:xfrm>
            <a:off x="1040130" y="4434840"/>
            <a:ext cx="1143000" cy="420624"/>
          </a:xfrm>
          <a:prstGeom prst="roundRect">
            <a:avLst>
              <a:gd name="adj" fmla="val 50000"/>
            </a:avLst>
          </a:prstGeom>
          <a:solidFill>
            <a:srgbClr val="C9785A"/>
          </a:solidFill>
          <a:ln>
            <a:noFill/>
          </a:ln>
        </p:spPr>
        <p:txBody>
          <a:bodyPr rtlCol="0" anchor="ctr"/>
          <a:lstStyle/>
          <a:p>
            <a:pPr algn="ctr"/>
          </a:p>
        </p:txBody>
      </p:sp>
      <p:sp>
        <p:nvSpPr>
          <p:cNvPr id="29" name="TextBox 28"/>
          <p:cNvSpPr txBox="1"/>
          <p:nvPr/>
        </p:nvSpPr>
        <p:spPr>
          <a:xfrm>
            <a:off x="1040130" y="4434840"/>
            <a:ext cx="1143000" cy="420624"/>
          </a:xfrm>
          <a:prstGeom prst="rect">
            <a:avLst/>
          </a:prstGeom>
          <a:noFill/>
        </p:spPr>
        <p:txBody>
          <a:bodyPr wrap="square" lIns="0" rIns="0" tIns="0" bIns="0" anchor="ctr">
            <a:noAutofit/>
          </a:bodyPr>
          <a:lstStyle/>
          <a:p>
            <a:pPr algn="ctr">
              <a:lnSpc>
                <a:spcPts val="1760"/>
              </a:lnSpc>
            </a:pPr>
            <a:r>
              <a:rPr sz="1600" b="1">
                <a:solidFill>
                  <a:srgbClr val="FFFFFF"/>
                </a:solidFill>
                <a:latin typeface="Open Sauce Bold"/>
              </a:rPr>
              <a:t>FAIL</a:t>
            </a:r>
          </a:p>
        </p:txBody>
      </p:sp>
      <p:sp>
        <p:nvSpPr>
          <p:cNvPr id="30" name="TextBox 29"/>
          <p:cNvSpPr txBox="1"/>
          <p:nvPr/>
        </p:nvSpPr>
        <p:spPr>
          <a:xfrm>
            <a:off x="2457450" y="4334256"/>
            <a:ext cx="5029200" cy="621792"/>
          </a:xfrm>
          <a:prstGeom prst="rect">
            <a:avLst/>
          </a:prstGeom>
          <a:noFill/>
        </p:spPr>
        <p:txBody>
          <a:bodyPr wrap="square" lIns="0" rIns="0" tIns="0" bIns="0" anchor="ctr">
            <a:noAutofit/>
          </a:bodyPr>
          <a:lstStyle/>
          <a:p>
            <a:pPr algn="l">
              <a:lnSpc>
                <a:spcPts val="2280"/>
              </a:lnSpc>
            </a:pPr>
            <a:r>
              <a:rPr sz="1900" b="0">
                <a:solidFill>
                  <a:srgbClr val="24252F"/>
                </a:solidFill>
                <a:latin typeface="Open Sauce Semi-Bold"/>
              </a:rPr>
              <a:t>missing_count(customer_id) = 0</a:t>
            </a:r>
          </a:p>
        </p:txBody>
      </p:sp>
      <p:sp>
        <p:nvSpPr>
          <p:cNvPr id="31" name="TextBox 30"/>
          <p:cNvSpPr txBox="1"/>
          <p:nvPr/>
        </p:nvSpPr>
        <p:spPr>
          <a:xfrm>
            <a:off x="7578090" y="4334256"/>
            <a:ext cx="2194560" cy="621792"/>
          </a:xfrm>
          <a:prstGeom prst="rect">
            <a:avLst/>
          </a:prstGeom>
          <a:noFill/>
        </p:spPr>
        <p:txBody>
          <a:bodyPr wrap="square" lIns="0" rIns="0" tIns="0" bIns="0" anchor="ctr">
            <a:noAutofit/>
          </a:bodyPr>
          <a:lstStyle/>
          <a:p>
            <a:pPr algn="l">
              <a:lnSpc>
                <a:spcPts val="2039"/>
              </a:lnSpc>
            </a:pPr>
            <a:r>
              <a:rPr sz="1700" b="0">
                <a:solidFill>
                  <a:srgbClr val="6E6863"/>
                </a:solidFill>
                <a:latin typeface="Open Sauce Semi-Bold"/>
              </a:rPr>
              <a:t>Completeness</a:t>
            </a:r>
          </a:p>
        </p:txBody>
      </p:sp>
      <p:sp>
        <p:nvSpPr>
          <p:cNvPr id="32" name="TextBox 31"/>
          <p:cNvSpPr txBox="1"/>
          <p:nvPr/>
        </p:nvSpPr>
        <p:spPr>
          <a:xfrm>
            <a:off x="9818370" y="4334256"/>
            <a:ext cx="1554480" cy="621792"/>
          </a:xfrm>
          <a:prstGeom prst="rect">
            <a:avLst/>
          </a:prstGeom>
          <a:noFill/>
        </p:spPr>
        <p:txBody>
          <a:bodyPr wrap="square" lIns="0" rIns="0" tIns="0" bIns="0" anchor="ctr">
            <a:noAutofit/>
          </a:bodyPr>
          <a:lstStyle/>
          <a:p>
            <a:pPr algn="r">
              <a:lnSpc>
                <a:spcPts val="2280"/>
              </a:lnSpc>
            </a:pPr>
            <a:r>
              <a:rPr sz="1900" b="1">
                <a:solidFill>
                  <a:srgbClr val="C9785A"/>
                </a:solidFill>
                <a:latin typeface="Open Sauce Bold"/>
              </a:rPr>
              <a:t>1 row</a:t>
            </a:r>
          </a:p>
        </p:txBody>
      </p:sp>
      <p:sp>
        <p:nvSpPr>
          <p:cNvPr id="33" name="Rounded Rectangle 32"/>
          <p:cNvSpPr/>
          <p:nvPr/>
        </p:nvSpPr>
        <p:spPr>
          <a:xfrm>
            <a:off x="857250" y="5047488"/>
            <a:ext cx="10698480" cy="621792"/>
          </a:xfrm>
          <a:prstGeom prst="roundRect">
            <a:avLst>
              <a:gd name="adj" fmla="val 14705"/>
            </a:avLst>
          </a:prstGeom>
          <a:solidFill>
            <a:srgbClr val="F1D8CC"/>
          </a:solidFill>
          <a:ln w="15875">
            <a:solidFill>
              <a:srgbClr val="C9785A"/>
            </a:solidFill>
          </a:ln>
        </p:spPr>
        <p:txBody>
          <a:bodyPr rtlCol="0" anchor="ctr"/>
          <a:lstStyle/>
          <a:p>
            <a:pPr algn="ctr"/>
          </a:p>
        </p:txBody>
      </p:sp>
      <p:sp>
        <p:nvSpPr>
          <p:cNvPr id="34" name="Rounded Rectangle 33"/>
          <p:cNvSpPr/>
          <p:nvPr/>
        </p:nvSpPr>
        <p:spPr>
          <a:xfrm>
            <a:off x="1040130" y="5148072"/>
            <a:ext cx="1143000" cy="420624"/>
          </a:xfrm>
          <a:prstGeom prst="roundRect">
            <a:avLst>
              <a:gd name="adj" fmla="val 50000"/>
            </a:avLst>
          </a:prstGeom>
          <a:solidFill>
            <a:srgbClr val="C9785A"/>
          </a:solidFill>
          <a:ln>
            <a:noFill/>
          </a:ln>
        </p:spPr>
        <p:txBody>
          <a:bodyPr rtlCol="0" anchor="ctr"/>
          <a:lstStyle/>
          <a:p>
            <a:pPr algn="ctr"/>
          </a:p>
        </p:txBody>
      </p:sp>
      <p:sp>
        <p:nvSpPr>
          <p:cNvPr id="35" name="TextBox 34"/>
          <p:cNvSpPr txBox="1"/>
          <p:nvPr/>
        </p:nvSpPr>
        <p:spPr>
          <a:xfrm>
            <a:off x="1040130" y="5148072"/>
            <a:ext cx="1143000" cy="420624"/>
          </a:xfrm>
          <a:prstGeom prst="rect">
            <a:avLst/>
          </a:prstGeom>
          <a:noFill/>
        </p:spPr>
        <p:txBody>
          <a:bodyPr wrap="square" lIns="0" rIns="0" tIns="0" bIns="0" anchor="ctr">
            <a:noAutofit/>
          </a:bodyPr>
          <a:lstStyle/>
          <a:p>
            <a:pPr algn="ctr">
              <a:lnSpc>
                <a:spcPts val="1760"/>
              </a:lnSpc>
            </a:pPr>
            <a:r>
              <a:rPr sz="1600" b="1">
                <a:solidFill>
                  <a:srgbClr val="FFFFFF"/>
                </a:solidFill>
                <a:latin typeface="Open Sauce Bold"/>
              </a:rPr>
              <a:t>FAIL</a:t>
            </a:r>
          </a:p>
        </p:txBody>
      </p:sp>
      <p:sp>
        <p:nvSpPr>
          <p:cNvPr id="36" name="TextBox 35"/>
          <p:cNvSpPr txBox="1"/>
          <p:nvPr/>
        </p:nvSpPr>
        <p:spPr>
          <a:xfrm>
            <a:off x="2457450" y="5047488"/>
            <a:ext cx="5029200" cy="621792"/>
          </a:xfrm>
          <a:prstGeom prst="rect">
            <a:avLst/>
          </a:prstGeom>
          <a:noFill/>
        </p:spPr>
        <p:txBody>
          <a:bodyPr wrap="square" lIns="0" rIns="0" tIns="0" bIns="0" anchor="ctr">
            <a:noAutofit/>
          </a:bodyPr>
          <a:lstStyle/>
          <a:p>
            <a:pPr algn="l">
              <a:lnSpc>
                <a:spcPts val="2280"/>
              </a:lnSpc>
            </a:pPr>
            <a:r>
              <a:rPr sz="1900" b="0">
                <a:solidFill>
                  <a:srgbClr val="24252F"/>
                </a:solidFill>
                <a:latin typeface="Open Sauce Semi-Bold"/>
              </a:rPr>
              <a:t>missing_count(product) = 0</a:t>
            </a:r>
          </a:p>
        </p:txBody>
      </p:sp>
      <p:sp>
        <p:nvSpPr>
          <p:cNvPr id="37" name="TextBox 36"/>
          <p:cNvSpPr txBox="1"/>
          <p:nvPr/>
        </p:nvSpPr>
        <p:spPr>
          <a:xfrm>
            <a:off x="7578090" y="5047488"/>
            <a:ext cx="2194560" cy="621792"/>
          </a:xfrm>
          <a:prstGeom prst="rect">
            <a:avLst/>
          </a:prstGeom>
          <a:noFill/>
        </p:spPr>
        <p:txBody>
          <a:bodyPr wrap="square" lIns="0" rIns="0" tIns="0" bIns="0" anchor="ctr">
            <a:noAutofit/>
          </a:bodyPr>
          <a:lstStyle/>
          <a:p>
            <a:pPr algn="l">
              <a:lnSpc>
                <a:spcPts val="2039"/>
              </a:lnSpc>
            </a:pPr>
            <a:r>
              <a:rPr sz="1700" b="0">
                <a:solidFill>
                  <a:srgbClr val="6E6863"/>
                </a:solidFill>
                <a:latin typeface="Open Sauce Semi-Bold"/>
              </a:rPr>
              <a:t>Completeness</a:t>
            </a:r>
          </a:p>
        </p:txBody>
      </p:sp>
      <p:sp>
        <p:nvSpPr>
          <p:cNvPr id="38" name="TextBox 37"/>
          <p:cNvSpPr txBox="1"/>
          <p:nvPr/>
        </p:nvSpPr>
        <p:spPr>
          <a:xfrm>
            <a:off x="9818370" y="5047488"/>
            <a:ext cx="1554480" cy="621792"/>
          </a:xfrm>
          <a:prstGeom prst="rect">
            <a:avLst/>
          </a:prstGeom>
          <a:noFill/>
        </p:spPr>
        <p:txBody>
          <a:bodyPr wrap="square" lIns="0" rIns="0" tIns="0" bIns="0" anchor="ctr">
            <a:noAutofit/>
          </a:bodyPr>
          <a:lstStyle/>
          <a:p>
            <a:pPr algn="r">
              <a:lnSpc>
                <a:spcPts val="2280"/>
              </a:lnSpc>
            </a:pPr>
            <a:r>
              <a:rPr sz="1900" b="1">
                <a:solidFill>
                  <a:srgbClr val="C9785A"/>
                </a:solidFill>
                <a:latin typeface="Open Sauce Bold"/>
              </a:rPr>
              <a:t>1 row</a:t>
            </a:r>
          </a:p>
        </p:txBody>
      </p:sp>
      <p:sp>
        <p:nvSpPr>
          <p:cNvPr id="39" name="Rounded Rectangle 38"/>
          <p:cNvSpPr/>
          <p:nvPr/>
        </p:nvSpPr>
        <p:spPr>
          <a:xfrm>
            <a:off x="857250" y="5760720"/>
            <a:ext cx="10698480" cy="621792"/>
          </a:xfrm>
          <a:prstGeom prst="roundRect">
            <a:avLst>
              <a:gd name="adj" fmla="val 14705"/>
            </a:avLst>
          </a:prstGeom>
          <a:solidFill>
            <a:srgbClr val="E8E2DC"/>
          </a:solidFill>
          <a:ln w="15875">
            <a:solidFill>
              <a:srgbClr val="D8B58F"/>
            </a:solidFill>
          </a:ln>
        </p:spPr>
        <p:txBody>
          <a:bodyPr rtlCol="0" anchor="ctr"/>
          <a:lstStyle/>
          <a:p>
            <a:pPr algn="ctr"/>
          </a:p>
        </p:txBody>
      </p:sp>
      <p:sp>
        <p:nvSpPr>
          <p:cNvPr id="40" name="Rounded Rectangle 39"/>
          <p:cNvSpPr/>
          <p:nvPr/>
        </p:nvSpPr>
        <p:spPr>
          <a:xfrm>
            <a:off x="1040130" y="5861304"/>
            <a:ext cx="1143000" cy="420624"/>
          </a:xfrm>
          <a:prstGeom prst="roundRect">
            <a:avLst>
              <a:gd name="adj" fmla="val 50000"/>
            </a:avLst>
          </a:prstGeom>
          <a:solidFill>
            <a:srgbClr val="24252F"/>
          </a:solidFill>
          <a:ln>
            <a:noFill/>
          </a:ln>
        </p:spPr>
        <p:txBody>
          <a:bodyPr rtlCol="0" anchor="ctr"/>
          <a:lstStyle/>
          <a:p>
            <a:pPr algn="ctr"/>
          </a:p>
        </p:txBody>
      </p:sp>
      <p:sp>
        <p:nvSpPr>
          <p:cNvPr id="41" name="TextBox 40"/>
          <p:cNvSpPr txBox="1"/>
          <p:nvPr/>
        </p:nvSpPr>
        <p:spPr>
          <a:xfrm>
            <a:off x="1040130" y="5861304"/>
            <a:ext cx="1143000" cy="420624"/>
          </a:xfrm>
          <a:prstGeom prst="rect">
            <a:avLst/>
          </a:prstGeom>
          <a:noFill/>
        </p:spPr>
        <p:txBody>
          <a:bodyPr wrap="square" lIns="0" rIns="0" tIns="0" bIns="0" anchor="ctr">
            <a:noAutofit/>
          </a:bodyPr>
          <a:lstStyle/>
          <a:p>
            <a:pPr algn="ctr">
              <a:lnSpc>
                <a:spcPts val="1760"/>
              </a:lnSpc>
            </a:pPr>
            <a:r>
              <a:rPr sz="1600" b="1">
                <a:solidFill>
                  <a:srgbClr val="FFFFFF"/>
                </a:solidFill>
                <a:latin typeface="Open Sauce Bold"/>
              </a:rPr>
              <a:t>PASS</a:t>
            </a:r>
          </a:p>
        </p:txBody>
      </p:sp>
      <p:sp>
        <p:nvSpPr>
          <p:cNvPr id="42" name="TextBox 41"/>
          <p:cNvSpPr txBox="1"/>
          <p:nvPr/>
        </p:nvSpPr>
        <p:spPr>
          <a:xfrm>
            <a:off x="2457450" y="5760720"/>
            <a:ext cx="5029200" cy="621792"/>
          </a:xfrm>
          <a:prstGeom prst="rect">
            <a:avLst/>
          </a:prstGeom>
          <a:noFill/>
        </p:spPr>
        <p:txBody>
          <a:bodyPr wrap="square" lIns="0" rIns="0" tIns="0" bIns="0" anchor="ctr">
            <a:noAutofit/>
          </a:bodyPr>
          <a:lstStyle/>
          <a:p>
            <a:pPr algn="l">
              <a:lnSpc>
                <a:spcPts val="2280"/>
              </a:lnSpc>
            </a:pPr>
            <a:r>
              <a:rPr sz="1900" b="0">
                <a:solidFill>
                  <a:srgbClr val="24252F"/>
                </a:solidFill>
                <a:latin typeface="Open Sauce Semi-Bold"/>
              </a:rPr>
              <a:t>missing_count(order_date) = 0</a:t>
            </a:r>
          </a:p>
        </p:txBody>
      </p:sp>
      <p:sp>
        <p:nvSpPr>
          <p:cNvPr id="43" name="TextBox 42"/>
          <p:cNvSpPr txBox="1"/>
          <p:nvPr/>
        </p:nvSpPr>
        <p:spPr>
          <a:xfrm>
            <a:off x="7578090" y="5760720"/>
            <a:ext cx="2194560" cy="621792"/>
          </a:xfrm>
          <a:prstGeom prst="rect">
            <a:avLst/>
          </a:prstGeom>
          <a:noFill/>
        </p:spPr>
        <p:txBody>
          <a:bodyPr wrap="square" lIns="0" rIns="0" tIns="0" bIns="0" anchor="ctr">
            <a:noAutofit/>
          </a:bodyPr>
          <a:lstStyle/>
          <a:p>
            <a:pPr algn="l">
              <a:lnSpc>
                <a:spcPts val="2039"/>
              </a:lnSpc>
            </a:pPr>
            <a:r>
              <a:rPr sz="1700" b="0">
                <a:solidFill>
                  <a:srgbClr val="6E6863"/>
                </a:solidFill>
                <a:latin typeface="Open Sauce Semi-Bold"/>
              </a:rPr>
              <a:t>Completeness</a:t>
            </a:r>
          </a:p>
        </p:txBody>
      </p:sp>
      <p:sp>
        <p:nvSpPr>
          <p:cNvPr id="44" name="TextBox 43"/>
          <p:cNvSpPr txBox="1"/>
          <p:nvPr/>
        </p:nvSpPr>
        <p:spPr>
          <a:xfrm>
            <a:off x="9818370" y="5760720"/>
            <a:ext cx="1554480" cy="621792"/>
          </a:xfrm>
          <a:prstGeom prst="rect">
            <a:avLst/>
          </a:prstGeom>
          <a:noFill/>
        </p:spPr>
        <p:txBody>
          <a:bodyPr wrap="square" lIns="0" rIns="0" tIns="0" bIns="0" anchor="ctr">
            <a:noAutofit/>
          </a:bodyPr>
          <a:lstStyle/>
          <a:p>
            <a:pPr algn="r">
              <a:lnSpc>
                <a:spcPts val="2280"/>
              </a:lnSpc>
            </a:pPr>
            <a:r>
              <a:rPr sz="1900" b="1">
                <a:solidFill>
                  <a:srgbClr val="C9785A"/>
                </a:solidFill>
                <a:latin typeface="Open Sauce Bold"/>
              </a:rPr>
              <a:t/>
            </a:r>
          </a:p>
        </p:txBody>
      </p:sp>
      <p:sp>
        <p:nvSpPr>
          <p:cNvPr id="45" name="Rounded Rectangle 44"/>
          <p:cNvSpPr/>
          <p:nvPr/>
        </p:nvSpPr>
        <p:spPr>
          <a:xfrm>
            <a:off x="857250" y="6473952"/>
            <a:ext cx="10698480" cy="621792"/>
          </a:xfrm>
          <a:prstGeom prst="roundRect">
            <a:avLst>
              <a:gd name="adj" fmla="val 14705"/>
            </a:avLst>
          </a:prstGeom>
          <a:solidFill>
            <a:srgbClr val="F1D8CC"/>
          </a:solidFill>
          <a:ln w="15875">
            <a:solidFill>
              <a:srgbClr val="C9785A"/>
            </a:solidFill>
          </a:ln>
        </p:spPr>
        <p:txBody>
          <a:bodyPr rtlCol="0" anchor="ctr"/>
          <a:lstStyle/>
          <a:p>
            <a:pPr algn="ctr"/>
          </a:p>
        </p:txBody>
      </p:sp>
      <p:sp>
        <p:nvSpPr>
          <p:cNvPr id="46" name="Rounded Rectangle 45"/>
          <p:cNvSpPr/>
          <p:nvPr/>
        </p:nvSpPr>
        <p:spPr>
          <a:xfrm>
            <a:off x="1040130" y="6574536"/>
            <a:ext cx="1143000" cy="420624"/>
          </a:xfrm>
          <a:prstGeom prst="roundRect">
            <a:avLst>
              <a:gd name="adj" fmla="val 50000"/>
            </a:avLst>
          </a:prstGeom>
          <a:solidFill>
            <a:srgbClr val="C9785A"/>
          </a:solidFill>
          <a:ln>
            <a:noFill/>
          </a:ln>
        </p:spPr>
        <p:txBody>
          <a:bodyPr rtlCol="0" anchor="ctr"/>
          <a:lstStyle/>
          <a:p>
            <a:pPr algn="ctr"/>
          </a:p>
        </p:txBody>
      </p:sp>
      <p:sp>
        <p:nvSpPr>
          <p:cNvPr id="47" name="TextBox 46"/>
          <p:cNvSpPr txBox="1"/>
          <p:nvPr/>
        </p:nvSpPr>
        <p:spPr>
          <a:xfrm>
            <a:off x="1040130" y="6574536"/>
            <a:ext cx="1143000" cy="420624"/>
          </a:xfrm>
          <a:prstGeom prst="rect">
            <a:avLst/>
          </a:prstGeom>
          <a:noFill/>
        </p:spPr>
        <p:txBody>
          <a:bodyPr wrap="square" lIns="0" rIns="0" tIns="0" bIns="0" anchor="ctr">
            <a:noAutofit/>
          </a:bodyPr>
          <a:lstStyle/>
          <a:p>
            <a:pPr algn="ctr">
              <a:lnSpc>
                <a:spcPts val="1760"/>
              </a:lnSpc>
            </a:pPr>
            <a:r>
              <a:rPr sz="1600" b="1">
                <a:solidFill>
                  <a:srgbClr val="FFFFFF"/>
                </a:solidFill>
                <a:latin typeface="Open Sauce Bold"/>
              </a:rPr>
              <a:t>FAIL</a:t>
            </a:r>
          </a:p>
        </p:txBody>
      </p:sp>
      <p:sp>
        <p:nvSpPr>
          <p:cNvPr id="48" name="TextBox 47"/>
          <p:cNvSpPr txBox="1"/>
          <p:nvPr/>
        </p:nvSpPr>
        <p:spPr>
          <a:xfrm>
            <a:off x="2457450" y="6473952"/>
            <a:ext cx="5029200" cy="621792"/>
          </a:xfrm>
          <a:prstGeom prst="rect">
            <a:avLst/>
          </a:prstGeom>
          <a:noFill/>
        </p:spPr>
        <p:txBody>
          <a:bodyPr wrap="square" lIns="0" rIns="0" tIns="0" bIns="0" anchor="ctr">
            <a:noAutofit/>
          </a:bodyPr>
          <a:lstStyle/>
          <a:p>
            <a:pPr algn="l">
              <a:lnSpc>
                <a:spcPts val="2280"/>
              </a:lnSpc>
            </a:pPr>
            <a:r>
              <a:rPr sz="1900" b="0">
                <a:solidFill>
                  <a:srgbClr val="24252F"/>
                </a:solidFill>
                <a:latin typeface="Open Sauce Semi-Bold"/>
              </a:rPr>
              <a:t>invalid_count(status) = 0</a:t>
            </a:r>
          </a:p>
        </p:txBody>
      </p:sp>
      <p:sp>
        <p:nvSpPr>
          <p:cNvPr id="49" name="TextBox 48"/>
          <p:cNvSpPr txBox="1"/>
          <p:nvPr/>
        </p:nvSpPr>
        <p:spPr>
          <a:xfrm>
            <a:off x="7578090" y="6473952"/>
            <a:ext cx="2194560" cy="621792"/>
          </a:xfrm>
          <a:prstGeom prst="rect">
            <a:avLst/>
          </a:prstGeom>
          <a:noFill/>
        </p:spPr>
        <p:txBody>
          <a:bodyPr wrap="square" lIns="0" rIns="0" tIns="0" bIns="0" anchor="ctr">
            <a:noAutofit/>
          </a:bodyPr>
          <a:lstStyle/>
          <a:p>
            <a:pPr algn="l">
              <a:lnSpc>
                <a:spcPts val="2039"/>
              </a:lnSpc>
            </a:pPr>
            <a:r>
              <a:rPr sz="1700" b="0">
                <a:solidFill>
                  <a:srgbClr val="6E6863"/>
                </a:solidFill>
                <a:latin typeface="Open Sauce Semi-Bold"/>
              </a:rPr>
              <a:t>Validity</a:t>
            </a:r>
          </a:p>
        </p:txBody>
      </p:sp>
      <p:sp>
        <p:nvSpPr>
          <p:cNvPr id="50" name="TextBox 49"/>
          <p:cNvSpPr txBox="1"/>
          <p:nvPr/>
        </p:nvSpPr>
        <p:spPr>
          <a:xfrm>
            <a:off x="9818370" y="6473952"/>
            <a:ext cx="1554480" cy="621792"/>
          </a:xfrm>
          <a:prstGeom prst="rect">
            <a:avLst/>
          </a:prstGeom>
          <a:noFill/>
        </p:spPr>
        <p:txBody>
          <a:bodyPr wrap="square" lIns="0" rIns="0" tIns="0" bIns="0" anchor="ctr">
            <a:noAutofit/>
          </a:bodyPr>
          <a:lstStyle/>
          <a:p>
            <a:pPr algn="r">
              <a:lnSpc>
                <a:spcPts val="2280"/>
              </a:lnSpc>
            </a:pPr>
            <a:r>
              <a:rPr sz="1900" b="1">
                <a:solidFill>
                  <a:srgbClr val="C9785A"/>
                </a:solidFill>
                <a:latin typeface="Open Sauce Bold"/>
              </a:rPr>
              <a:t>1 row</a:t>
            </a:r>
          </a:p>
        </p:txBody>
      </p:sp>
      <p:sp>
        <p:nvSpPr>
          <p:cNvPr id="51" name="Rounded Rectangle 50"/>
          <p:cNvSpPr/>
          <p:nvPr/>
        </p:nvSpPr>
        <p:spPr>
          <a:xfrm>
            <a:off x="857250" y="7187184"/>
            <a:ext cx="10698480" cy="621792"/>
          </a:xfrm>
          <a:prstGeom prst="roundRect">
            <a:avLst>
              <a:gd name="adj" fmla="val 14705"/>
            </a:avLst>
          </a:prstGeom>
          <a:solidFill>
            <a:srgbClr val="F1D8CC"/>
          </a:solidFill>
          <a:ln w="15875">
            <a:solidFill>
              <a:srgbClr val="C9785A"/>
            </a:solidFill>
          </a:ln>
        </p:spPr>
        <p:txBody>
          <a:bodyPr rtlCol="0" anchor="ctr"/>
          <a:lstStyle/>
          <a:p>
            <a:pPr algn="ctr"/>
          </a:p>
        </p:txBody>
      </p:sp>
      <p:sp>
        <p:nvSpPr>
          <p:cNvPr id="52" name="Rounded Rectangle 51"/>
          <p:cNvSpPr/>
          <p:nvPr/>
        </p:nvSpPr>
        <p:spPr>
          <a:xfrm>
            <a:off x="1040130" y="7287768"/>
            <a:ext cx="1143000" cy="420624"/>
          </a:xfrm>
          <a:prstGeom prst="roundRect">
            <a:avLst>
              <a:gd name="adj" fmla="val 50000"/>
            </a:avLst>
          </a:prstGeom>
          <a:solidFill>
            <a:srgbClr val="C9785A"/>
          </a:solidFill>
          <a:ln>
            <a:noFill/>
          </a:ln>
        </p:spPr>
        <p:txBody>
          <a:bodyPr rtlCol="0" anchor="ctr"/>
          <a:lstStyle/>
          <a:p>
            <a:pPr algn="ctr"/>
          </a:p>
        </p:txBody>
      </p:sp>
      <p:sp>
        <p:nvSpPr>
          <p:cNvPr id="53" name="TextBox 52"/>
          <p:cNvSpPr txBox="1"/>
          <p:nvPr/>
        </p:nvSpPr>
        <p:spPr>
          <a:xfrm>
            <a:off x="1040130" y="7287768"/>
            <a:ext cx="1143000" cy="420624"/>
          </a:xfrm>
          <a:prstGeom prst="rect">
            <a:avLst/>
          </a:prstGeom>
          <a:noFill/>
        </p:spPr>
        <p:txBody>
          <a:bodyPr wrap="square" lIns="0" rIns="0" tIns="0" bIns="0" anchor="ctr">
            <a:noAutofit/>
          </a:bodyPr>
          <a:lstStyle/>
          <a:p>
            <a:pPr algn="ctr">
              <a:lnSpc>
                <a:spcPts val="1760"/>
              </a:lnSpc>
            </a:pPr>
            <a:r>
              <a:rPr sz="1600" b="1">
                <a:solidFill>
                  <a:srgbClr val="FFFFFF"/>
                </a:solidFill>
                <a:latin typeface="Open Sauce Bold"/>
              </a:rPr>
              <a:t>FAIL</a:t>
            </a:r>
          </a:p>
        </p:txBody>
      </p:sp>
      <p:sp>
        <p:nvSpPr>
          <p:cNvPr id="54" name="TextBox 53"/>
          <p:cNvSpPr txBox="1"/>
          <p:nvPr/>
        </p:nvSpPr>
        <p:spPr>
          <a:xfrm>
            <a:off x="2457450" y="7187184"/>
            <a:ext cx="5029200" cy="621792"/>
          </a:xfrm>
          <a:prstGeom prst="rect">
            <a:avLst/>
          </a:prstGeom>
          <a:noFill/>
        </p:spPr>
        <p:txBody>
          <a:bodyPr wrap="square" lIns="0" rIns="0" tIns="0" bIns="0" anchor="ctr">
            <a:noAutofit/>
          </a:bodyPr>
          <a:lstStyle/>
          <a:p>
            <a:pPr algn="l">
              <a:lnSpc>
                <a:spcPts val="2280"/>
              </a:lnSpc>
            </a:pPr>
            <a:r>
              <a:rPr sz="1900" b="0">
                <a:solidFill>
                  <a:srgbClr val="24252F"/>
                </a:solidFill>
                <a:latin typeface="Open Sauce Semi-Bold"/>
              </a:rPr>
              <a:t>invalid_count(unit_price) = 0</a:t>
            </a:r>
          </a:p>
        </p:txBody>
      </p:sp>
      <p:sp>
        <p:nvSpPr>
          <p:cNvPr id="55" name="TextBox 54"/>
          <p:cNvSpPr txBox="1"/>
          <p:nvPr/>
        </p:nvSpPr>
        <p:spPr>
          <a:xfrm>
            <a:off x="7578090" y="7187184"/>
            <a:ext cx="2194560" cy="621792"/>
          </a:xfrm>
          <a:prstGeom prst="rect">
            <a:avLst/>
          </a:prstGeom>
          <a:noFill/>
        </p:spPr>
        <p:txBody>
          <a:bodyPr wrap="square" lIns="0" rIns="0" tIns="0" bIns="0" anchor="ctr">
            <a:noAutofit/>
          </a:bodyPr>
          <a:lstStyle/>
          <a:p>
            <a:pPr algn="l">
              <a:lnSpc>
                <a:spcPts val="2039"/>
              </a:lnSpc>
            </a:pPr>
            <a:r>
              <a:rPr sz="1700" b="0">
                <a:solidFill>
                  <a:srgbClr val="6E6863"/>
                </a:solidFill>
                <a:latin typeface="Open Sauce Semi-Bold"/>
              </a:rPr>
              <a:t>Range</a:t>
            </a:r>
          </a:p>
        </p:txBody>
      </p:sp>
      <p:sp>
        <p:nvSpPr>
          <p:cNvPr id="56" name="TextBox 55"/>
          <p:cNvSpPr txBox="1"/>
          <p:nvPr/>
        </p:nvSpPr>
        <p:spPr>
          <a:xfrm>
            <a:off x="9818370" y="7187184"/>
            <a:ext cx="1554480" cy="621792"/>
          </a:xfrm>
          <a:prstGeom prst="rect">
            <a:avLst/>
          </a:prstGeom>
          <a:noFill/>
        </p:spPr>
        <p:txBody>
          <a:bodyPr wrap="square" lIns="0" rIns="0" tIns="0" bIns="0" anchor="ctr">
            <a:noAutofit/>
          </a:bodyPr>
          <a:lstStyle/>
          <a:p>
            <a:pPr algn="r">
              <a:lnSpc>
                <a:spcPts val="2280"/>
              </a:lnSpc>
            </a:pPr>
            <a:r>
              <a:rPr sz="1900" b="1">
                <a:solidFill>
                  <a:srgbClr val="C9785A"/>
                </a:solidFill>
                <a:latin typeface="Open Sauce Bold"/>
              </a:rPr>
              <a:t>1 row</a:t>
            </a:r>
          </a:p>
        </p:txBody>
      </p:sp>
      <p:sp>
        <p:nvSpPr>
          <p:cNvPr id="57" name="Rounded Rectangle 56"/>
          <p:cNvSpPr/>
          <p:nvPr/>
        </p:nvSpPr>
        <p:spPr>
          <a:xfrm>
            <a:off x="857250" y="7900416"/>
            <a:ext cx="10698480" cy="621792"/>
          </a:xfrm>
          <a:prstGeom prst="roundRect">
            <a:avLst>
              <a:gd name="adj" fmla="val 14705"/>
            </a:avLst>
          </a:prstGeom>
          <a:solidFill>
            <a:srgbClr val="F1D8CC"/>
          </a:solidFill>
          <a:ln w="15875">
            <a:solidFill>
              <a:srgbClr val="C9785A"/>
            </a:solidFill>
          </a:ln>
        </p:spPr>
        <p:txBody>
          <a:bodyPr rtlCol="0" anchor="ctr"/>
          <a:lstStyle/>
          <a:p>
            <a:pPr algn="ctr"/>
          </a:p>
        </p:txBody>
      </p:sp>
      <p:sp>
        <p:nvSpPr>
          <p:cNvPr id="58" name="Rounded Rectangle 57"/>
          <p:cNvSpPr/>
          <p:nvPr/>
        </p:nvSpPr>
        <p:spPr>
          <a:xfrm>
            <a:off x="1040130" y="8001000"/>
            <a:ext cx="1143000" cy="420624"/>
          </a:xfrm>
          <a:prstGeom prst="roundRect">
            <a:avLst>
              <a:gd name="adj" fmla="val 50000"/>
            </a:avLst>
          </a:prstGeom>
          <a:solidFill>
            <a:srgbClr val="C9785A"/>
          </a:solidFill>
          <a:ln>
            <a:noFill/>
          </a:ln>
        </p:spPr>
        <p:txBody>
          <a:bodyPr rtlCol="0" anchor="ctr"/>
          <a:lstStyle/>
          <a:p>
            <a:pPr algn="ctr"/>
          </a:p>
        </p:txBody>
      </p:sp>
      <p:sp>
        <p:nvSpPr>
          <p:cNvPr id="59" name="TextBox 58"/>
          <p:cNvSpPr txBox="1"/>
          <p:nvPr/>
        </p:nvSpPr>
        <p:spPr>
          <a:xfrm>
            <a:off x="1040130" y="8001000"/>
            <a:ext cx="1143000" cy="420624"/>
          </a:xfrm>
          <a:prstGeom prst="rect">
            <a:avLst/>
          </a:prstGeom>
          <a:noFill/>
        </p:spPr>
        <p:txBody>
          <a:bodyPr wrap="square" lIns="0" rIns="0" tIns="0" bIns="0" anchor="ctr">
            <a:noAutofit/>
          </a:bodyPr>
          <a:lstStyle/>
          <a:p>
            <a:pPr algn="ctr">
              <a:lnSpc>
                <a:spcPts val="1760"/>
              </a:lnSpc>
            </a:pPr>
            <a:r>
              <a:rPr sz="1600" b="1">
                <a:solidFill>
                  <a:srgbClr val="FFFFFF"/>
                </a:solidFill>
                <a:latin typeface="Open Sauce Bold"/>
              </a:rPr>
              <a:t>FAIL</a:t>
            </a:r>
          </a:p>
        </p:txBody>
      </p:sp>
      <p:sp>
        <p:nvSpPr>
          <p:cNvPr id="60" name="TextBox 59"/>
          <p:cNvSpPr txBox="1"/>
          <p:nvPr/>
        </p:nvSpPr>
        <p:spPr>
          <a:xfrm>
            <a:off x="2457450" y="7900416"/>
            <a:ext cx="5029200" cy="621792"/>
          </a:xfrm>
          <a:prstGeom prst="rect">
            <a:avLst/>
          </a:prstGeom>
          <a:noFill/>
        </p:spPr>
        <p:txBody>
          <a:bodyPr wrap="square" lIns="0" rIns="0" tIns="0" bIns="0" anchor="ctr">
            <a:noAutofit/>
          </a:bodyPr>
          <a:lstStyle/>
          <a:p>
            <a:pPr algn="l">
              <a:lnSpc>
                <a:spcPts val="2280"/>
              </a:lnSpc>
            </a:pPr>
            <a:r>
              <a:rPr sz="1900" b="0">
                <a:solidFill>
                  <a:srgbClr val="24252F"/>
                </a:solidFill>
                <a:latin typeface="Open Sauce Semi-Bold"/>
              </a:rPr>
              <a:t>invalid_count(quantity) = 0</a:t>
            </a:r>
          </a:p>
        </p:txBody>
      </p:sp>
      <p:sp>
        <p:nvSpPr>
          <p:cNvPr id="61" name="TextBox 60"/>
          <p:cNvSpPr txBox="1"/>
          <p:nvPr/>
        </p:nvSpPr>
        <p:spPr>
          <a:xfrm>
            <a:off x="7578090" y="7900416"/>
            <a:ext cx="2194560" cy="621792"/>
          </a:xfrm>
          <a:prstGeom prst="rect">
            <a:avLst/>
          </a:prstGeom>
          <a:noFill/>
        </p:spPr>
        <p:txBody>
          <a:bodyPr wrap="square" lIns="0" rIns="0" tIns="0" bIns="0" anchor="ctr">
            <a:noAutofit/>
          </a:bodyPr>
          <a:lstStyle/>
          <a:p>
            <a:pPr algn="l">
              <a:lnSpc>
                <a:spcPts val="2039"/>
              </a:lnSpc>
            </a:pPr>
            <a:r>
              <a:rPr sz="1700" b="0">
                <a:solidFill>
                  <a:srgbClr val="6E6863"/>
                </a:solidFill>
                <a:latin typeface="Open Sauce Semi-Bold"/>
              </a:rPr>
              <a:t>Range</a:t>
            </a:r>
          </a:p>
        </p:txBody>
      </p:sp>
      <p:sp>
        <p:nvSpPr>
          <p:cNvPr id="62" name="TextBox 61"/>
          <p:cNvSpPr txBox="1"/>
          <p:nvPr/>
        </p:nvSpPr>
        <p:spPr>
          <a:xfrm>
            <a:off x="9818370" y="7900416"/>
            <a:ext cx="1554480" cy="621792"/>
          </a:xfrm>
          <a:prstGeom prst="rect">
            <a:avLst/>
          </a:prstGeom>
          <a:noFill/>
        </p:spPr>
        <p:txBody>
          <a:bodyPr wrap="square" lIns="0" rIns="0" tIns="0" bIns="0" anchor="ctr">
            <a:noAutofit/>
          </a:bodyPr>
          <a:lstStyle/>
          <a:p>
            <a:pPr algn="r">
              <a:lnSpc>
                <a:spcPts val="2280"/>
              </a:lnSpc>
            </a:pPr>
            <a:r>
              <a:rPr sz="1900" b="1">
                <a:solidFill>
                  <a:srgbClr val="C9785A"/>
                </a:solidFill>
                <a:latin typeface="Open Sauce Bold"/>
              </a:rPr>
              <a:t>1 row</a:t>
            </a:r>
          </a:p>
        </p:txBody>
      </p:sp>
      <p:sp>
        <p:nvSpPr>
          <p:cNvPr id="63" name="TextBox 62"/>
          <p:cNvSpPr txBox="1"/>
          <p:nvPr/>
        </p:nvSpPr>
        <p:spPr>
          <a:xfrm>
            <a:off x="12070080" y="1783080"/>
            <a:ext cx="536067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SCAN SUMMARY</a:t>
            </a:r>
          </a:p>
        </p:txBody>
      </p:sp>
      <p:sp>
        <p:nvSpPr>
          <p:cNvPr id="64" name="Rounded Rectangle 63"/>
          <p:cNvSpPr/>
          <p:nvPr/>
        </p:nvSpPr>
        <p:spPr>
          <a:xfrm>
            <a:off x="12070080" y="2194560"/>
            <a:ext cx="5360670" cy="1417320"/>
          </a:xfrm>
          <a:prstGeom prst="roundRect">
            <a:avLst>
              <a:gd name="adj" fmla="val 9032"/>
            </a:avLst>
          </a:prstGeom>
          <a:solidFill>
            <a:srgbClr val="24252F"/>
          </a:solidFill>
          <a:ln>
            <a:noFill/>
          </a:ln>
        </p:spPr>
        <p:txBody>
          <a:bodyPr rtlCol="0" anchor="ctr"/>
          <a:lstStyle/>
          <a:p>
            <a:pPr algn="ctr"/>
          </a:p>
        </p:txBody>
      </p:sp>
      <p:sp>
        <p:nvSpPr>
          <p:cNvPr id="65" name="TextBox 64"/>
          <p:cNvSpPr txBox="1"/>
          <p:nvPr/>
        </p:nvSpPr>
        <p:spPr>
          <a:xfrm>
            <a:off x="12390120" y="2194560"/>
            <a:ext cx="1828800" cy="1417320"/>
          </a:xfrm>
          <a:prstGeom prst="rect">
            <a:avLst/>
          </a:prstGeom>
          <a:noFill/>
        </p:spPr>
        <p:txBody>
          <a:bodyPr wrap="square" lIns="0" rIns="0" tIns="0" bIns="0" anchor="ctr">
            <a:noAutofit/>
          </a:bodyPr>
          <a:lstStyle/>
          <a:p>
            <a:pPr algn="l">
              <a:lnSpc>
                <a:spcPts val="5720"/>
              </a:lnSpc>
            </a:pPr>
            <a:r>
              <a:rPr sz="5200" b="1">
                <a:solidFill>
                  <a:srgbClr val="FFFFFF"/>
                </a:solidFill>
                <a:latin typeface="Open Sauce Bold"/>
              </a:rPr>
              <a:t>107</a:t>
            </a:r>
          </a:p>
        </p:txBody>
      </p:sp>
      <p:sp>
        <p:nvSpPr>
          <p:cNvPr id="66" name="TextBox 65"/>
          <p:cNvSpPr txBox="1"/>
          <p:nvPr/>
        </p:nvSpPr>
        <p:spPr>
          <a:xfrm>
            <a:off x="14218920" y="2194560"/>
            <a:ext cx="3028950" cy="1417320"/>
          </a:xfrm>
          <a:prstGeom prst="rect">
            <a:avLst/>
          </a:prstGeom>
          <a:noFill/>
        </p:spPr>
        <p:txBody>
          <a:bodyPr wrap="square" lIns="0" rIns="0" tIns="0" bIns="0" anchor="ctr">
            <a:noAutofit/>
          </a:bodyPr>
          <a:lstStyle/>
          <a:p>
            <a:pPr algn="l">
              <a:lnSpc>
                <a:spcPts val="2730"/>
              </a:lnSpc>
            </a:pPr>
            <a:r>
              <a:rPr sz="2100" b="0">
                <a:solidFill>
                  <a:srgbClr val="F3C8B5"/>
                </a:solidFill>
                <a:latin typeface="Open Sauce Semi-Bold"/>
              </a:rPr>
              <a:t>rows scanned</a:t>
            </a:r>
          </a:p>
        </p:txBody>
      </p:sp>
      <p:sp>
        <p:nvSpPr>
          <p:cNvPr id="67" name="Rounded Rectangle 66"/>
          <p:cNvSpPr/>
          <p:nvPr/>
        </p:nvSpPr>
        <p:spPr>
          <a:xfrm>
            <a:off x="12070080" y="3794760"/>
            <a:ext cx="5360670" cy="1417320"/>
          </a:xfrm>
          <a:prstGeom prst="roundRect">
            <a:avLst>
              <a:gd name="adj" fmla="val 9032"/>
            </a:avLst>
          </a:prstGeom>
          <a:solidFill>
            <a:srgbClr val="E8E2DC"/>
          </a:solidFill>
          <a:ln w="19050">
            <a:solidFill>
              <a:srgbClr val="D8B58F"/>
            </a:solidFill>
          </a:ln>
        </p:spPr>
        <p:txBody>
          <a:bodyPr rtlCol="0" anchor="ctr"/>
          <a:lstStyle/>
          <a:p>
            <a:pPr algn="ctr"/>
          </a:p>
        </p:txBody>
      </p:sp>
      <p:sp>
        <p:nvSpPr>
          <p:cNvPr id="68" name="TextBox 67"/>
          <p:cNvSpPr txBox="1"/>
          <p:nvPr/>
        </p:nvSpPr>
        <p:spPr>
          <a:xfrm>
            <a:off x="12390120" y="3794760"/>
            <a:ext cx="1828800" cy="1417320"/>
          </a:xfrm>
          <a:prstGeom prst="rect">
            <a:avLst/>
          </a:prstGeom>
          <a:noFill/>
        </p:spPr>
        <p:txBody>
          <a:bodyPr wrap="square" lIns="0" rIns="0" tIns="0" bIns="0" anchor="ctr">
            <a:noAutofit/>
          </a:bodyPr>
          <a:lstStyle/>
          <a:p>
            <a:pPr algn="l">
              <a:lnSpc>
                <a:spcPts val="5720"/>
              </a:lnSpc>
            </a:pPr>
            <a:r>
              <a:rPr sz="5200" b="1">
                <a:solidFill>
                  <a:srgbClr val="24252F"/>
                </a:solidFill>
                <a:latin typeface="Open Sauce Bold"/>
              </a:rPr>
              <a:t>3</a:t>
            </a:r>
          </a:p>
        </p:txBody>
      </p:sp>
      <p:sp>
        <p:nvSpPr>
          <p:cNvPr id="69" name="TextBox 68"/>
          <p:cNvSpPr txBox="1"/>
          <p:nvPr/>
        </p:nvSpPr>
        <p:spPr>
          <a:xfrm>
            <a:off x="14218920" y="3794760"/>
            <a:ext cx="3028950" cy="1417320"/>
          </a:xfrm>
          <a:prstGeom prst="rect">
            <a:avLst/>
          </a:prstGeom>
          <a:noFill/>
        </p:spPr>
        <p:txBody>
          <a:bodyPr wrap="square" lIns="0" rIns="0" tIns="0" bIns="0" anchor="ctr">
            <a:noAutofit/>
          </a:bodyPr>
          <a:lstStyle/>
          <a:p>
            <a:pPr algn="l">
              <a:lnSpc>
                <a:spcPts val="2730"/>
              </a:lnSpc>
            </a:pPr>
            <a:r>
              <a:rPr sz="2100" b="0">
                <a:solidFill>
                  <a:srgbClr val="24252F"/>
                </a:solidFill>
                <a:latin typeface="Open Sauce Semi-Bold"/>
              </a:rPr>
              <a:t>checks passed</a:t>
            </a:r>
          </a:p>
        </p:txBody>
      </p:sp>
      <p:sp>
        <p:nvSpPr>
          <p:cNvPr id="70" name="Rounded Rectangle 69"/>
          <p:cNvSpPr/>
          <p:nvPr/>
        </p:nvSpPr>
        <p:spPr>
          <a:xfrm>
            <a:off x="12070080" y="5394960"/>
            <a:ext cx="5360670" cy="1417320"/>
          </a:xfrm>
          <a:prstGeom prst="roundRect">
            <a:avLst>
              <a:gd name="adj" fmla="val 9032"/>
            </a:avLst>
          </a:prstGeom>
          <a:solidFill>
            <a:srgbClr val="C9785A"/>
          </a:solidFill>
          <a:ln>
            <a:noFill/>
          </a:ln>
        </p:spPr>
        <p:txBody>
          <a:bodyPr rtlCol="0" anchor="ctr"/>
          <a:lstStyle/>
          <a:p>
            <a:pPr algn="ctr"/>
          </a:p>
        </p:txBody>
      </p:sp>
      <p:sp>
        <p:nvSpPr>
          <p:cNvPr id="71" name="TextBox 70"/>
          <p:cNvSpPr txBox="1"/>
          <p:nvPr/>
        </p:nvSpPr>
        <p:spPr>
          <a:xfrm>
            <a:off x="12390120" y="5394960"/>
            <a:ext cx="1828800" cy="1417320"/>
          </a:xfrm>
          <a:prstGeom prst="rect">
            <a:avLst/>
          </a:prstGeom>
          <a:noFill/>
        </p:spPr>
        <p:txBody>
          <a:bodyPr wrap="square" lIns="0" rIns="0" tIns="0" bIns="0" anchor="ctr">
            <a:noAutofit/>
          </a:bodyPr>
          <a:lstStyle/>
          <a:p>
            <a:pPr algn="l">
              <a:lnSpc>
                <a:spcPts val="5720"/>
              </a:lnSpc>
            </a:pPr>
            <a:r>
              <a:rPr sz="5200" b="1">
                <a:solidFill>
                  <a:srgbClr val="FFFFFF"/>
                </a:solidFill>
                <a:latin typeface="Open Sauce Bold"/>
              </a:rPr>
              <a:t>6</a:t>
            </a:r>
          </a:p>
        </p:txBody>
      </p:sp>
      <p:sp>
        <p:nvSpPr>
          <p:cNvPr id="72" name="TextBox 71"/>
          <p:cNvSpPr txBox="1"/>
          <p:nvPr/>
        </p:nvSpPr>
        <p:spPr>
          <a:xfrm>
            <a:off x="14218920" y="5394960"/>
            <a:ext cx="3028950" cy="1417320"/>
          </a:xfrm>
          <a:prstGeom prst="rect">
            <a:avLst/>
          </a:prstGeom>
          <a:noFill/>
        </p:spPr>
        <p:txBody>
          <a:bodyPr wrap="square" lIns="0" rIns="0" tIns="0" bIns="0" anchor="ctr">
            <a:noAutofit/>
          </a:bodyPr>
          <a:lstStyle/>
          <a:p>
            <a:pPr algn="l">
              <a:lnSpc>
                <a:spcPts val="2730"/>
              </a:lnSpc>
            </a:pPr>
            <a:r>
              <a:rPr sz="2100" b="0">
                <a:solidFill>
                  <a:srgbClr val="FFFFFF"/>
                </a:solidFill>
                <a:latin typeface="Open Sauce Semi-Bold"/>
              </a:rPr>
              <a:t>checks failed</a:t>
            </a:r>
          </a:p>
        </p:txBody>
      </p:sp>
      <p:sp>
        <p:nvSpPr>
          <p:cNvPr id="73" name="Rounded Rectangle 72"/>
          <p:cNvSpPr/>
          <p:nvPr/>
        </p:nvSpPr>
        <p:spPr>
          <a:xfrm>
            <a:off x="12070080" y="6995160"/>
            <a:ext cx="5360670" cy="1508760"/>
          </a:xfrm>
          <a:prstGeom prst="roundRect">
            <a:avLst>
              <a:gd name="adj" fmla="val 8484"/>
            </a:avLst>
          </a:prstGeom>
          <a:solidFill>
            <a:srgbClr val="24252F"/>
          </a:solidFill>
          <a:ln>
            <a:noFill/>
          </a:ln>
        </p:spPr>
        <p:txBody>
          <a:bodyPr rtlCol="0" anchor="ctr"/>
          <a:lstStyle/>
          <a:p>
            <a:pPr algn="ctr"/>
          </a:p>
        </p:txBody>
      </p:sp>
      <p:sp>
        <p:nvSpPr>
          <p:cNvPr id="74" name="TextBox 73"/>
          <p:cNvSpPr txBox="1"/>
          <p:nvPr/>
        </p:nvSpPr>
        <p:spPr>
          <a:xfrm>
            <a:off x="12344400" y="6995160"/>
            <a:ext cx="4812030" cy="1508760"/>
          </a:xfrm>
          <a:prstGeom prst="rect">
            <a:avLst/>
          </a:prstGeom>
          <a:noFill/>
        </p:spPr>
        <p:txBody>
          <a:bodyPr wrap="square" lIns="0" rIns="0" tIns="0" bIns="0" anchor="ctr">
            <a:noAutofit/>
          </a:bodyPr>
          <a:lstStyle/>
          <a:p>
            <a:pPr algn="ctr">
              <a:lnSpc>
                <a:spcPts val="2835"/>
              </a:lnSpc>
            </a:pPr>
            <a:r>
              <a:rPr sz="2100" b="1">
                <a:solidFill>
                  <a:srgbClr val="FFFFFF"/>
                </a:solidFill>
                <a:latin typeface="Open Sauce Bold"/>
              </a:rPr>
              <a:t>Detect and report.</a:t>
            </a:r>
          </a:p>
          <a:p>
            <a:pPr algn="ctr">
              <a:lnSpc>
                <a:spcPts val="2835"/>
              </a:lnSpc>
            </a:pPr>
            <a:r>
              <a:rPr sz="2100" b="1">
                <a:solidFill>
                  <a:srgbClr val="FFFFFF"/>
                </a:solidFill>
                <a:latin typeface="Open Sauce Bold"/>
              </a:rPr>
              <a:t>The scan never changes the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Title"/>
          <p:cNvSpPr txBox="1"/>
          <p:nvPr/>
        </p:nvSpPr>
        <p:spPr>
          <a:xfrm>
            <a:off x="857250" y="428854"/>
            <a:ext cx="15727680" cy="786384"/>
          </a:xfrm>
          <a:prstGeom prst="rect">
            <a:avLst/>
          </a:prstGeom>
          <a:noFill/>
        </p:spPr>
        <p:txBody>
          <a:bodyPr wrap="square" lIns="0" rIns="0" tIns="0" bIns="0" anchor="t">
            <a:noAutofit/>
          </a:bodyPr>
          <a:lstStyle/>
          <a:p>
            <a:pPr algn="l">
              <a:lnSpc>
                <a:spcPts val="6439"/>
              </a:lnSpc>
            </a:pPr>
            <a:r>
              <a:rPr sz="4600" b="1">
                <a:solidFill>
                  <a:srgbClr val="24252F"/>
                </a:solidFill>
                <a:latin typeface="Open Sauce Bold"/>
              </a:rPr>
              <a:t>Case Study — Implementation: Failure Analysis</a:t>
            </a:r>
          </a:p>
        </p:txBody>
      </p:sp>
      <p:sp>
        <p:nvSpPr>
          <p:cNvPr id="3" name="Eyebrow"/>
          <p:cNvSpPr txBox="1"/>
          <p:nvPr/>
        </p:nvSpPr>
        <p:spPr>
          <a:xfrm>
            <a:off x="857250" y="1228954"/>
            <a:ext cx="10972800" cy="283464"/>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VALIDATION REPORT — WHAT FAILED AND WHY</a:t>
            </a:r>
          </a:p>
        </p:txBody>
      </p:sp>
      <p:cxnSp>
        <p:nvCxnSpPr>
          <p:cNvPr id="4" name="Connector 3"/>
          <p:cNvCxnSpPr/>
          <p:nvPr/>
        </p:nvCxnSpPr>
        <p:spPr>
          <a:xfrm>
            <a:off x="857250" y="1524305"/>
            <a:ext cx="16573500" cy="0"/>
          </a:xfrm>
          <a:prstGeom prst="line">
            <a:avLst/>
          </a:prstGeom>
          <a:ln w="19050">
            <a:solidFill>
              <a:srgbClr val="D8B58F"/>
            </a:solidFill>
          </a:ln>
        </p:spPr>
      </p:cxnSp>
      <p:cxnSp>
        <p:nvCxnSpPr>
          <p:cNvPr id="5" name="Connector 4"/>
          <p:cNvCxnSpPr/>
          <p:nvPr/>
        </p:nvCxnSpPr>
        <p:spPr>
          <a:xfrm>
            <a:off x="857250" y="9601200"/>
            <a:ext cx="16573500" cy="0"/>
          </a:xfrm>
          <a:prstGeom prst="line">
            <a:avLst/>
          </a:prstGeom>
          <a:ln w="19050">
            <a:solidFill>
              <a:srgbClr val="D8B58F"/>
            </a:solidFill>
          </a:ln>
        </p:spPr>
      </p:cxnSp>
      <p:sp>
        <p:nvSpPr>
          <p:cNvPr id="6" name="Footer"/>
          <p:cNvSpPr txBox="1"/>
          <p:nvPr/>
        </p:nvSpPr>
        <p:spPr>
          <a:xfrm>
            <a:off x="857250" y="9765792"/>
            <a:ext cx="2377440" cy="237744"/>
          </a:xfrm>
          <a:prstGeom prst="rect">
            <a:avLst/>
          </a:prstGeom>
          <a:noFill/>
        </p:spPr>
        <p:txBody>
          <a:bodyPr wrap="square" lIns="0" rIns="0" tIns="0" bIns="0" anchor="t">
            <a:noAutofit/>
          </a:bodyPr>
          <a:lstStyle/>
          <a:p>
            <a:pPr algn="l">
              <a:lnSpc>
                <a:spcPts val="1959"/>
              </a:lnSpc>
            </a:pPr>
            <a:r>
              <a:rPr sz="1400" b="0">
                <a:solidFill>
                  <a:srgbClr val="6E6863"/>
                </a:solidFill>
                <a:latin typeface="Open Sauce Medium"/>
              </a:rPr>
              <a:t>ISE Activity 2</a:t>
            </a:r>
          </a:p>
        </p:txBody>
      </p:sp>
      <p:sp>
        <p:nvSpPr>
          <p:cNvPr id="7" name="Page number"/>
          <p:cNvSpPr txBox="1"/>
          <p:nvPr/>
        </p:nvSpPr>
        <p:spPr>
          <a:xfrm>
            <a:off x="17049902" y="9765792"/>
            <a:ext cx="381305" cy="237744"/>
          </a:xfrm>
          <a:prstGeom prst="rect">
            <a:avLst/>
          </a:prstGeom>
          <a:noFill/>
        </p:spPr>
        <p:txBody>
          <a:bodyPr wrap="square" lIns="0" rIns="0" tIns="0" bIns="0" anchor="t">
            <a:noAutofit/>
          </a:bodyPr>
          <a:lstStyle/>
          <a:p>
            <a:pPr algn="r">
              <a:lnSpc>
                <a:spcPts val="1959"/>
              </a:lnSpc>
            </a:pPr>
            <a:r>
              <a:rPr sz="1400" b="0">
                <a:solidFill>
                  <a:srgbClr val="6E6863"/>
                </a:solidFill>
                <a:latin typeface="Open Sauce Medium"/>
              </a:rPr>
              <a:t>12</a:t>
            </a:r>
          </a:p>
        </p:txBody>
      </p:sp>
      <p:sp>
        <p:nvSpPr>
          <p:cNvPr id="8" name="TextBox 7"/>
          <p:cNvSpPr txBox="1"/>
          <p:nvPr/>
        </p:nvSpPr>
        <p:spPr>
          <a:xfrm>
            <a:off x="857250" y="1783080"/>
            <a:ext cx="1097280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EVERY FAILED RULE, WITH THE RECORD THAT BROKE IT</a:t>
            </a:r>
          </a:p>
        </p:txBody>
      </p:sp>
      <p:sp>
        <p:nvSpPr>
          <p:cNvPr id="9" name="Rectangle 8"/>
          <p:cNvSpPr/>
          <p:nvPr/>
        </p:nvSpPr>
        <p:spPr>
          <a:xfrm>
            <a:off x="857250" y="2194560"/>
            <a:ext cx="11521440" cy="713232"/>
          </a:xfrm>
          <a:prstGeom prst="rect">
            <a:avLst/>
          </a:prstGeom>
          <a:solidFill>
            <a:srgbClr val="24252F"/>
          </a:solidFill>
          <a:ln>
            <a:noFill/>
          </a:ln>
        </p:spPr>
        <p:txBody>
          <a:bodyPr rtlCol="0" anchor="ctr"/>
          <a:lstStyle/>
          <a:p>
            <a:pPr algn="ctr"/>
          </a:p>
        </p:txBody>
      </p:sp>
      <p:sp>
        <p:nvSpPr>
          <p:cNvPr id="10" name="TextBox 9"/>
          <p:cNvSpPr txBox="1"/>
          <p:nvPr/>
        </p:nvSpPr>
        <p:spPr>
          <a:xfrm>
            <a:off x="1040130" y="2194560"/>
            <a:ext cx="4069080" cy="713232"/>
          </a:xfrm>
          <a:prstGeom prst="rect">
            <a:avLst/>
          </a:prstGeom>
          <a:noFill/>
        </p:spPr>
        <p:txBody>
          <a:bodyPr wrap="square" lIns="0" rIns="0" tIns="0" bIns="0" anchor="ctr">
            <a:noAutofit/>
          </a:bodyPr>
          <a:lstStyle/>
          <a:p>
            <a:pPr algn="l">
              <a:lnSpc>
                <a:spcPts val="2039"/>
              </a:lnSpc>
            </a:pPr>
            <a:r>
              <a:rPr sz="1700" b="1">
                <a:solidFill>
                  <a:srgbClr val="FFFFFF"/>
                </a:solidFill>
                <a:latin typeface="Open Sauce Bold"/>
              </a:rPr>
              <a:t>FAILED RULE</a:t>
            </a:r>
          </a:p>
        </p:txBody>
      </p:sp>
      <p:sp>
        <p:nvSpPr>
          <p:cNvPr id="11" name="TextBox 10"/>
          <p:cNvSpPr txBox="1"/>
          <p:nvPr/>
        </p:nvSpPr>
        <p:spPr>
          <a:xfrm>
            <a:off x="5383530" y="2194560"/>
            <a:ext cx="2377440" cy="713232"/>
          </a:xfrm>
          <a:prstGeom prst="rect">
            <a:avLst/>
          </a:prstGeom>
          <a:noFill/>
        </p:spPr>
        <p:txBody>
          <a:bodyPr wrap="square" lIns="0" rIns="0" tIns="0" bIns="0" anchor="ctr">
            <a:noAutofit/>
          </a:bodyPr>
          <a:lstStyle/>
          <a:p>
            <a:pPr algn="l">
              <a:lnSpc>
                <a:spcPts val="2039"/>
              </a:lnSpc>
            </a:pPr>
            <a:r>
              <a:rPr sz="1700" b="1">
                <a:solidFill>
                  <a:srgbClr val="FFFFFF"/>
                </a:solidFill>
                <a:latin typeface="Open Sauce Bold"/>
              </a:rPr>
              <a:t>BAD RECORD</a:t>
            </a:r>
          </a:p>
        </p:txBody>
      </p:sp>
      <p:sp>
        <p:nvSpPr>
          <p:cNvPr id="12" name="TextBox 11"/>
          <p:cNvSpPr txBox="1"/>
          <p:nvPr/>
        </p:nvSpPr>
        <p:spPr>
          <a:xfrm>
            <a:off x="8035290" y="2194560"/>
            <a:ext cx="4251960" cy="713232"/>
          </a:xfrm>
          <a:prstGeom prst="rect">
            <a:avLst/>
          </a:prstGeom>
          <a:noFill/>
        </p:spPr>
        <p:txBody>
          <a:bodyPr wrap="square" lIns="0" rIns="0" tIns="0" bIns="0" anchor="ctr">
            <a:noAutofit/>
          </a:bodyPr>
          <a:lstStyle/>
          <a:p>
            <a:pPr algn="l">
              <a:lnSpc>
                <a:spcPts val="2039"/>
              </a:lnSpc>
            </a:pPr>
            <a:r>
              <a:rPr sz="1700" b="1">
                <a:solidFill>
                  <a:srgbClr val="FFFFFF"/>
                </a:solidFill>
                <a:latin typeface="Open Sauce Bold"/>
              </a:rPr>
              <a:t>WHY IT FAILED</a:t>
            </a:r>
          </a:p>
        </p:txBody>
      </p:sp>
      <p:sp>
        <p:nvSpPr>
          <p:cNvPr id="13" name="Rectangle 12"/>
          <p:cNvSpPr/>
          <p:nvPr/>
        </p:nvSpPr>
        <p:spPr>
          <a:xfrm>
            <a:off x="857250" y="2907792"/>
            <a:ext cx="11521440" cy="713232"/>
          </a:xfrm>
          <a:prstGeom prst="rect">
            <a:avLst/>
          </a:prstGeom>
          <a:solidFill>
            <a:srgbClr val="FCFAF8"/>
          </a:solidFill>
          <a:ln w="9525">
            <a:solidFill>
              <a:srgbClr val="D8B58F"/>
            </a:solidFill>
          </a:ln>
        </p:spPr>
        <p:txBody>
          <a:bodyPr rtlCol="0" anchor="ctr"/>
          <a:lstStyle/>
          <a:p>
            <a:pPr algn="ctr"/>
          </a:p>
        </p:txBody>
      </p:sp>
      <p:sp>
        <p:nvSpPr>
          <p:cNvPr id="14" name="TextBox 13"/>
          <p:cNvSpPr txBox="1"/>
          <p:nvPr/>
        </p:nvSpPr>
        <p:spPr>
          <a:xfrm>
            <a:off x="1040130" y="2907792"/>
            <a:ext cx="406908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duplicate_count(order_id)</a:t>
            </a:r>
          </a:p>
        </p:txBody>
      </p:sp>
      <p:sp>
        <p:nvSpPr>
          <p:cNvPr id="15" name="TextBox 14"/>
          <p:cNvSpPr txBox="1"/>
          <p:nvPr/>
        </p:nvSpPr>
        <p:spPr>
          <a:xfrm>
            <a:off x="5383530" y="2907792"/>
            <a:ext cx="237744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O0001 (3 rows)</a:t>
            </a:r>
          </a:p>
        </p:txBody>
      </p:sp>
      <p:sp>
        <p:nvSpPr>
          <p:cNvPr id="16" name="TextBox 15"/>
          <p:cNvSpPr txBox="1"/>
          <p:nvPr/>
        </p:nvSpPr>
        <p:spPr>
          <a:xfrm>
            <a:off x="8035290" y="2907792"/>
            <a:ext cx="425196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Same order ID appears 3 times</a:t>
            </a:r>
          </a:p>
        </p:txBody>
      </p:sp>
      <p:sp>
        <p:nvSpPr>
          <p:cNvPr id="17" name="Rectangle 16"/>
          <p:cNvSpPr/>
          <p:nvPr/>
        </p:nvSpPr>
        <p:spPr>
          <a:xfrm>
            <a:off x="857250" y="3621024"/>
            <a:ext cx="11521440" cy="713232"/>
          </a:xfrm>
          <a:prstGeom prst="rect">
            <a:avLst/>
          </a:prstGeom>
          <a:solidFill>
            <a:srgbClr val="E8E2DC"/>
          </a:solidFill>
          <a:ln w="9525">
            <a:solidFill>
              <a:srgbClr val="D8B58F"/>
            </a:solidFill>
          </a:ln>
        </p:spPr>
        <p:txBody>
          <a:bodyPr rtlCol="0" anchor="ctr"/>
          <a:lstStyle/>
          <a:p>
            <a:pPr algn="ctr"/>
          </a:p>
        </p:txBody>
      </p:sp>
      <p:sp>
        <p:nvSpPr>
          <p:cNvPr id="18" name="TextBox 17"/>
          <p:cNvSpPr txBox="1"/>
          <p:nvPr/>
        </p:nvSpPr>
        <p:spPr>
          <a:xfrm>
            <a:off x="1040130" y="3621024"/>
            <a:ext cx="406908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missing_count(customer_id)</a:t>
            </a:r>
          </a:p>
        </p:txBody>
      </p:sp>
      <p:sp>
        <p:nvSpPr>
          <p:cNvPr id="19" name="TextBox 18"/>
          <p:cNvSpPr txBox="1"/>
          <p:nvPr/>
        </p:nvSpPr>
        <p:spPr>
          <a:xfrm>
            <a:off x="5383530" y="3621024"/>
            <a:ext cx="237744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O9003</a:t>
            </a:r>
          </a:p>
        </p:txBody>
      </p:sp>
      <p:sp>
        <p:nvSpPr>
          <p:cNvPr id="20" name="TextBox 19"/>
          <p:cNvSpPr txBox="1"/>
          <p:nvPr/>
        </p:nvSpPr>
        <p:spPr>
          <a:xfrm>
            <a:off x="8035290" y="3621024"/>
            <a:ext cx="425196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customer_id is empty</a:t>
            </a:r>
          </a:p>
        </p:txBody>
      </p:sp>
      <p:sp>
        <p:nvSpPr>
          <p:cNvPr id="21" name="Rectangle 20"/>
          <p:cNvSpPr/>
          <p:nvPr/>
        </p:nvSpPr>
        <p:spPr>
          <a:xfrm>
            <a:off x="857250" y="4334256"/>
            <a:ext cx="11521440" cy="713232"/>
          </a:xfrm>
          <a:prstGeom prst="rect">
            <a:avLst/>
          </a:prstGeom>
          <a:solidFill>
            <a:srgbClr val="FCFAF8"/>
          </a:solidFill>
          <a:ln w="9525">
            <a:solidFill>
              <a:srgbClr val="D8B58F"/>
            </a:solidFill>
          </a:ln>
        </p:spPr>
        <p:txBody>
          <a:bodyPr rtlCol="0" anchor="ctr"/>
          <a:lstStyle/>
          <a:p>
            <a:pPr algn="ctr"/>
          </a:p>
        </p:txBody>
      </p:sp>
      <p:sp>
        <p:nvSpPr>
          <p:cNvPr id="22" name="TextBox 21"/>
          <p:cNvSpPr txBox="1"/>
          <p:nvPr/>
        </p:nvSpPr>
        <p:spPr>
          <a:xfrm>
            <a:off x="1040130" y="4334256"/>
            <a:ext cx="406908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missing_count(product)</a:t>
            </a:r>
          </a:p>
        </p:txBody>
      </p:sp>
      <p:sp>
        <p:nvSpPr>
          <p:cNvPr id="23" name="TextBox 22"/>
          <p:cNvSpPr txBox="1"/>
          <p:nvPr/>
        </p:nvSpPr>
        <p:spPr>
          <a:xfrm>
            <a:off x="5383530" y="4334256"/>
            <a:ext cx="237744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O9004</a:t>
            </a:r>
          </a:p>
        </p:txBody>
      </p:sp>
      <p:sp>
        <p:nvSpPr>
          <p:cNvPr id="24" name="TextBox 23"/>
          <p:cNvSpPr txBox="1"/>
          <p:nvPr/>
        </p:nvSpPr>
        <p:spPr>
          <a:xfrm>
            <a:off x="8035290" y="4334256"/>
            <a:ext cx="425196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product is empty</a:t>
            </a:r>
          </a:p>
        </p:txBody>
      </p:sp>
      <p:sp>
        <p:nvSpPr>
          <p:cNvPr id="25" name="Rectangle 24"/>
          <p:cNvSpPr/>
          <p:nvPr/>
        </p:nvSpPr>
        <p:spPr>
          <a:xfrm>
            <a:off x="857250" y="5047488"/>
            <a:ext cx="11521440" cy="713232"/>
          </a:xfrm>
          <a:prstGeom prst="rect">
            <a:avLst/>
          </a:prstGeom>
          <a:solidFill>
            <a:srgbClr val="E8E2DC"/>
          </a:solidFill>
          <a:ln w="9525">
            <a:solidFill>
              <a:srgbClr val="D8B58F"/>
            </a:solidFill>
          </a:ln>
        </p:spPr>
        <p:txBody>
          <a:bodyPr rtlCol="0" anchor="ctr"/>
          <a:lstStyle/>
          <a:p>
            <a:pPr algn="ctr"/>
          </a:p>
        </p:txBody>
      </p:sp>
      <p:sp>
        <p:nvSpPr>
          <p:cNvPr id="26" name="TextBox 25"/>
          <p:cNvSpPr txBox="1"/>
          <p:nvPr/>
        </p:nvSpPr>
        <p:spPr>
          <a:xfrm>
            <a:off x="1040130" y="5047488"/>
            <a:ext cx="406908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invalid_count(status)</a:t>
            </a:r>
          </a:p>
        </p:txBody>
      </p:sp>
      <p:sp>
        <p:nvSpPr>
          <p:cNvPr id="27" name="TextBox 26"/>
          <p:cNvSpPr txBox="1"/>
          <p:nvPr/>
        </p:nvSpPr>
        <p:spPr>
          <a:xfrm>
            <a:off x="5383530" y="5047488"/>
            <a:ext cx="237744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O9005</a:t>
            </a:r>
          </a:p>
        </p:txBody>
      </p:sp>
      <p:sp>
        <p:nvSpPr>
          <p:cNvPr id="28" name="TextBox 27"/>
          <p:cNvSpPr txBox="1"/>
          <p:nvPr/>
        </p:nvSpPr>
        <p:spPr>
          <a:xfrm>
            <a:off x="8035290" y="5047488"/>
            <a:ext cx="425196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status "Unknown" is not allowed</a:t>
            </a:r>
          </a:p>
        </p:txBody>
      </p:sp>
      <p:sp>
        <p:nvSpPr>
          <p:cNvPr id="29" name="Rectangle 28"/>
          <p:cNvSpPr/>
          <p:nvPr/>
        </p:nvSpPr>
        <p:spPr>
          <a:xfrm>
            <a:off x="857250" y="5760720"/>
            <a:ext cx="11521440" cy="713232"/>
          </a:xfrm>
          <a:prstGeom prst="rect">
            <a:avLst/>
          </a:prstGeom>
          <a:solidFill>
            <a:srgbClr val="FCFAF8"/>
          </a:solidFill>
          <a:ln w="9525">
            <a:solidFill>
              <a:srgbClr val="D8B58F"/>
            </a:solidFill>
          </a:ln>
        </p:spPr>
        <p:txBody>
          <a:bodyPr rtlCol="0" anchor="ctr"/>
          <a:lstStyle/>
          <a:p>
            <a:pPr algn="ctr"/>
          </a:p>
        </p:txBody>
      </p:sp>
      <p:sp>
        <p:nvSpPr>
          <p:cNvPr id="30" name="TextBox 29"/>
          <p:cNvSpPr txBox="1"/>
          <p:nvPr/>
        </p:nvSpPr>
        <p:spPr>
          <a:xfrm>
            <a:off x="1040130" y="5760720"/>
            <a:ext cx="406908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invalid_count(unit_price)</a:t>
            </a:r>
          </a:p>
        </p:txBody>
      </p:sp>
      <p:sp>
        <p:nvSpPr>
          <p:cNvPr id="31" name="TextBox 30"/>
          <p:cNvSpPr txBox="1"/>
          <p:nvPr/>
        </p:nvSpPr>
        <p:spPr>
          <a:xfrm>
            <a:off x="5383530" y="5760720"/>
            <a:ext cx="237744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O9001</a:t>
            </a:r>
          </a:p>
        </p:txBody>
      </p:sp>
      <p:sp>
        <p:nvSpPr>
          <p:cNvPr id="32" name="TextBox 31"/>
          <p:cNvSpPr txBox="1"/>
          <p:nvPr/>
        </p:nvSpPr>
        <p:spPr>
          <a:xfrm>
            <a:off x="8035290" y="5760720"/>
            <a:ext cx="425196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unit_price is -65000</a:t>
            </a:r>
          </a:p>
        </p:txBody>
      </p:sp>
      <p:sp>
        <p:nvSpPr>
          <p:cNvPr id="33" name="Rectangle 32"/>
          <p:cNvSpPr/>
          <p:nvPr/>
        </p:nvSpPr>
        <p:spPr>
          <a:xfrm>
            <a:off x="857250" y="6473952"/>
            <a:ext cx="11521440" cy="713232"/>
          </a:xfrm>
          <a:prstGeom prst="rect">
            <a:avLst/>
          </a:prstGeom>
          <a:solidFill>
            <a:srgbClr val="E8E2DC"/>
          </a:solidFill>
          <a:ln w="9525">
            <a:solidFill>
              <a:srgbClr val="D8B58F"/>
            </a:solidFill>
          </a:ln>
        </p:spPr>
        <p:txBody>
          <a:bodyPr rtlCol="0" anchor="ctr"/>
          <a:lstStyle/>
          <a:p>
            <a:pPr algn="ctr"/>
          </a:p>
        </p:txBody>
      </p:sp>
      <p:sp>
        <p:nvSpPr>
          <p:cNvPr id="34" name="TextBox 33"/>
          <p:cNvSpPr txBox="1"/>
          <p:nvPr/>
        </p:nvSpPr>
        <p:spPr>
          <a:xfrm>
            <a:off x="1040130" y="6473952"/>
            <a:ext cx="406908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invalid_count(quantity)</a:t>
            </a:r>
          </a:p>
        </p:txBody>
      </p:sp>
      <p:sp>
        <p:nvSpPr>
          <p:cNvPr id="35" name="TextBox 34"/>
          <p:cNvSpPr txBox="1"/>
          <p:nvPr/>
        </p:nvSpPr>
        <p:spPr>
          <a:xfrm>
            <a:off x="5383530" y="6473952"/>
            <a:ext cx="237744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O9002</a:t>
            </a:r>
          </a:p>
        </p:txBody>
      </p:sp>
      <p:sp>
        <p:nvSpPr>
          <p:cNvPr id="36" name="TextBox 35"/>
          <p:cNvSpPr txBox="1"/>
          <p:nvPr/>
        </p:nvSpPr>
        <p:spPr>
          <a:xfrm>
            <a:off x="8035290" y="6473952"/>
            <a:ext cx="4251960" cy="713232"/>
          </a:xfrm>
          <a:prstGeom prst="rect">
            <a:avLst/>
          </a:prstGeom>
          <a:noFill/>
        </p:spPr>
        <p:txBody>
          <a:bodyPr wrap="square" lIns="0" rIns="0" tIns="0" bIns="0" anchor="ctr">
            <a:noAutofit/>
          </a:bodyPr>
          <a:lstStyle/>
          <a:p>
            <a:pPr algn="l">
              <a:lnSpc>
                <a:spcPts val="2160"/>
              </a:lnSpc>
            </a:pPr>
            <a:r>
              <a:rPr sz="1800" b="0">
                <a:solidFill>
                  <a:srgbClr val="24252F"/>
                </a:solidFill>
                <a:latin typeface="Open Sauce Semi-Bold"/>
              </a:rPr>
              <a:t>quantity is 0</a:t>
            </a:r>
          </a:p>
        </p:txBody>
      </p:sp>
      <p:sp>
        <p:nvSpPr>
          <p:cNvPr id="37" name="TextBox 36"/>
          <p:cNvSpPr txBox="1"/>
          <p:nvPr/>
        </p:nvSpPr>
        <p:spPr>
          <a:xfrm>
            <a:off x="12893040" y="1783080"/>
            <a:ext cx="4537710" cy="292608"/>
          </a:xfrm>
          <a:prstGeom prst="rect">
            <a:avLst/>
          </a:prstGeom>
          <a:noFill/>
        </p:spPr>
        <p:txBody>
          <a:bodyPr wrap="square" lIns="0" rIns="0" tIns="0" bIns="0" anchor="t">
            <a:noAutofit/>
          </a:bodyPr>
          <a:lstStyle/>
          <a:p>
            <a:pPr algn="l">
              <a:lnSpc>
                <a:spcPts val="2379"/>
              </a:lnSpc>
            </a:pPr>
            <a:r>
              <a:rPr sz="1700" b="1">
                <a:solidFill>
                  <a:srgbClr val="C9785A"/>
                </a:solidFill>
                <a:latin typeface="Open Sauce Bold"/>
              </a:rPr>
              <a:t>TWO WAYS TO VIEW IT</a:t>
            </a:r>
          </a:p>
        </p:txBody>
      </p:sp>
      <p:sp>
        <p:nvSpPr>
          <p:cNvPr id="38" name="Rounded Rectangle 37"/>
          <p:cNvSpPr/>
          <p:nvPr/>
        </p:nvSpPr>
        <p:spPr>
          <a:xfrm>
            <a:off x="12893040" y="2194560"/>
            <a:ext cx="4537710" cy="2194560"/>
          </a:xfrm>
          <a:prstGeom prst="roundRect">
            <a:avLst>
              <a:gd name="adj" fmla="val 5833"/>
            </a:avLst>
          </a:prstGeom>
          <a:solidFill>
            <a:srgbClr val="E8E2DC"/>
          </a:solidFill>
          <a:ln w="19050">
            <a:solidFill>
              <a:srgbClr val="D8B58F"/>
            </a:solidFill>
          </a:ln>
        </p:spPr>
        <p:txBody>
          <a:bodyPr rtlCol="0" anchor="ctr"/>
          <a:lstStyle/>
          <a:p>
            <a:pPr algn="ctr"/>
          </a:p>
        </p:txBody>
      </p:sp>
      <p:sp>
        <p:nvSpPr>
          <p:cNvPr id="39" name="TextBox 38"/>
          <p:cNvSpPr txBox="1"/>
          <p:nvPr/>
        </p:nvSpPr>
        <p:spPr>
          <a:xfrm>
            <a:off x="13167360" y="2423160"/>
            <a:ext cx="3989070" cy="411480"/>
          </a:xfrm>
          <a:prstGeom prst="rect">
            <a:avLst/>
          </a:prstGeom>
          <a:noFill/>
        </p:spPr>
        <p:txBody>
          <a:bodyPr wrap="square" lIns="0" rIns="0" tIns="0" bIns="0" anchor="t">
            <a:noAutofit/>
          </a:bodyPr>
          <a:lstStyle/>
          <a:p>
            <a:pPr algn="l">
              <a:lnSpc>
                <a:spcPts val="3120"/>
              </a:lnSpc>
            </a:pPr>
            <a:r>
              <a:rPr sz="2400" b="1">
                <a:solidFill>
                  <a:srgbClr val="C9785A"/>
                </a:solidFill>
                <a:latin typeface="Open Sauce Bold"/>
              </a:rPr>
              <a:t>HTML REPORT</a:t>
            </a:r>
          </a:p>
        </p:txBody>
      </p:sp>
      <p:sp>
        <p:nvSpPr>
          <p:cNvPr id="40" name="TextBox 39"/>
          <p:cNvSpPr txBox="1"/>
          <p:nvPr/>
        </p:nvSpPr>
        <p:spPr>
          <a:xfrm>
            <a:off x="13167360" y="2971800"/>
            <a:ext cx="3989070" cy="320040"/>
          </a:xfrm>
          <a:prstGeom prst="rect">
            <a:avLst/>
          </a:prstGeom>
          <a:noFill/>
        </p:spPr>
        <p:txBody>
          <a:bodyPr wrap="square" lIns="0" rIns="0" tIns="0" bIns="0" anchor="t">
            <a:noAutofit/>
          </a:bodyPr>
          <a:lstStyle/>
          <a:p>
            <a:pPr algn="l">
              <a:lnSpc>
                <a:spcPts val="2210"/>
              </a:lnSpc>
            </a:pPr>
            <a:r>
              <a:rPr sz="1700" b="0">
                <a:solidFill>
                  <a:srgbClr val="6E6863"/>
                </a:solidFill>
                <a:latin typeface="Open Sauce Semi-Bold"/>
              </a:rPr>
              <a:t>validation_report.html</a:t>
            </a:r>
          </a:p>
        </p:txBody>
      </p:sp>
      <p:sp>
        <p:nvSpPr>
          <p:cNvPr id="41" name="TextBox 40"/>
          <p:cNvSpPr txBox="1"/>
          <p:nvPr/>
        </p:nvSpPr>
        <p:spPr>
          <a:xfrm>
            <a:off x="13167360" y="3383280"/>
            <a:ext cx="3989070" cy="868680"/>
          </a:xfrm>
          <a:prstGeom prst="rect">
            <a:avLst/>
          </a:prstGeom>
          <a:noFill/>
        </p:spPr>
        <p:txBody>
          <a:bodyPr wrap="square" lIns="0" rIns="0" tIns="0" bIns="0" anchor="t">
            <a:noAutofit/>
          </a:bodyPr>
          <a:lstStyle/>
          <a:p>
            <a:pPr algn="l">
              <a:lnSpc>
                <a:spcPts val="2470"/>
              </a:lnSpc>
            </a:pPr>
            <a:r>
              <a:rPr sz="1900" b="0">
                <a:solidFill>
                  <a:srgbClr val="24252F"/>
                </a:solidFill>
                <a:latin typeface="Open Sauce Semi-Bold"/>
              </a:rPr>
              <a:t>Summary, failed rules and the exact bad rows</a:t>
            </a:r>
          </a:p>
        </p:txBody>
      </p:sp>
      <p:sp>
        <p:nvSpPr>
          <p:cNvPr id="42" name="Rounded Rectangle 41"/>
          <p:cNvSpPr/>
          <p:nvPr/>
        </p:nvSpPr>
        <p:spPr>
          <a:xfrm>
            <a:off x="12893040" y="4617720"/>
            <a:ext cx="4537710" cy="2194560"/>
          </a:xfrm>
          <a:prstGeom prst="roundRect">
            <a:avLst>
              <a:gd name="adj" fmla="val 5833"/>
            </a:avLst>
          </a:prstGeom>
          <a:solidFill>
            <a:srgbClr val="E8E2DC"/>
          </a:solidFill>
          <a:ln w="19050">
            <a:solidFill>
              <a:srgbClr val="D8B58F"/>
            </a:solidFill>
          </a:ln>
        </p:spPr>
        <p:txBody>
          <a:bodyPr rtlCol="0" anchor="ctr"/>
          <a:lstStyle/>
          <a:p>
            <a:pPr algn="ctr"/>
          </a:p>
        </p:txBody>
      </p:sp>
      <p:sp>
        <p:nvSpPr>
          <p:cNvPr id="43" name="TextBox 42"/>
          <p:cNvSpPr txBox="1"/>
          <p:nvPr/>
        </p:nvSpPr>
        <p:spPr>
          <a:xfrm>
            <a:off x="13167360" y="4846320"/>
            <a:ext cx="3989070" cy="411480"/>
          </a:xfrm>
          <a:prstGeom prst="rect">
            <a:avLst/>
          </a:prstGeom>
          <a:noFill/>
        </p:spPr>
        <p:txBody>
          <a:bodyPr wrap="square" lIns="0" rIns="0" tIns="0" bIns="0" anchor="t">
            <a:noAutofit/>
          </a:bodyPr>
          <a:lstStyle/>
          <a:p>
            <a:pPr algn="l">
              <a:lnSpc>
                <a:spcPts val="3120"/>
              </a:lnSpc>
            </a:pPr>
            <a:r>
              <a:rPr sz="2400" b="1">
                <a:solidFill>
                  <a:srgbClr val="C9785A"/>
                </a:solidFill>
                <a:latin typeface="Open Sauce Bold"/>
              </a:rPr>
              <a:t>PIPELINE UI</a:t>
            </a:r>
          </a:p>
        </p:txBody>
      </p:sp>
      <p:sp>
        <p:nvSpPr>
          <p:cNvPr id="44" name="TextBox 43"/>
          <p:cNvSpPr txBox="1"/>
          <p:nvPr/>
        </p:nvSpPr>
        <p:spPr>
          <a:xfrm>
            <a:off x="13167360" y="5394960"/>
            <a:ext cx="3989070" cy="320040"/>
          </a:xfrm>
          <a:prstGeom prst="rect">
            <a:avLst/>
          </a:prstGeom>
          <a:noFill/>
        </p:spPr>
        <p:txBody>
          <a:bodyPr wrap="square" lIns="0" rIns="0" tIns="0" bIns="0" anchor="t">
            <a:noAutofit/>
          </a:bodyPr>
          <a:lstStyle/>
          <a:p>
            <a:pPr algn="l">
              <a:lnSpc>
                <a:spcPts val="2210"/>
              </a:lnSpc>
            </a:pPr>
            <a:r>
              <a:rPr sz="1700" b="0">
                <a:solidFill>
                  <a:srgbClr val="6E6863"/>
                </a:solidFill>
                <a:latin typeface="Open Sauce Semi-Bold"/>
              </a:rPr>
              <a:t>python app.py</a:t>
            </a:r>
          </a:p>
        </p:txBody>
      </p:sp>
      <p:sp>
        <p:nvSpPr>
          <p:cNvPr id="45" name="TextBox 44"/>
          <p:cNvSpPr txBox="1"/>
          <p:nvPr/>
        </p:nvSpPr>
        <p:spPr>
          <a:xfrm>
            <a:off x="13167360" y="5806440"/>
            <a:ext cx="3989070" cy="868680"/>
          </a:xfrm>
          <a:prstGeom prst="rect">
            <a:avLst/>
          </a:prstGeom>
          <a:noFill/>
        </p:spPr>
        <p:txBody>
          <a:bodyPr wrap="square" lIns="0" rIns="0" tIns="0" bIns="0" anchor="t">
            <a:noAutofit/>
          </a:bodyPr>
          <a:lstStyle/>
          <a:p>
            <a:pPr algn="l">
              <a:lnSpc>
                <a:spcPts val="2470"/>
              </a:lnSpc>
            </a:pPr>
            <a:r>
              <a:rPr sz="1900" b="0">
                <a:solidFill>
                  <a:srgbClr val="24252F"/>
                </a:solidFill>
                <a:latin typeface="Open Sauce Semi-Bold"/>
              </a:rPr>
              <a:t>Click through each stage and expand every failed check</a:t>
            </a:r>
          </a:p>
        </p:txBody>
      </p:sp>
      <p:sp>
        <p:nvSpPr>
          <p:cNvPr id="46" name="TextBox 45"/>
          <p:cNvSpPr txBox="1"/>
          <p:nvPr/>
        </p:nvSpPr>
        <p:spPr>
          <a:xfrm>
            <a:off x="857250" y="7726680"/>
            <a:ext cx="16573500" cy="292608"/>
          </a:xfrm>
          <a:prstGeom prst="rect">
            <a:avLst/>
          </a:prstGeom>
          <a:noFill/>
        </p:spPr>
        <p:txBody>
          <a:bodyPr wrap="square" lIns="0" rIns="0" tIns="0" bIns="0" anchor="t">
            <a:noAutofit/>
          </a:bodyPr>
          <a:lstStyle/>
          <a:p>
            <a:pPr algn="ctr">
              <a:lnSpc>
                <a:spcPts val="2100"/>
              </a:lnSpc>
            </a:pPr>
            <a:r>
              <a:rPr sz="1500" b="1">
                <a:solidFill>
                  <a:srgbClr val="C9785A"/>
                </a:solidFill>
                <a:latin typeface="Open Sauce Bold"/>
              </a:rPr>
              <a:t>KEY LEARNING</a:t>
            </a:r>
          </a:p>
        </p:txBody>
      </p:sp>
      <p:sp>
        <p:nvSpPr>
          <p:cNvPr id="47" name="Rounded Rectangle 46"/>
          <p:cNvSpPr/>
          <p:nvPr/>
        </p:nvSpPr>
        <p:spPr>
          <a:xfrm>
            <a:off x="857250" y="8092440"/>
            <a:ext cx="16573500" cy="1234440"/>
          </a:xfrm>
          <a:prstGeom prst="roundRect">
            <a:avLst>
              <a:gd name="adj" fmla="val 11851"/>
            </a:avLst>
          </a:prstGeom>
          <a:solidFill>
            <a:srgbClr val="24252F"/>
          </a:solidFill>
          <a:ln>
            <a:noFill/>
          </a:ln>
        </p:spPr>
        <p:txBody>
          <a:bodyPr rtlCol="0" anchor="ctr"/>
          <a:lstStyle/>
          <a:p>
            <a:pPr algn="ctr"/>
          </a:p>
        </p:txBody>
      </p:sp>
      <p:sp>
        <p:nvSpPr>
          <p:cNvPr id="48" name="TextBox 47"/>
          <p:cNvSpPr txBox="1"/>
          <p:nvPr/>
        </p:nvSpPr>
        <p:spPr>
          <a:xfrm>
            <a:off x="1223010" y="8247888"/>
            <a:ext cx="15841980" cy="502920"/>
          </a:xfrm>
          <a:prstGeom prst="rect">
            <a:avLst/>
          </a:prstGeom>
          <a:noFill/>
        </p:spPr>
        <p:txBody>
          <a:bodyPr wrap="square" lIns="0" rIns="0" tIns="0" bIns="0" anchor="t">
            <a:noAutofit/>
          </a:bodyPr>
          <a:lstStyle/>
          <a:p>
            <a:pPr algn="ctr">
              <a:lnSpc>
                <a:spcPts val="3919"/>
              </a:lnSpc>
            </a:pPr>
            <a:r>
              <a:rPr sz="2800" b="1">
                <a:solidFill>
                  <a:srgbClr val="FFFFFF"/>
                </a:solidFill>
                <a:latin typeface="Open Sauce Bold"/>
              </a:rPr>
              <a:t>Define measurable rules. Validate automatically.</a:t>
            </a:r>
          </a:p>
        </p:txBody>
      </p:sp>
      <p:sp>
        <p:nvSpPr>
          <p:cNvPr id="49" name="TextBox 48"/>
          <p:cNvSpPr txBox="1"/>
          <p:nvPr/>
        </p:nvSpPr>
        <p:spPr>
          <a:xfrm>
            <a:off x="1223010" y="8823960"/>
            <a:ext cx="15841980" cy="365760"/>
          </a:xfrm>
          <a:prstGeom prst="rect">
            <a:avLst/>
          </a:prstGeom>
          <a:noFill/>
        </p:spPr>
        <p:txBody>
          <a:bodyPr wrap="square" lIns="0" rIns="0" tIns="0" bIns="0" anchor="t">
            <a:noAutofit/>
          </a:bodyPr>
          <a:lstStyle/>
          <a:p>
            <a:pPr algn="ctr">
              <a:lnSpc>
                <a:spcPts val="2660"/>
              </a:lnSpc>
            </a:pPr>
            <a:r>
              <a:rPr sz="1900" b="0">
                <a:solidFill>
                  <a:srgbClr val="F3C8B5"/>
                </a:solidFill>
                <a:latin typeface="Open Sauce Medium"/>
              </a:rPr>
              <a:t>Catch bad data before it reaches reports, analytics or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DAHXQDB9W50</dc:identifier>
  <dcterms:modified xsi:type="dcterms:W3CDTF">2011-08-01T06:04:30Z</dcterms:modified>
  <cp:revision>1</cp:revision>
  <dc:title>HDFS vs Other Storage</dc:title>
</cp:coreProperties>
</file>